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7772400" cy="10058400"/>
  <p:notesSz cx="10058400" cy="77724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772400" cy="105156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51560"/>
            <a:ext cx="7772400" cy="73152"/>
          </a:xfrm>
          <a:prstGeom prst="rect">
            <a:avLst/>
          </a:prstGeom>
          <a:solidFill>
            <a:srgbClr val="FFD100"/>
          </a:solidFill>
          <a:ln/>
        </p:spPr>
      </p:sp>
      <p:sp>
        <p:nvSpPr>
          <p:cNvPr id="4" name="Text 2"/>
          <p:cNvSpPr/>
          <p:nvPr/>
        </p:nvSpPr>
        <p:spPr>
          <a:xfrm>
            <a:off x="411480" y="182880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GUÍA RÁPIDA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11480" y="402336"/>
            <a:ext cx="5029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SECRETARIA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411480" y="822960"/>
            <a:ext cx="5943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Recibe la plata, confirma y cierra la caja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669280" y="457200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D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MotoGestión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11480" y="1298448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028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 DÍA, PASO A PASO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11480" y="1591056"/>
            <a:ext cx="6949440" cy="932688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48640" y="1700784"/>
            <a:ext cx="292608" cy="292608"/>
          </a:xfrm>
          <a:prstGeom prst="ellipse">
            <a:avLst/>
          </a:prstGeom>
          <a:solidFill>
            <a:srgbClr val="0F172A"/>
          </a:solidFill>
          <a:ln/>
        </p:spPr>
      </p:sp>
      <p:sp>
        <p:nvSpPr>
          <p:cNvPr id="11" name="Text 9"/>
          <p:cNvSpPr/>
          <p:nvPr/>
        </p:nvSpPr>
        <p:spPr>
          <a:xfrm>
            <a:off x="548640" y="170078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D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932688" y="1664208"/>
            <a:ext cx="6309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 llegar en la mañana (antes de abrir la puerta al primer cliente)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932688" y="1920240"/>
            <a:ext cx="6309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Abrir la app y entrar con su usuario.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Si aparece el aviso flotante "🔄 Hay una versión nueva", tocar Actualizar y esperar a que recargue.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11480" y="2596896"/>
            <a:ext cx="6949440" cy="932688"/>
          </a:xfrm>
          <a:prstGeom prst="roundRect">
            <a:avLst>
              <a:gd name="adj" fmla="val 5882"/>
            </a:avLst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48640" y="2706624"/>
            <a:ext cx="292608" cy="292608"/>
          </a:xfrm>
          <a:prstGeom prst="ellipse">
            <a:avLst/>
          </a:prstGeom>
          <a:solidFill>
            <a:srgbClr val="0F172A"/>
          </a:solidFill>
          <a:ln/>
        </p:spPr>
      </p:sp>
      <p:sp>
        <p:nvSpPr>
          <p:cNvPr id="16" name="Text 14"/>
          <p:cNvSpPr/>
          <p:nvPr/>
        </p:nvSpPr>
        <p:spPr>
          <a:xfrm>
            <a:off x="548640" y="270662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D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932688" y="2670048"/>
            <a:ext cx="6309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Cuando llega un cliente a la oficina a pagar en efectivo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932688" y="2926080"/>
            <a:ext cx="6309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Estando en 💳 Cartera, tocar el botón redondo azul "+" abajo a la derecha.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En el campo "Cliente / contrato" escribir el nombre o la placa y tocar el resultado de la lista.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11480" y="3602736"/>
            <a:ext cx="6949440" cy="932688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48640" y="3712464"/>
            <a:ext cx="292608" cy="292608"/>
          </a:xfrm>
          <a:prstGeom prst="ellipse">
            <a:avLst/>
          </a:prstGeom>
          <a:solidFill>
            <a:srgbClr val="0F172A"/>
          </a:solidFill>
          <a:ln/>
        </p:spPr>
      </p:sp>
      <p:sp>
        <p:nvSpPr>
          <p:cNvPr id="21" name="Text 19"/>
          <p:cNvSpPr/>
          <p:nvPr/>
        </p:nvSpPr>
        <p:spPr>
          <a:xfrm>
            <a:off x="548640" y="371246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D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932688" y="3675888"/>
            <a:ext cx="6309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Justo después de registrar el pago (el cliente todavía está en frente)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932688" y="3931920"/>
            <a:ext cx="6309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Al confirmar el efectivo, se abre sola la ventana "🧾 Recibo de pago" con el folio, el monto y el bloque…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Leerle al cliente el renglón "Le queda pendiente" — ese es el número por el que después vuelve a preguntar.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411480" y="4608576"/>
            <a:ext cx="6949440" cy="932688"/>
          </a:xfrm>
          <a:prstGeom prst="roundRect">
            <a:avLst>
              <a:gd name="adj" fmla="val 5882"/>
            </a:avLst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48640" y="4718304"/>
            <a:ext cx="292608" cy="292608"/>
          </a:xfrm>
          <a:prstGeom prst="ellipse">
            <a:avLst/>
          </a:prstGeom>
          <a:solidFill>
            <a:srgbClr val="0F172A"/>
          </a:solidFill>
          <a:ln/>
        </p:spPr>
      </p:sp>
      <p:sp>
        <p:nvSpPr>
          <p:cNvPr id="26" name="Text 24"/>
          <p:cNvSpPr/>
          <p:nvPr/>
        </p:nvSpPr>
        <p:spPr>
          <a:xfrm>
            <a:off x="548640" y="471830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D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932688" y="4681728"/>
            <a:ext cx="6309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Cuando llega un comprobante de transferencia por WhatsApp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932688" y="4937760"/>
            <a:ext cx="6309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Guardar en el teléfono/computador la imagen del comprobante que mandó el cliente.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Cartera → botón "+" → buscar el cliente o la placa y seleccionarlo.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411480" y="5614416"/>
            <a:ext cx="6949440" cy="932688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48640" y="5724144"/>
            <a:ext cx="292608" cy="292608"/>
          </a:xfrm>
          <a:prstGeom prst="ellipse">
            <a:avLst/>
          </a:prstGeom>
          <a:solidFill>
            <a:srgbClr val="0F172A"/>
          </a:solidFill>
          <a:ln/>
        </p:spPr>
      </p:sp>
      <p:sp>
        <p:nvSpPr>
          <p:cNvPr id="31" name="Text 29"/>
          <p:cNvSpPr/>
          <p:nvPr/>
        </p:nvSpPr>
        <p:spPr>
          <a:xfrm>
            <a:off x="548640" y="572414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D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932688" y="5687568"/>
            <a:ext cx="6309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Cuando el cobrador (EMIRO) llega con el efectivo que recogió en la calle</a:t>
            </a:r>
            <a:endParaRPr lang="en-US" sz="1150" dirty="0"/>
          </a:p>
        </p:txBody>
      </p:sp>
      <p:sp>
        <p:nvSpPr>
          <p:cNvPr id="33" name="Text 31"/>
          <p:cNvSpPr/>
          <p:nvPr/>
        </p:nvSpPr>
        <p:spPr>
          <a:xfrm>
            <a:off x="932688" y="5943600"/>
            <a:ext cx="6309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Cartera → pestaña "⏳ Por confirmar" → bajar hasta el bloque "💵 Efectivo de campo por confirmar".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Usar los chips "Todos / Por entregar / Entregado, falta confirmar" para filtrar.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411480" y="6620256"/>
            <a:ext cx="6949440" cy="932688"/>
          </a:xfrm>
          <a:prstGeom prst="roundRect">
            <a:avLst>
              <a:gd name="adj" fmla="val 5882"/>
            </a:avLst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548640" y="6729984"/>
            <a:ext cx="292608" cy="292608"/>
          </a:xfrm>
          <a:prstGeom prst="ellipse">
            <a:avLst/>
          </a:prstGeom>
          <a:solidFill>
            <a:srgbClr val="0F172A"/>
          </a:solidFill>
          <a:ln/>
        </p:spPr>
      </p:sp>
      <p:sp>
        <p:nvSpPr>
          <p:cNvPr id="36" name="Text 34"/>
          <p:cNvSpPr/>
          <p:nvPr/>
        </p:nvSpPr>
        <p:spPr>
          <a:xfrm>
            <a:off x="548640" y="672998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D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932688" y="6693408"/>
            <a:ext cx="6309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Cuando un cliente llega a pagar y no trae la cuota completa (o quiere…</a:t>
            </a:r>
            <a:endParaRPr lang="en-US" sz="1150" dirty="0"/>
          </a:p>
        </p:txBody>
      </p:sp>
      <p:sp>
        <p:nvSpPr>
          <p:cNvPr id="38" name="Text 36"/>
          <p:cNvSpPr/>
          <p:nvPr/>
        </p:nvSpPr>
        <p:spPr>
          <a:xfrm>
            <a:off x="932688" y="6949440"/>
            <a:ext cx="6309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Registrar el abono igual que un pago normal.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Leer el renglón azul "Se aplicará" y explicarle al cliente qué pasó con su plata: primero llena la semana…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411480" y="7626096"/>
            <a:ext cx="6949440" cy="932688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548640" y="7735824"/>
            <a:ext cx="292608" cy="292608"/>
          </a:xfrm>
          <a:prstGeom prst="ellipse">
            <a:avLst/>
          </a:prstGeom>
          <a:solidFill>
            <a:srgbClr val="0F172A"/>
          </a:solidFill>
          <a:ln/>
        </p:spPr>
      </p:sp>
      <p:sp>
        <p:nvSpPr>
          <p:cNvPr id="41" name="Text 39"/>
          <p:cNvSpPr/>
          <p:nvPr/>
        </p:nvSpPr>
        <p:spPr>
          <a:xfrm>
            <a:off x="548640" y="773582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D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932688" y="7699248"/>
            <a:ext cx="6309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Cuando llega una persona nueva a pedir moto (registro de cliente nuevo)</a:t>
            </a:r>
            <a:endParaRPr lang="en-US" sz="1150" dirty="0"/>
          </a:p>
        </p:txBody>
      </p:sp>
      <p:sp>
        <p:nvSpPr>
          <p:cNvPr id="43" name="Text 41"/>
          <p:cNvSpPr/>
          <p:nvPr/>
        </p:nvSpPr>
        <p:spPr>
          <a:xfrm>
            <a:off x="932688" y="7955280"/>
            <a:ext cx="6309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Tocar 👥 Clientes en el menú → botón "+ Nuevo cliente".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Llenar nombre completo, cédula, dirección y teléfono.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411480" y="8677656"/>
            <a:ext cx="6949440" cy="960120"/>
          </a:xfrm>
          <a:prstGeom prst="roundRect">
            <a:avLst>
              <a:gd name="adj" fmla="val 5714"/>
            </a:avLst>
          </a:prstGeom>
          <a:solidFill>
            <a:srgbClr val="FEF3C7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94360" y="8750808"/>
            <a:ext cx="6583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20" kern="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NUNCA OLVIDES</a:t>
            </a:r>
            <a:endParaRPr lang="en-US" sz="950" dirty="0"/>
          </a:p>
        </p:txBody>
      </p:sp>
      <p:sp>
        <p:nvSpPr>
          <p:cNvPr id="46" name="Text 44"/>
          <p:cNvSpPr/>
          <p:nvPr/>
        </p:nvSpPr>
        <p:spPr>
          <a:xfrm>
            <a:off x="594360" y="8970264"/>
            <a:ext cx="65836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Nunca confirmes una transferencia sin ver el banco.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Si sale el aviso de pago repetido, revisa el Historial antes.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Registra en el momento, nunca en papel para después.</a:t>
            </a:r>
            <a:endParaRPr lang="en-US" sz="950" dirty="0"/>
          </a:p>
        </p:txBody>
      </p:sp>
      <p:sp>
        <p:nvSpPr>
          <p:cNvPr id="47" name="Text 45"/>
          <p:cNvSpPr/>
          <p:nvPr/>
        </p:nvSpPr>
        <p:spPr>
          <a:xfrm>
            <a:off x="411480" y="9601200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algo sale mal: no lo arregles por fuera del sistema — avísale al administrador el mismo día.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772400" cy="105156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51560"/>
            <a:ext cx="7772400" cy="73152"/>
          </a:xfrm>
          <a:prstGeom prst="rect">
            <a:avLst/>
          </a:prstGeom>
          <a:solidFill>
            <a:srgbClr val="FFD100"/>
          </a:solidFill>
          <a:ln/>
        </p:spPr>
      </p:sp>
      <p:sp>
        <p:nvSpPr>
          <p:cNvPr id="4" name="Text 2"/>
          <p:cNvSpPr/>
          <p:nvPr/>
        </p:nvSpPr>
        <p:spPr>
          <a:xfrm>
            <a:off x="411480" y="182880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GUÍA RÁPIDA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11480" y="402336"/>
            <a:ext cx="5029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COBRADOR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411480" y="822960"/>
            <a:ext cx="5943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Cobra en la calle y persigue la mora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669280" y="457200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D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MotoGestión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11480" y="1298448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028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 DÍA, PASO A PASO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11480" y="1591056"/>
            <a:ext cx="6949440" cy="932688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48640" y="1700784"/>
            <a:ext cx="292608" cy="292608"/>
          </a:xfrm>
          <a:prstGeom prst="ellipse">
            <a:avLst/>
          </a:prstGeom>
          <a:solidFill>
            <a:srgbClr val="0F172A"/>
          </a:solidFill>
          <a:ln/>
        </p:spPr>
      </p:sp>
      <p:sp>
        <p:nvSpPr>
          <p:cNvPr id="11" name="Text 9"/>
          <p:cNvSpPr/>
          <p:nvPr/>
        </p:nvSpPr>
        <p:spPr>
          <a:xfrm>
            <a:off x="548640" y="170078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D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932688" y="1664208"/>
            <a:ext cx="6309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 llegar en la mañana — ver a quién hay que cobrarle hoy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932688" y="1920240"/>
            <a:ext cx="6309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Abre la app y entra con tu usuario.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Toca abajo el ícono 💳 Cartera.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11480" y="2596896"/>
            <a:ext cx="6949440" cy="932688"/>
          </a:xfrm>
          <a:prstGeom prst="roundRect">
            <a:avLst>
              <a:gd name="adj" fmla="val 5882"/>
            </a:avLst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48640" y="2706624"/>
            <a:ext cx="292608" cy="292608"/>
          </a:xfrm>
          <a:prstGeom prst="ellipse">
            <a:avLst/>
          </a:prstGeom>
          <a:solidFill>
            <a:srgbClr val="0F172A"/>
          </a:solidFill>
          <a:ln/>
        </p:spPr>
      </p:sp>
      <p:sp>
        <p:nvSpPr>
          <p:cNvPr id="16" name="Text 14"/>
          <p:cNvSpPr/>
          <p:nvPr/>
        </p:nvSpPr>
        <p:spPr>
          <a:xfrm>
            <a:off x="548640" y="270662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D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932688" y="2670048"/>
            <a:ext cx="6309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Cuando el cliente le paga en la calle (cobro en campo)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932688" y="2926080"/>
            <a:ext cx="6309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En la tarjeta del cliente toca el botón verde "💵 Cobrar".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Apenas abre la ventana, el celular pide permiso de ubicación: dale PERMITIR.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11480" y="3602736"/>
            <a:ext cx="6949440" cy="932688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48640" y="3712464"/>
            <a:ext cx="292608" cy="292608"/>
          </a:xfrm>
          <a:prstGeom prst="ellipse">
            <a:avLst/>
          </a:prstGeom>
          <a:solidFill>
            <a:srgbClr val="0F172A"/>
          </a:solidFill>
          <a:ln/>
        </p:spPr>
      </p:sp>
      <p:sp>
        <p:nvSpPr>
          <p:cNvPr id="21" name="Text 19"/>
          <p:cNvSpPr/>
          <p:nvPr/>
        </p:nvSpPr>
        <p:spPr>
          <a:xfrm>
            <a:off x="548640" y="371246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D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932688" y="3675888"/>
            <a:ext cx="6309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Cuando el cliente no paga — primer y segundo intento (mensaje y llamada)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932688" y="3931920"/>
            <a:ext cx="6309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Ubica al cliente en el chip "🟡 Gabela" o "🔴 Mora".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Toca "Mensaje": se abre WhatsApp con el texto ya escrito según su estado, con su nombre, su placa y lo que…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411480" y="4608576"/>
            <a:ext cx="6949440" cy="932688"/>
          </a:xfrm>
          <a:prstGeom prst="roundRect">
            <a:avLst>
              <a:gd name="adj" fmla="val 5882"/>
            </a:avLst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48640" y="4718304"/>
            <a:ext cx="292608" cy="292608"/>
          </a:xfrm>
          <a:prstGeom prst="ellipse">
            <a:avLst/>
          </a:prstGeom>
          <a:solidFill>
            <a:srgbClr val="0F172A"/>
          </a:solidFill>
          <a:ln/>
        </p:spPr>
      </p:sp>
      <p:sp>
        <p:nvSpPr>
          <p:cNvPr id="26" name="Text 24"/>
          <p:cNvSpPr/>
          <p:nvPr/>
        </p:nvSpPr>
        <p:spPr>
          <a:xfrm>
            <a:off x="548640" y="471830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D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932688" y="4681728"/>
            <a:ext cx="6309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Cuando el cliente pide chance — plazo extra o promesa de pago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932688" y="4937760"/>
            <a:ext cx="6309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Entra al módulo Inmovilizaciones y quédate en la pestaña "🔴 En mora".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Busca al cliente y toca "📋 Gestión".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411480" y="5614416"/>
            <a:ext cx="6949440" cy="932688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48640" y="5724144"/>
            <a:ext cx="292608" cy="292608"/>
          </a:xfrm>
          <a:prstGeom prst="ellipse">
            <a:avLst/>
          </a:prstGeom>
          <a:solidFill>
            <a:srgbClr val="0F172A"/>
          </a:solidFill>
          <a:ln/>
        </p:spPr>
      </p:sp>
      <p:sp>
        <p:nvSpPr>
          <p:cNvPr id="31" name="Text 29"/>
          <p:cNvSpPr/>
          <p:nvPr/>
        </p:nvSpPr>
        <p:spPr>
          <a:xfrm>
            <a:off x="548640" y="572414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D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932688" y="5687568"/>
            <a:ext cx="6309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Cuando ya no hay con quién — recoger la moto (recolección)</a:t>
            </a:r>
            <a:endParaRPr lang="en-US" sz="1150" dirty="0"/>
          </a:p>
        </p:txBody>
      </p:sp>
      <p:sp>
        <p:nvSpPr>
          <p:cNvPr id="33" name="Text 31"/>
          <p:cNvSpPr/>
          <p:nvPr/>
        </p:nvSpPr>
        <p:spPr>
          <a:xfrm>
            <a:off x="932688" y="5943600"/>
            <a:ext cx="6309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El cliente aparece en "🚚 Recolec.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Toca "Recolección".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411480" y="6620256"/>
            <a:ext cx="6949440" cy="932688"/>
          </a:xfrm>
          <a:prstGeom prst="roundRect">
            <a:avLst>
              <a:gd name="adj" fmla="val 5882"/>
            </a:avLst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548640" y="6729984"/>
            <a:ext cx="292608" cy="292608"/>
          </a:xfrm>
          <a:prstGeom prst="ellipse">
            <a:avLst/>
          </a:prstGeom>
          <a:solidFill>
            <a:srgbClr val="0F172A"/>
          </a:solidFill>
          <a:ln/>
        </p:spPr>
      </p:sp>
      <p:sp>
        <p:nvSpPr>
          <p:cNvPr id="36" name="Text 34"/>
          <p:cNvSpPr/>
          <p:nvPr/>
        </p:nvSpPr>
        <p:spPr>
          <a:xfrm>
            <a:off x="548640" y="672998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D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932688" y="6693408"/>
            <a:ext cx="6309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 terminar la ruta — entregar el efectivo a la secretaria</a:t>
            </a:r>
            <a:endParaRPr lang="en-US" sz="1150" dirty="0"/>
          </a:p>
        </p:txBody>
      </p:sp>
      <p:sp>
        <p:nvSpPr>
          <p:cNvPr id="38" name="Text 36"/>
          <p:cNvSpPr/>
          <p:nvPr/>
        </p:nvSpPr>
        <p:spPr>
          <a:xfrm>
            <a:off x="932688" y="6949440"/>
            <a:ext cx="6309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Antes de salir de la ruta, vuelve a "📋 Para hacer hoy" y mira el recuadro verde de arriba: "💵 Recogiste…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Cuenta el efectivo físico y compáralo con ese número.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411480" y="7626096"/>
            <a:ext cx="6949440" cy="932688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548640" y="7735824"/>
            <a:ext cx="292608" cy="292608"/>
          </a:xfrm>
          <a:prstGeom prst="ellipse">
            <a:avLst/>
          </a:prstGeom>
          <a:solidFill>
            <a:srgbClr val="0F172A"/>
          </a:solidFill>
          <a:ln/>
        </p:spPr>
      </p:sp>
      <p:sp>
        <p:nvSpPr>
          <p:cNvPr id="41" name="Text 39"/>
          <p:cNvSpPr/>
          <p:nvPr/>
        </p:nvSpPr>
        <p:spPr>
          <a:xfrm>
            <a:off x="548640" y="773582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D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932688" y="7699248"/>
            <a:ext cx="6309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Cuando le asignan una visita domiciliaria a un cliente nuevo</a:t>
            </a:r>
            <a:endParaRPr lang="en-US" sz="1150" dirty="0"/>
          </a:p>
        </p:txBody>
      </p:sp>
      <p:sp>
        <p:nvSpPr>
          <p:cNvPr id="43" name="Text 41"/>
          <p:cNvSpPr/>
          <p:nvPr/>
        </p:nvSpPr>
        <p:spPr>
          <a:xfrm>
            <a:off x="932688" y="7955280"/>
            <a:ext cx="6309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En "📋 Para hacer hoy" fíjate en el aviso azul de arriba: "📋 Tienes N visitas domiciliarias pendientes".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Solo te aparecen las visitas que TE asignaron a ti.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411480" y="8677656"/>
            <a:ext cx="6949440" cy="960120"/>
          </a:xfrm>
          <a:prstGeom prst="roundRect">
            <a:avLst>
              <a:gd name="adj" fmla="val 5714"/>
            </a:avLst>
          </a:prstGeom>
          <a:solidFill>
            <a:srgbClr val="FEF3C7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94360" y="8750808"/>
            <a:ext cx="6583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20" kern="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NUNCA OLVIDES</a:t>
            </a:r>
            <a:endParaRPr lang="en-US" sz="950" dirty="0"/>
          </a:p>
        </p:txBody>
      </p:sp>
      <p:sp>
        <p:nvSpPr>
          <p:cNvPr id="46" name="Text 44"/>
          <p:cNvSpPr/>
          <p:nvPr/>
        </p:nvSpPr>
        <p:spPr>
          <a:xfrm>
            <a:off x="594360" y="8970264"/>
            <a:ext cx="65836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Todo lo que recojas, regístralo al momento y con foto.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Entrega el efectivo el mismo día a la secretaria.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Antes de recoger una moto, deja registrada la gestión.</a:t>
            </a:r>
            <a:endParaRPr lang="en-US" sz="950" dirty="0"/>
          </a:p>
        </p:txBody>
      </p:sp>
      <p:sp>
        <p:nvSpPr>
          <p:cNvPr id="47" name="Text 45"/>
          <p:cNvSpPr/>
          <p:nvPr/>
        </p:nvSpPr>
        <p:spPr>
          <a:xfrm>
            <a:off x="411480" y="9601200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algo sale mal: no lo arregles por fuera del sistema — avísale al administrador el mismo día.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772400" cy="105156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51560"/>
            <a:ext cx="7772400" cy="73152"/>
          </a:xfrm>
          <a:prstGeom prst="rect">
            <a:avLst/>
          </a:prstGeom>
          <a:solidFill>
            <a:srgbClr val="FFD100"/>
          </a:solidFill>
          <a:ln/>
        </p:spPr>
      </p:sp>
      <p:sp>
        <p:nvSpPr>
          <p:cNvPr id="4" name="Text 2"/>
          <p:cNvSpPr/>
          <p:nvPr/>
        </p:nvSpPr>
        <p:spPr>
          <a:xfrm>
            <a:off x="411480" y="182880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GUÍA RÁPIDA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11480" y="402336"/>
            <a:ext cx="5029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ADMINISTRADOR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411480" y="822960"/>
            <a:ext cx="5943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Autoriza, entrega motos y vigila el negocio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669280" y="457200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D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MotoGestión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11480" y="1298448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028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 DÍA, PASO A PASO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11480" y="1591056"/>
            <a:ext cx="6949440" cy="932688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48640" y="1700784"/>
            <a:ext cx="292608" cy="292608"/>
          </a:xfrm>
          <a:prstGeom prst="ellipse">
            <a:avLst/>
          </a:prstGeom>
          <a:solidFill>
            <a:srgbClr val="0F172A"/>
          </a:solidFill>
          <a:ln/>
        </p:spPr>
      </p:sp>
      <p:sp>
        <p:nvSpPr>
          <p:cNvPr id="11" name="Text 9"/>
          <p:cNvSpPr/>
          <p:nvPr/>
        </p:nvSpPr>
        <p:spPr>
          <a:xfrm>
            <a:off x="548640" y="170078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D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932688" y="1664208"/>
            <a:ext cx="6309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 llegar en la mañana (7:00–7:30 a.m.) — el barrido general antes de…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932688" y="1920240"/>
            <a:ext cx="6309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Entra a la app y toca **Panel**.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Mira primero la fila de tarjetas grandes de arriba: **Clientes activos · Motos en campo · En mora ·…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11480" y="2596896"/>
            <a:ext cx="6949440" cy="932688"/>
          </a:xfrm>
          <a:prstGeom prst="roundRect">
            <a:avLst>
              <a:gd name="adj" fmla="val 5882"/>
            </a:avLst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48640" y="2706624"/>
            <a:ext cx="292608" cy="292608"/>
          </a:xfrm>
          <a:prstGeom prst="ellipse">
            <a:avLst/>
          </a:prstGeom>
          <a:solidFill>
            <a:srgbClr val="0F172A"/>
          </a:solidFill>
          <a:ln/>
        </p:spPr>
      </p:sp>
      <p:sp>
        <p:nvSpPr>
          <p:cNvPr id="16" name="Text 14"/>
          <p:cNvSpPr/>
          <p:nvPr/>
        </p:nvSpPr>
        <p:spPr>
          <a:xfrm>
            <a:off x="548640" y="270662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D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932688" y="2670048"/>
            <a:ext cx="6309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 mañana (8:00–10:00 a.m.) — revisar la cartera del día y que el…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932688" y="2926080"/>
            <a:ext cx="6309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Toca **Cartera**.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Arriba verás 4 números: **Pagan hoy · Recaudado hoy · En gabela · En mora**.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11480" y="3602736"/>
            <a:ext cx="6949440" cy="932688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48640" y="3712464"/>
            <a:ext cx="292608" cy="292608"/>
          </a:xfrm>
          <a:prstGeom prst="ellipse">
            <a:avLst/>
          </a:prstGeom>
          <a:solidFill>
            <a:srgbClr val="0F172A"/>
          </a:solidFill>
          <a:ln/>
        </p:spPr>
      </p:sp>
      <p:sp>
        <p:nvSpPr>
          <p:cNvPr id="21" name="Text 19"/>
          <p:cNvSpPr/>
          <p:nvPr/>
        </p:nvSpPr>
        <p:spPr>
          <a:xfrm>
            <a:off x="548640" y="371246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D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932688" y="3675888"/>
            <a:ext cx="6309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Cuando un cobrador llama pidiendo autorización: "el cliente pide un…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932688" y="3931920"/>
            <a:ext cx="6309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**Para dar plazo extra:** entra a **Inmovilizaciones** → pestaña **🔴 En mora** → busca el cliente → abre…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Escribe los **días** y el **motivo — es obligatorio**, el sistema no deja guardar sin él.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411480" y="4608576"/>
            <a:ext cx="6949440" cy="932688"/>
          </a:xfrm>
          <a:prstGeom prst="roundRect">
            <a:avLst>
              <a:gd name="adj" fmla="val 5882"/>
            </a:avLst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48640" y="4718304"/>
            <a:ext cx="292608" cy="292608"/>
          </a:xfrm>
          <a:prstGeom prst="ellipse">
            <a:avLst/>
          </a:prstGeom>
          <a:solidFill>
            <a:srgbClr val="0F172A"/>
          </a:solidFill>
          <a:ln/>
        </p:spPr>
      </p:sp>
      <p:sp>
        <p:nvSpPr>
          <p:cNvPr id="26" name="Text 24"/>
          <p:cNvSpPr/>
          <p:nvPr/>
        </p:nvSpPr>
        <p:spPr>
          <a:xfrm>
            <a:off x="548640" y="471830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D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932688" y="4681728"/>
            <a:ext cx="6309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Entregar una moto a un cliente nuevo (el momento más delicado del día)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932688" y="4937760"/>
            <a:ext cx="6309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Antes de empezar, confirma que el cliente esté en estado **Aprobado**.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Entra a **Contratos** → toca el botón **"+"**.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411480" y="5614416"/>
            <a:ext cx="6949440" cy="932688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48640" y="5724144"/>
            <a:ext cx="292608" cy="292608"/>
          </a:xfrm>
          <a:prstGeom prst="ellipse">
            <a:avLst/>
          </a:prstGeom>
          <a:solidFill>
            <a:srgbClr val="0F172A"/>
          </a:solidFill>
          <a:ln/>
        </p:spPr>
      </p:sp>
      <p:sp>
        <p:nvSpPr>
          <p:cNvPr id="31" name="Text 29"/>
          <p:cNvSpPr/>
          <p:nvPr/>
        </p:nvSpPr>
        <p:spPr>
          <a:xfrm>
            <a:off x="548640" y="572414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D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932688" y="5687568"/>
            <a:ext cx="6309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Después del mediodía — decidir qué hacer con las motos retenidas e…</a:t>
            </a:r>
            <a:endParaRPr lang="en-US" sz="1150" dirty="0"/>
          </a:p>
        </p:txBody>
      </p:sp>
      <p:sp>
        <p:nvSpPr>
          <p:cNvPr id="33" name="Text 31"/>
          <p:cNvSpPr/>
          <p:nvPr/>
        </p:nvSpPr>
        <p:spPr>
          <a:xfrm>
            <a:off x="932688" y="5943600"/>
            <a:ext cx="6309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Entra a **Inmovilizaciones**.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Usa los filtros de arriba para separar por qué está retenida: **Todas · 🔴 Mora · 🅿️ Temporal · 🔧…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411480" y="6620256"/>
            <a:ext cx="6949440" cy="932688"/>
          </a:xfrm>
          <a:prstGeom prst="roundRect">
            <a:avLst>
              <a:gd name="adj" fmla="val 5882"/>
            </a:avLst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548640" y="6729984"/>
            <a:ext cx="292608" cy="292608"/>
          </a:xfrm>
          <a:prstGeom prst="ellipse">
            <a:avLst/>
          </a:prstGeom>
          <a:solidFill>
            <a:srgbClr val="0F172A"/>
          </a:solidFill>
          <a:ln/>
        </p:spPr>
      </p:sp>
      <p:sp>
        <p:nvSpPr>
          <p:cNvPr id="36" name="Text 34"/>
          <p:cNvSpPr/>
          <p:nvPr/>
        </p:nvSpPr>
        <p:spPr>
          <a:xfrm>
            <a:off x="548640" y="672998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D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932688" y="6693408"/>
            <a:ext cx="6309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 cierre de la tarde (4:30–5:30 p.m.) — revisar la caja y el recaudo…</a:t>
            </a:r>
            <a:endParaRPr lang="en-US" sz="1150" dirty="0"/>
          </a:p>
        </p:txBody>
      </p:sp>
      <p:sp>
        <p:nvSpPr>
          <p:cNvPr id="38" name="Text 36"/>
          <p:cNvSpPr/>
          <p:nvPr/>
        </p:nvSpPr>
        <p:spPr>
          <a:xfrm>
            <a:off x="932688" y="6949440"/>
            <a:ext cx="6309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Entra a **Caja Diaria**.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Usa los botones de grupo para ver cada portafolio por separado: **COSTA · PRADERA · RASTREADOR · USADAS**.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411480" y="7626096"/>
            <a:ext cx="6949440" cy="932688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548640" y="7735824"/>
            <a:ext cx="292608" cy="292608"/>
          </a:xfrm>
          <a:prstGeom prst="ellipse">
            <a:avLst/>
          </a:prstGeom>
          <a:solidFill>
            <a:srgbClr val="0F172A"/>
          </a:solidFill>
          <a:ln/>
        </p:spPr>
      </p:sp>
      <p:sp>
        <p:nvSpPr>
          <p:cNvPr id="41" name="Text 39"/>
          <p:cNvSpPr/>
          <p:nvPr/>
        </p:nvSpPr>
        <p:spPr>
          <a:xfrm>
            <a:off x="548640" y="773582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D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932688" y="7699248"/>
            <a:ext cx="6309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Cuando entra un funcionario nuevo, o alguien deja de hacer una tarea…</a:t>
            </a:r>
            <a:endParaRPr lang="en-US" sz="1150" dirty="0"/>
          </a:p>
        </p:txBody>
      </p:sp>
      <p:sp>
        <p:nvSpPr>
          <p:cNvPr id="43" name="Text 41"/>
          <p:cNvSpPr/>
          <p:nvPr/>
        </p:nvSpPr>
        <p:spPr>
          <a:xfrm>
            <a:off x="932688" y="7955280"/>
            <a:ext cx="6309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Entra a **Usuarios**.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Para crear un funcionario: llena nombre, correo, contraseña y elige el **rol**.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411480" y="8677656"/>
            <a:ext cx="6949440" cy="960120"/>
          </a:xfrm>
          <a:prstGeom prst="roundRect">
            <a:avLst>
              <a:gd name="adj" fmla="val 5714"/>
            </a:avLst>
          </a:prstGeom>
          <a:solidFill>
            <a:srgbClr val="FEF3C7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94360" y="8750808"/>
            <a:ext cx="6583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20" kern="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NUNCA OLVIDES</a:t>
            </a:r>
            <a:endParaRPr lang="en-US" sz="950" dirty="0"/>
          </a:p>
        </p:txBody>
      </p:sp>
      <p:sp>
        <p:nvSpPr>
          <p:cNvPr id="46" name="Text 44"/>
          <p:cNvSpPr/>
          <p:nvPr/>
        </p:nvSpPr>
        <p:spPr>
          <a:xfrm>
            <a:off x="594360" y="8970264"/>
            <a:ext cx="65836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La moto nunca debe dejar de producir.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Todo plazo o convenio se registra, nunca de palabra.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Revisa la campana de alertas dos veces al día.</a:t>
            </a:r>
            <a:endParaRPr lang="en-US" sz="950" dirty="0"/>
          </a:p>
        </p:txBody>
      </p:sp>
      <p:sp>
        <p:nvSpPr>
          <p:cNvPr id="47" name="Text 45"/>
          <p:cNvSpPr/>
          <p:nvPr/>
        </p:nvSpPr>
        <p:spPr>
          <a:xfrm>
            <a:off x="411480" y="9601200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algo sale mal: no lo arregles por fuera del sistema — avísale al administrador el mismo día.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772400" cy="105156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51560"/>
            <a:ext cx="7772400" cy="73152"/>
          </a:xfrm>
          <a:prstGeom prst="rect">
            <a:avLst/>
          </a:prstGeom>
          <a:solidFill>
            <a:srgbClr val="FFD100"/>
          </a:solidFill>
          <a:ln/>
        </p:spPr>
      </p:sp>
      <p:sp>
        <p:nvSpPr>
          <p:cNvPr id="4" name="Text 2"/>
          <p:cNvSpPr/>
          <p:nvPr/>
        </p:nvSpPr>
        <p:spPr>
          <a:xfrm>
            <a:off x="411480" y="182880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CONSULTA RÁPIDA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11480" y="402336"/>
            <a:ext cx="5486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HAGO SI…?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411480" y="822960"/>
            <a:ext cx="5943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casos que más se presentan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11480" y="1371600"/>
            <a:ext cx="6949440" cy="658368"/>
          </a:xfrm>
          <a:prstGeom prst="roundRect">
            <a:avLst>
              <a:gd name="adj" fmla="val 6944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66928" y="1426464"/>
            <a:ext cx="6675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cliente dice que ya pagó y aquí no me aparece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566928" y="1664208"/>
            <a:ext cx="6675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028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Entra a Cartera → pestaña "🌎 Todos".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11480" y="2075688"/>
            <a:ext cx="6949440" cy="658368"/>
          </a:xfrm>
          <a:prstGeom prst="roundRect">
            <a:avLst>
              <a:gd name="adj" fmla="val 6944"/>
            </a:avLst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66928" y="2130552"/>
            <a:ext cx="6675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 trae menos de lo que le toca — ¿le recibo?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566928" y="2368296"/>
            <a:ext cx="6675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028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Sí se le recibe: todo peso que entre es bueno.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11480" y="2779776"/>
            <a:ext cx="6949440" cy="658368"/>
          </a:xfrm>
          <a:prstGeom prst="roundRect">
            <a:avLst>
              <a:gd name="adj" fmla="val 6944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66928" y="2834640"/>
            <a:ext cx="6675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Perdí la llave de la moto, necesito una copia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566928" y="3072384"/>
            <a:ext cx="6675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028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Menú "☰ Más" → "Tarjetas y Llaves".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11480" y="3483864"/>
            <a:ext cx="6949440" cy="658368"/>
          </a:xfrm>
          <a:prstGeom prst="roundRect">
            <a:avLst>
              <a:gd name="adj" fmla="val 6944"/>
            </a:avLst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66928" y="3538728"/>
            <a:ext cx="6675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 piden la tarjeta de propiedad para un trámite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566928" y="3776472"/>
            <a:ext cx="6675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028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Menú "☰ Más" → "Tarjetas y Llaves" → botón "📤 Prestar".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11480" y="4187952"/>
            <a:ext cx="6949440" cy="658368"/>
          </a:xfrm>
          <a:prstGeom prst="roundRect">
            <a:avLst>
              <a:gd name="adj" fmla="val 6944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66928" y="4242816"/>
            <a:ext cx="6675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le varó la moto / hay que meterla al taller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566928" y="4480560"/>
            <a:ext cx="6675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028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Entra a "Taller" → botón "+ Nueva orden de taller".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411480" y="4892040"/>
            <a:ext cx="6949440" cy="658368"/>
          </a:xfrm>
          <a:prstGeom prst="roundRect">
            <a:avLst>
              <a:gd name="adj" fmla="val 6944"/>
            </a:avLst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66928" y="4946904"/>
            <a:ext cx="6675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contesta el teléfono y no paga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566928" y="5184648"/>
            <a:ext cx="6675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028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Cartera → pestaña "📋 Para hacer hoy".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411480" y="5596128"/>
            <a:ext cx="6949440" cy="658368"/>
          </a:xfrm>
          <a:prstGeom prst="roundRect">
            <a:avLst>
              <a:gd name="adj" fmla="val 6944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66928" y="5650992"/>
            <a:ext cx="6675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 pide unos días más, dice que el viernes sí paga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566928" y="5888736"/>
            <a:ext cx="6675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028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Cartera → busca la placa → abre el detalle del contrato → pestaña "Gestiones".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411480" y="6300216"/>
            <a:ext cx="6949440" cy="658368"/>
          </a:xfrm>
          <a:prstGeom prst="roundRect">
            <a:avLst>
              <a:gd name="adj" fmla="val 6944"/>
            </a:avLst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66928" y="6355080"/>
            <a:ext cx="6675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Quiere hacer un acuerdo para ponerse al día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566928" y="6592824"/>
            <a:ext cx="6675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028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Cartera → busca la placa → abre el detalle → pestaña "Convenio".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411480" y="7004304"/>
            <a:ext cx="6949440" cy="658368"/>
          </a:xfrm>
          <a:prstGeom prst="roundRect">
            <a:avLst>
              <a:gd name="adj" fmla="val 6944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66928" y="7059168"/>
            <a:ext cx="6675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le recogió la moto y ahora viene a recuperarla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566928" y="7296912"/>
            <a:ext cx="6675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028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Entra a "Inmovilizaciones" → pestaña "🔒 Retenidas" → filtro "🔴 Mora" → busca la placa.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411480" y="7708392"/>
            <a:ext cx="6949440" cy="658368"/>
          </a:xfrm>
          <a:prstGeom prst="roundRect">
            <a:avLst>
              <a:gd name="adj" fmla="val 6944"/>
            </a:avLst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66928" y="7763256"/>
            <a:ext cx="6675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Está incapacitado y viene a entregar la moto por unos días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566928" y="8001000"/>
            <a:ext cx="6675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028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Entra a "Motos" → busca la placa → botón "🏍️ Registrar novedad".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411480" y="8412480"/>
            <a:ext cx="6949440" cy="658368"/>
          </a:xfrm>
          <a:prstGeom prst="roundRect">
            <a:avLst>
              <a:gd name="adj" fmla="val 6944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66928" y="8467344"/>
            <a:ext cx="6675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Registré un pago que estaba equivocado (cliente o monto)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566928" y="8705088"/>
            <a:ext cx="6675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028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Primero mira el estado del pago: Cartera → detalle del contrato → pestaña "Historial".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411480" y="9116568"/>
            <a:ext cx="6949440" cy="658368"/>
          </a:xfrm>
          <a:prstGeom prst="roundRect">
            <a:avLst>
              <a:gd name="adj" fmla="val 6944"/>
            </a:avLst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66928" y="9171432"/>
            <a:ext cx="6675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¿Cuánto llevo ahorrado? ¿Cuánto me falta?</a:t>
            </a:r>
            <a:endParaRPr lang="en-US" sz="1050" dirty="0"/>
          </a:p>
        </p:txBody>
      </p:sp>
      <p:sp>
        <p:nvSpPr>
          <p:cNvPr id="42" name="Text 40"/>
          <p:cNvSpPr/>
          <p:nvPr/>
        </p:nvSpPr>
        <p:spPr>
          <a:xfrm>
            <a:off x="566928" y="9409176"/>
            <a:ext cx="6675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028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Cartera → "🌎 Todos" → busca la placa → abre el detalle del contrato.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411480" y="9601200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detalle completo de cada caso está en la presentación de capacitación.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MotoGestión — Guías rápidas por rol</dc:title>
  <dc:subject>PptxGenJS Presentation</dc:subject>
  <dc:creator>PptxGenJS</dc:creator>
  <cp:lastModifiedBy>PptxGenJS</cp:lastModifiedBy>
  <cp:revision>1</cp:revision>
  <dcterms:created xsi:type="dcterms:W3CDTF">2026-07-25T22:39:14Z</dcterms:created>
  <dcterms:modified xsi:type="dcterms:W3CDTF">2026-07-25T22:39:14Z</dcterms:modified>
</cp:coreProperties>
</file>