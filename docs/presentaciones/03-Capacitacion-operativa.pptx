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FD100"/>
          </a:solidFill>
          <a:ln/>
        </p:spPr>
      </p:sp>
      <p:sp>
        <p:nvSpPr>
          <p:cNvPr id="3" name="Text 1"/>
          <p:cNvSpPr/>
          <p:nvPr/>
        </p:nvSpPr>
        <p:spPr>
          <a:xfrm>
            <a:off x="822960" y="1965960"/>
            <a:ext cx="10058400" cy="73152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libri" pitchFamily="34" charset="0"/>
                <a:ea typeface="Calibri" pitchFamily="34" charset="-122"/>
                <a:cs typeface="Calibri" pitchFamily="34" charset="-120"/>
              </a:rPr>
              <a:t>MOTOGESTIÓN</a:t>
            </a:r>
            <a:endParaRPr lang="en-US" sz="4600" dirty="0"/>
          </a:p>
        </p:txBody>
      </p:sp>
      <p:sp>
        <p:nvSpPr>
          <p:cNvPr id="4" name="Text 2"/>
          <p:cNvSpPr/>
          <p:nvPr/>
        </p:nvSpPr>
        <p:spPr>
          <a:xfrm>
            <a:off x="822960" y="2743200"/>
            <a:ext cx="10058400" cy="548640"/>
          </a:xfrm>
          <a:prstGeom prst="rect">
            <a:avLst/>
          </a:prstGeom>
          <a:noFill/>
          <a:ln/>
        </p:spPr>
        <p:txBody>
          <a:bodyPr wrap="square" lIns="0" tIns="0" rIns="0" bIns="0" rtlCol="0" anchor="ctr"/>
          <a:lstStyle/>
          <a:p>
            <a:pPr indent="0" marL="0">
              <a:buNone/>
            </a:pPr>
            <a:r>
              <a:rPr lang="en-US" sz="2600" dirty="0">
                <a:solidFill>
                  <a:srgbClr val="38BDF8"/>
                </a:solidFill>
                <a:latin typeface="Calibri" pitchFamily="34" charset="0"/>
                <a:ea typeface="Calibri" pitchFamily="34" charset="-122"/>
                <a:cs typeface="Calibri" pitchFamily="34" charset="-120"/>
              </a:rPr>
              <a:t>Cómo se trabaja, día a día</a:t>
            </a:r>
            <a:endParaRPr lang="en-US" sz="2600" dirty="0"/>
          </a:p>
        </p:txBody>
      </p:sp>
      <p:sp>
        <p:nvSpPr>
          <p:cNvPr id="5" name="Text 3"/>
          <p:cNvSpPr/>
          <p:nvPr/>
        </p:nvSpPr>
        <p:spPr>
          <a:xfrm>
            <a:off x="822960" y="3429000"/>
            <a:ext cx="8778240" cy="731520"/>
          </a:xfrm>
          <a:prstGeom prst="rect">
            <a:avLst/>
          </a:prstGeom>
          <a:noFill/>
          <a:ln/>
        </p:spPr>
        <p:txBody>
          <a:bodyPr wrap="square" lIns="0" tIns="0" rIns="0" bIns="0" rtlCol="0" anchor="ctr"/>
          <a:lstStyle/>
          <a:p>
            <a:pPr indent="0" marL="0">
              <a:lnSpc>
                <a:spcPct val="110000"/>
              </a:lnSpc>
              <a:buNone/>
            </a:pPr>
            <a:r>
              <a:rPr lang="en-US" sz="1400" dirty="0">
                <a:solidFill>
                  <a:srgbClr val="CBD5E1"/>
                </a:solidFill>
                <a:latin typeface="Calibri" pitchFamily="34" charset="0"/>
                <a:ea typeface="Calibri" pitchFamily="34" charset="-122"/>
                <a:cs typeface="Calibri" pitchFamily="34" charset="-120"/>
              </a:rPr>
              <a:t>Lo que hace cada quien en su puesto, con ejemplos reales y qué hacer en los casos que se presentan.</a:t>
            </a:r>
            <a:endParaRPr lang="en-US" sz="1400" dirty="0"/>
          </a:p>
        </p:txBody>
      </p:sp>
      <p:sp>
        <p:nvSpPr>
          <p:cNvPr id="6" name="Shape 4"/>
          <p:cNvSpPr/>
          <p:nvPr/>
        </p:nvSpPr>
        <p:spPr>
          <a:xfrm>
            <a:off x="9646920" y="1417320"/>
            <a:ext cx="2286000" cy="393192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7" name="Shape 5"/>
          <p:cNvSpPr/>
          <p:nvPr/>
        </p:nvSpPr>
        <p:spPr>
          <a:xfrm>
            <a:off x="9701784" y="1472184"/>
            <a:ext cx="2176272" cy="329184"/>
          </a:xfrm>
          <a:prstGeom prst="rect">
            <a:avLst/>
          </a:prstGeom>
          <a:solidFill>
            <a:srgbClr val="0F172A"/>
          </a:solidFill>
          <a:ln/>
        </p:spPr>
      </p:sp>
      <p:sp>
        <p:nvSpPr>
          <p:cNvPr id="8" name="Text 6"/>
          <p:cNvSpPr/>
          <p:nvPr/>
        </p:nvSpPr>
        <p:spPr>
          <a:xfrm>
            <a:off x="9774936" y="147218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9" name="Shape 7"/>
          <p:cNvSpPr/>
          <p:nvPr/>
        </p:nvSpPr>
        <p:spPr>
          <a:xfrm>
            <a:off x="9747504" y="1892808"/>
            <a:ext cx="2084832" cy="347472"/>
          </a:xfrm>
          <a:prstGeom prst="roundRect">
            <a:avLst>
              <a:gd name="adj" fmla="val 13158"/>
            </a:avLst>
          </a:prstGeom>
          <a:solidFill>
            <a:srgbClr val="F1F5F9"/>
          </a:solidFill>
          <a:ln w="9525">
            <a:solidFill>
              <a:srgbClr val="E2E8F0"/>
            </a:solidFill>
            <a:prstDash val="solid"/>
          </a:ln>
        </p:spPr>
      </p:sp>
      <p:sp>
        <p:nvSpPr>
          <p:cNvPr id="10" name="Text 8"/>
          <p:cNvSpPr/>
          <p:nvPr/>
        </p:nvSpPr>
        <p:spPr>
          <a:xfrm>
            <a:off x="9820656" y="189280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Pagan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38 clientes</a:t>
            </a:r>
            <a:endParaRPr lang="en-US" sz="800" dirty="0"/>
          </a:p>
        </p:txBody>
      </p:sp>
      <p:sp>
        <p:nvSpPr>
          <p:cNvPr id="11" name="Shape 9"/>
          <p:cNvSpPr/>
          <p:nvPr/>
        </p:nvSpPr>
        <p:spPr>
          <a:xfrm>
            <a:off x="11219688" y="1956816"/>
            <a:ext cx="566928" cy="182880"/>
          </a:xfrm>
          <a:prstGeom prst="roundRect">
            <a:avLst>
              <a:gd name="adj" fmla="val 50000"/>
            </a:avLst>
          </a:prstGeom>
          <a:solidFill>
            <a:srgbClr val="0284C7"/>
          </a:solidFill>
          <a:ln/>
        </p:spPr>
      </p:sp>
      <p:sp>
        <p:nvSpPr>
          <p:cNvPr id="12" name="Text 10"/>
          <p:cNvSpPr/>
          <p:nvPr/>
        </p:nvSpPr>
        <p:spPr>
          <a:xfrm>
            <a:off x="11219688" y="1956816"/>
            <a:ext cx="566928"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Hoy</a:t>
            </a:r>
            <a:endParaRPr lang="en-US" sz="650" dirty="0"/>
          </a:p>
        </p:txBody>
      </p:sp>
      <p:sp>
        <p:nvSpPr>
          <p:cNvPr id="13" name="Shape 11"/>
          <p:cNvSpPr/>
          <p:nvPr/>
        </p:nvSpPr>
        <p:spPr>
          <a:xfrm>
            <a:off x="9747504" y="2295144"/>
            <a:ext cx="2084832" cy="347472"/>
          </a:xfrm>
          <a:prstGeom prst="roundRect">
            <a:avLst>
              <a:gd name="adj" fmla="val 13158"/>
            </a:avLst>
          </a:prstGeom>
          <a:solidFill>
            <a:srgbClr val="F1F5F9"/>
          </a:solidFill>
          <a:ln w="9525">
            <a:solidFill>
              <a:srgbClr val="E2E8F0"/>
            </a:solidFill>
            <a:prstDash val="solid"/>
          </a:ln>
        </p:spPr>
      </p:sp>
      <p:sp>
        <p:nvSpPr>
          <p:cNvPr id="14" name="Text 12"/>
          <p:cNvSpPr/>
          <p:nvPr/>
        </p:nvSpPr>
        <p:spPr>
          <a:xfrm>
            <a:off x="9820656" y="229514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YESID CONTRERAS</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DQW25I · debe $461.500</a:t>
            </a:r>
            <a:endParaRPr lang="en-US" sz="800" dirty="0"/>
          </a:p>
        </p:txBody>
      </p:sp>
      <p:sp>
        <p:nvSpPr>
          <p:cNvPr id="15" name="Shape 13"/>
          <p:cNvSpPr/>
          <p:nvPr/>
        </p:nvSpPr>
        <p:spPr>
          <a:xfrm>
            <a:off x="11219688" y="2359152"/>
            <a:ext cx="566928" cy="182880"/>
          </a:xfrm>
          <a:prstGeom prst="roundRect">
            <a:avLst>
              <a:gd name="adj" fmla="val 50000"/>
            </a:avLst>
          </a:prstGeom>
          <a:solidFill>
            <a:srgbClr val="B91C1C"/>
          </a:solidFill>
          <a:ln/>
        </p:spPr>
      </p:sp>
      <p:sp>
        <p:nvSpPr>
          <p:cNvPr id="16" name="Text 14"/>
          <p:cNvSpPr/>
          <p:nvPr/>
        </p:nvSpPr>
        <p:spPr>
          <a:xfrm>
            <a:off x="11219688" y="2359152"/>
            <a:ext cx="566928"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Mora</a:t>
            </a:r>
            <a:endParaRPr lang="en-US" sz="650" dirty="0"/>
          </a:p>
        </p:txBody>
      </p:sp>
      <p:sp>
        <p:nvSpPr>
          <p:cNvPr id="17" name="Shape 15"/>
          <p:cNvSpPr/>
          <p:nvPr/>
        </p:nvSpPr>
        <p:spPr>
          <a:xfrm>
            <a:off x="9747504" y="2697480"/>
            <a:ext cx="2084832" cy="347472"/>
          </a:xfrm>
          <a:prstGeom prst="roundRect">
            <a:avLst>
              <a:gd name="adj" fmla="val 13158"/>
            </a:avLst>
          </a:prstGeom>
          <a:solidFill>
            <a:srgbClr val="E0F2FE"/>
          </a:solidFill>
          <a:ln w="19050">
            <a:solidFill>
              <a:srgbClr val="0284C7"/>
            </a:solidFill>
            <a:prstDash val="solid"/>
          </a:ln>
        </p:spPr>
      </p:sp>
      <p:sp>
        <p:nvSpPr>
          <p:cNvPr id="18" name="Text 16"/>
          <p:cNvSpPr/>
          <p:nvPr/>
        </p:nvSpPr>
        <p:spPr>
          <a:xfrm>
            <a:off x="9820656" y="269748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Cobrar</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registrar el pago</a:t>
            </a:r>
            <a:endParaRPr lang="en-US" sz="800" dirty="0"/>
          </a:p>
        </p:txBody>
      </p:sp>
      <p:sp>
        <p:nvSpPr>
          <p:cNvPr id="19" name="Shape 17"/>
          <p:cNvSpPr/>
          <p:nvPr/>
        </p:nvSpPr>
        <p:spPr>
          <a:xfrm>
            <a:off x="9747504" y="3099816"/>
            <a:ext cx="2084832" cy="347472"/>
          </a:xfrm>
          <a:prstGeom prst="roundRect">
            <a:avLst>
              <a:gd name="adj" fmla="val 13158"/>
            </a:avLst>
          </a:prstGeom>
          <a:solidFill>
            <a:srgbClr val="F1F5F9"/>
          </a:solidFill>
          <a:ln w="9525">
            <a:solidFill>
              <a:srgbClr val="E2E8F0"/>
            </a:solidFill>
            <a:prstDash val="solid"/>
          </a:ln>
        </p:spPr>
      </p:sp>
      <p:sp>
        <p:nvSpPr>
          <p:cNvPr id="20" name="Text 18"/>
          <p:cNvSpPr/>
          <p:nvPr/>
        </p:nvSpPr>
        <p:spPr>
          <a:xfrm>
            <a:off x="9820656" y="309981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MARTHA ALVAREZ</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RLT68H · al día</a:t>
            </a:r>
            <a:endParaRPr lang="en-US" sz="800" dirty="0"/>
          </a:p>
        </p:txBody>
      </p:sp>
      <p:sp>
        <p:nvSpPr>
          <p:cNvPr id="21" name="Shape 19"/>
          <p:cNvSpPr/>
          <p:nvPr/>
        </p:nvSpPr>
        <p:spPr>
          <a:xfrm>
            <a:off x="11219688" y="3163824"/>
            <a:ext cx="566928" cy="182880"/>
          </a:xfrm>
          <a:prstGeom prst="roundRect">
            <a:avLst>
              <a:gd name="adj" fmla="val 50000"/>
            </a:avLst>
          </a:prstGeom>
          <a:solidFill>
            <a:srgbClr val="16A34A"/>
          </a:solidFill>
          <a:ln/>
        </p:spPr>
      </p:sp>
      <p:sp>
        <p:nvSpPr>
          <p:cNvPr id="22" name="Text 20"/>
          <p:cNvSpPr/>
          <p:nvPr/>
        </p:nvSpPr>
        <p:spPr>
          <a:xfrm>
            <a:off x="11219688" y="3163824"/>
            <a:ext cx="566928" cy="18288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OK</a:t>
            </a:r>
            <a:endParaRPr lang="en-US" sz="650" dirty="0"/>
          </a:p>
        </p:txBody>
      </p:sp>
      <p:sp>
        <p:nvSpPr>
          <p:cNvPr id="23" name="Shape 21"/>
          <p:cNvSpPr/>
          <p:nvPr/>
        </p:nvSpPr>
        <p:spPr>
          <a:xfrm>
            <a:off x="9701784" y="4965192"/>
            <a:ext cx="2176272" cy="329184"/>
          </a:xfrm>
          <a:prstGeom prst="rect">
            <a:avLst/>
          </a:prstGeom>
          <a:solidFill>
            <a:srgbClr val="F8FAFC"/>
          </a:solidFill>
          <a:ln w="9525">
            <a:solidFill>
              <a:srgbClr val="E2E8F0"/>
            </a:solidFill>
            <a:prstDash val="solid"/>
          </a:ln>
        </p:spPr>
      </p:sp>
      <p:sp>
        <p:nvSpPr>
          <p:cNvPr id="24" name="Text 22"/>
          <p:cNvSpPr/>
          <p:nvPr/>
        </p:nvSpPr>
        <p:spPr>
          <a:xfrm>
            <a:off x="9701784" y="496519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25" name="Text 23"/>
          <p:cNvSpPr/>
          <p:nvPr/>
        </p:nvSpPr>
        <p:spPr>
          <a:xfrm>
            <a:off x="10137038" y="496519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26" name="Text 24"/>
          <p:cNvSpPr/>
          <p:nvPr/>
        </p:nvSpPr>
        <p:spPr>
          <a:xfrm>
            <a:off x="10572293" y="496519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7" name="Text 25"/>
          <p:cNvSpPr/>
          <p:nvPr/>
        </p:nvSpPr>
        <p:spPr>
          <a:xfrm>
            <a:off x="11007547" y="496519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8" name="Text 26"/>
          <p:cNvSpPr/>
          <p:nvPr/>
        </p:nvSpPr>
        <p:spPr>
          <a:xfrm>
            <a:off x="11442802" y="496519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9" name="Text 27"/>
          <p:cNvSpPr/>
          <p:nvPr/>
        </p:nvSpPr>
        <p:spPr>
          <a:xfrm>
            <a:off x="822960" y="5852160"/>
            <a:ext cx="8229600" cy="274320"/>
          </a:xfrm>
          <a:prstGeom prst="rect">
            <a:avLst/>
          </a:prstGeom>
          <a:noFill/>
          <a:ln/>
        </p:spPr>
        <p:txBody>
          <a:bodyPr wrap="square" lIns="0" tIns="0" rIns="0" bIns="0" rtlCol="0" anchor="ctr"/>
          <a:lstStyle/>
          <a:p>
            <a:pPr indent="0" marL="0">
              <a:buNone/>
            </a:pPr>
            <a:r>
              <a:rPr lang="en-US" sz="1200" dirty="0">
                <a:solidFill>
                  <a:srgbClr val="38BDF8"/>
                </a:solidFill>
                <a:latin typeface="Calibri" pitchFamily="34" charset="0"/>
                <a:ea typeface="Calibri" pitchFamily="34" charset="-122"/>
                <a:cs typeface="Calibri" pitchFamily="34" charset="-120"/>
              </a:rPr>
              <a:t>GPS Satelital Cartagena · Club de moteros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ANTES DE EMPEZAR</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Cómo está organizada esta capacitación</a:t>
            </a:r>
            <a:endParaRPr lang="en-US" sz="2700" dirty="0"/>
          </a:p>
        </p:txBody>
      </p:sp>
      <p:sp>
        <p:nvSpPr>
          <p:cNvPr id="4" name="Shape 2"/>
          <p:cNvSpPr/>
          <p:nvPr/>
        </p:nvSpPr>
        <p:spPr>
          <a:xfrm>
            <a:off x="640080" y="1600200"/>
            <a:ext cx="6766560" cy="1207008"/>
          </a:xfrm>
          <a:prstGeom prst="roundRect">
            <a:avLst>
              <a:gd name="adj" fmla="val 7576"/>
            </a:avLst>
          </a:prstGeom>
          <a:solidFill>
            <a:srgbClr val="F8FAFC"/>
          </a:solidFill>
          <a:ln w="12700">
            <a:solidFill>
              <a:srgbClr val="E2E8F0"/>
            </a:solidFill>
            <a:prstDash val="solid"/>
          </a:ln>
        </p:spPr>
      </p:sp>
      <p:sp>
        <p:nvSpPr>
          <p:cNvPr id="5" name="Text 3"/>
          <p:cNvSpPr/>
          <p:nvPr/>
        </p:nvSpPr>
        <p:spPr>
          <a:xfrm>
            <a:off x="914400" y="1746504"/>
            <a:ext cx="6309360" cy="329184"/>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1 · El día a día de cada puesto</a:t>
            </a:r>
            <a:endParaRPr lang="en-US" sz="1600" dirty="0"/>
          </a:p>
        </p:txBody>
      </p:sp>
      <p:sp>
        <p:nvSpPr>
          <p:cNvPr id="6" name="Text 4"/>
          <p:cNvSpPr/>
          <p:nvPr/>
        </p:nvSpPr>
        <p:spPr>
          <a:xfrm>
            <a:off x="914400" y="2103120"/>
            <a:ext cx="6309360" cy="603504"/>
          </a:xfrm>
          <a:prstGeom prst="rect">
            <a:avLst/>
          </a:prstGeom>
          <a:noFill/>
          <a:ln/>
        </p:spPr>
        <p:txBody>
          <a:bodyPr wrap="square" lIns="0" tIns="0" rIns="0" bIns="0" rtlCol="0" anchor="ctr"/>
          <a:lstStyle/>
          <a:p>
            <a:pPr indent="0" marL="0">
              <a:lnSpc>
                <a:spcPct val="105000"/>
              </a:lnSpc>
              <a:buNone/>
            </a:pPr>
            <a:r>
              <a:rPr lang="en-US" sz="1250" dirty="0">
                <a:solidFill>
                  <a:srgbClr val="64748B"/>
                </a:solidFill>
                <a:latin typeface="Calibri" pitchFamily="34" charset="0"/>
                <a:ea typeface="Calibri" pitchFamily="34" charset="-122"/>
                <a:cs typeface="Calibri" pitchFamily="34" charset="-120"/>
              </a:rPr>
              <a:t>Qué hace la secretaria, el cobrador y el administrador, momento por momento: al llegar, durante el día y al cerrar.</a:t>
            </a:r>
            <a:endParaRPr lang="en-US" sz="1250" dirty="0"/>
          </a:p>
        </p:txBody>
      </p:sp>
      <p:sp>
        <p:nvSpPr>
          <p:cNvPr id="7" name="Shape 5"/>
          <p:cNvSpPr/>
          <p:nvPr/>
        </p:nvSpPr>
        <p:spPr>
          <a:xfrm>
            <a:off x="640080" y="3017520"/>
            <a:ext cx="6766560" cy="1207008"/>
          </a:xfrm>
          <a:prstGeom prst="roundRect">
            <a:avLst>
              <a:gd name="adj" fmla="val 7576"/>
            </a:avLst>
          </a:prstGeom>
          <a:solidFill>
            <a:srgbClr val="F8FAFC"/>
          </a:solidFill>
          <a:ln w="12700">
            <a:solidFill>
              <a:srgbClr val="E2E8F0"/>
            </a:solidFill>
            <a:prstDash val="solid"/>
          </a:ln>
        </p:spPr>
      </p:sp>
      <p:sp>
        <p:nvSpPr>
          <p:cNvPr id="8" name="Text 6"/>
          <p:cNvSpPr/>
          <p:nvPr/>
        </p:nvSpPr>
        <p:spPr>
          <a:xfrm>
            <a:off x="914400" y="3163824"/>
            <a:ext cx="6309360" cy="329184"/>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2 · ¿Qué hago si…?</a:t>
            </a:r>
            <a:endParaRPr lang="en-US" sz="1600" dirty="0"/>
          </a:p>
        </p:txBody>
      </p:sp>
      <p:sp>
        <p:nvSpPr>
          <p:cNvPr id="9" name="Text 7"/>
          <p:cNvSpPr/>
          <p:nvPr/>
        </p:nvSpPr>
        <p:spPr>
          <a:xfrm>
            <a:off x="914400" y="3520440"/>
            <a:ext cx="6309360" cy="603504"/>
          </a:xfrm>
          <a:prstGeom prst="rect">
            <a:avLst/>
          </a:prstGeom>
          <a:noFill/>
          <a:ln/>
        </p:spPr>
        <p:txBody>
          <a:bodyPr wrap="square" lIns="0" tIns="0" rIns="0" bIns="0" rtlCol="0" anchor="ctr"/>
          <a:lstStyle/>
          <a:p>
            <a:pPr indent="0" marL="0">
              <a:lnSpc>
                <a:spcPct val="105000"/>
              </a:lnSpc>
              <a:buNone/>
            </a:pPr>
            <a:r>
              <a:rPr lang="en-US" sz="1250" dirty="0">
                <a:solidFill>
                  <a:srgbClr val="64748B"/>
                </a:solidFill>
                <a:latin typeface="Calibri" pitchFamily="34" charset="0"/>
                <a:ea typeface="Calibri" pitchFamily="34" charset="-122"/>
                <a:cs typeface="Calibri" pitchFamily="34" charset="-120"/>
              </a:rPr>
              <a:t>Los casos que de verdad pasan en el mostrador y en la calle, con la respuesta paso a paso.</a:t>
            </a:r>
            <a:endParaRPr lang="en-US" sz="1250" dirty="0"/>
          </a:p>
        </p:txBody>
      </p:sp>
      <p:sp>
        <p:nvSpPr>
          <p:cNvPr id="10" name="Shape 8"/>
          <p:cNvSpPr/>
          <p:nvPr/>
        </p:nvSpPr>
        <p:spPr>
          <a:xfrm>
            <a:off x="640080" y="4434840"/>
            <a:ext cx="6766560" cy="1207008"/>
          </a:xfrm>
          <a:prstGeom prst="roundRect">
            <a:avLst>
              <a:gd name="adj" fmla="val 7576"/>
            </a:avLst>
          </a:prstGeom>
          <a:solidFill>
            <a:srgbClr val="F8FAFC"/>
          </a:solidFill>
          <a:ln w="12700">
            <a:solidFill>
              <a:srgbClr val="E2E8F0"/>
            </a:solidFill>
            <a:prstDash val="solid"/>
          </a:ln>
        </p:spPr>
      </p:sp>
      <p:sp>
        <p:nvSpPr>
          <p:cNvPr id="11" name="Text 9"/>
          <p:cNvSpPr/>
          <p:nvPr/>
        </p:nvSpPr>
        <p:spPr>
          <a:xfrm>
            <a:off x="914400" y="4581144"/>
            <a:ext cx="6309360" cy="329184"/>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3 · Las reglas de oro</a:t>
            </a:r>
            <a:endParaRPr lang="en-US" sz="1600" dirty="0"/>
          </a:p>
        </p:txBody>
      </p:sp>
      <p:sp>
        <p:nvSpPr>
          <p:cNvPr id="12" name="Text 10"/>
          <p:cNvSpPr/>
          <p:nvPr/>
        </p:nvSpPr>
        <p:spPr>
          <a:xfrm>
            <a:off x="914400" y="4937760"/>
            <a:ext cx="6309360" cy="603504"/>
          </a:xfrm>
          <a:prstGeom prst="rect">
            <a:avLst/>
          </a:prstGeom>
          <a:noFill/>
          <a:ln/>
        </p:spPr>
        <p:txBody>
          <a:bodyPr wrap="square" lIns="0" tIns="0" rIns="0" bIns="0" rtlCol="0" anchor="ctr"/>
          <a:lstStyle/>
          <a:p>
            <a:pPr indent="0" marL="0">
              <a:lnSpc>
                <a:spcPct val="105000"/>
              </a:lnSpc>
              <a:buNone/>
            </a:pPr>
            <a:r>
              <a:rPr lang="en-US" sz="1250" dirty="0">
                <a:solidFill>
                  <a:srgbClr val="64748B"/>
                </a:solidFill>
                <a:latin typeface="Calibri" pitchFamily="34" charset="0"/>
                <a:ea typeface="Calibri" pitchFamily="34" charset="-122"/>
                <a:cs typeface="Calibri" pitchFamily="34" charset="-120"/>
              </a:rPr>
              <a:t>Lo que nunca se debe hacer, y por qué. Son pocas, pero son las que cuidan la plata.</a:t>
            </a:r>
            <a:endParaRPr lang="en-US" sz="1250" dirty="0"/>
          </a:p>
        </p:txBody>
      </p:sp>
      <p:sp>
        <p:nvSpPr>
          <p:cNvPr id="13" name="Shape 11"/>
          <p:cNvSpPr/>
          <p:nvPr/>
        </p:nvSpPr>
        <p:spPr>
          <a:xfrm>
            <a:off x="7772400" y="1600200"/>
            <a:ext cx="3840480" cy="1920240"/>
          </a:xfrm>
          <a:prstGeom prst="roundRect">
            <a:avLst>
              <a:gd name="adj" fmla="val 3810"/>
            </a:avLst>
          </a:prstGeom>
          <a:solidFill>
            <a:srgbClr val="DCFCE7"/>
          </a:solidFill>
          <a:ln w="12700">
            <a:solidFill>
              <a:srgbClr val="16A34A"/>
            </a:solidFill>
            <a:prstDash val="solid"/>
          </a:ln>
        </p:spPr>
      </p:sp>
      <p:sp>
        <p:nvSpPr>
          <p:cNvPr id="14" name="Text 12"/>
          <p:cNvSpPr/>
          <p:nvPr/>
        </p:nvSpPr>
        <p:spPr>
          <a:xfrm>
            <a:off x="7918704" y="1673352"/>
            <a:ext cx="35478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15" name="Text 13"/>
          <p:cNvSpPr/>
          <p:nvPr/>
        </p:nvSpPr>
        <p:spPr>
          <a:xfrm>
            <a:off x="7918704" y="1892808"/>
            <a:ext cx="3547872" cy="153619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En cada lámina vas a ver:</a:t>
            </a:r>
            <a:endParaRPr lang="en-US" sz="1150" dirty="0"/>
          </a:p>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 La pantalla donde se hace</a:t>
            </a:r>
            <a:endParaRPr lang="en-US" sz="1150" dirty="0"/>
          </a:p>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 Los pasos exactos que hay que tocar</a:t>
            </a:r>
            <a:endParaRPr lang="en-US" sz="1150" dirty="0"/>
          </a:p>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 Un ejemplo con nombres y cifras reales</a:t>
            </a:r>
            <a:endParaRPr lang="en-US" sz="1150" dirty="0"/>
          </a:p>
        </p:txBody>
      </p:sp>
      <p:sp>
        <p:nvSpPr>
          <p:cNvPr id="16" name="Shape 14"/>
          <p:cNvSpPr/>
          <p:nvPr/>
        </p:nvSpPr>
        <p:spPr>
          <a:xfrm>
            <a:off x="7772400" y="3703320"/>
            <a:ext cx="3840480" cy="1874520"/>
          </a:xfrm>
          <a:prstGeom prst="roundRect">
            <a:avLst>
              <a:gd name="adj" fmla="val 3902"/>
            </a:avLst>
          </a:prstGeom>
          <a:solidFill>
            <a:srgbClr val="FEF3C7"/>
          </a:solidFill>
          <a:ln w="12700">
            <a:solidFill>
              <a:srgbClr val="F59E0B"/>
            </a:solidFill>
            <a:prstDash val="solid"/>
          </a:ln>
        </p:spPr>
      </p:sp>
      <p:sp>
        <p:nvSpPr>
          <p:cNvPr id="17" name="Text 15"/>
          <p:cNvSpPr/>
          <p:nvPr/>
        </p:nvSpPr>
        <p:spPr>
          <a:xfrm>
            <a:off x="7918704" y="3776472"/>
            <a:ext cx="35478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18" name="Text 16"/>
          <p:cNvSpPr/>
          <p:nvPr/>
        </p:nvSpPr>
        <p:spPr>
          <a:xfrm>
            <a:off x="7918704" y="3995928"/>
            <a:ext cx="3547872" cy="149047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Nadie tiene que memorizar nada. Esta guía queda impresa en cada puesto: cuando se presente un caso, se busca y se sigue el paso a paso.</a:t>
            </a:r>
            <a:endParaRPr lang="en-US" sz="1100" dirty="0"/>
          </a:p>
        </p:txBody>
      </p:sp>
      <p:sp>
        <p:nvSpPr>
          <p:cNvPr id="19" name="Text 17"/>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20" name="Text 18"/>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FD100"/>
          </a:solidFill>
          <a:ln/>
        </p:spPr>
      </p:sp>
      <p:sp>
        <p:nvSpPr>
          <p:cNvPr id="3" name="Text 1"/>
          <p:cNvSpPr/>
          <p:nvPr/>
        </p:nvSpPr>
        <p:spPr>
          <a:xfrm>
            <a:off x="914400" y="2468880"/>
            <a:ext cx="10058400" cy="310896"/>
          </a:xfrm>
          <a:prstGeom prst="rect">
            <a:avLst/>
          </a:prstGeom>
          <a:noFill/>
          <a:ln/>
        </p:spPr>
        <p:txBody>
          <a:bodyPr wrap="square" lIns="0" tIns="0" rIns="0" bIns="0" rtlCol="0" anchor="ctr"/>
          <a:lstStyle/>
          <a:p>
            <a:pPr indent="0" marL="0">
              <a:buNone/>
            </a:pPr>
            <a:r>
              <a:rPr lang="en-US" sz="1300" b="1" spc="250" kern="0" dirty="0">
                <a:solidFill>
                  <a:srgbClr val="38BDF8"/>
                </a:solidFill>
                <a:latin typeface="Calibri" pitchFamily="34" charset="0"/>
                <a:ea typeface="Calibri" pitchFamily="34" charset="-122"/>
                <a:cs typeface="Calibri" pitchFamily="34" charset="-120"/>
              </a:rPr>
              <a:t>EL DÍA A DÍA</a:t>
            </a:r>
            <a:endParaRPr lang="en-US" sz="1300" dirty="0"/>
          </a:p>
        </p:txBody>
      </p:sp>
      <p:sp>
        <p:nvSpPr>
          <p:cNvPr id="4" name="Text 2"/>
          <p:cNvSpPr/>
          <p:nvPr/>
        </p:nvSpPr>
        <p:spPr>
          <a:xfrm>
            <a:off x="914400" y="278892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La secretaria</a:t>
            </a:r>
            <a:endParaRPr lang="en-US" sz="4000" dirty="0"/>
          </a:p>
        </p:txBody>
      </p:sp>
      <p:sp>
        <p:nvSpPr>
          <p:cNvPr id="5" name="Text 3"/>
          <p:cNvSpPr/>
          <p:nvPr/>
        </p:nvSpPr>
        <p:spPr>
          <a:xfrm>
            <a:off x="914400" y="3657600"/>
            <a:ext cx="9509760" cy="822960"/>
          </a:xfrm>
          <a:prstGeom prst="rect">
            <a:avLst/>
          </a:prstGeom>
          <a:noFill/>
          <a:ln/>
        </p:spPr>
        <p:txBody>
          <a:bodyPr wrap="square" lIns="0" tIns="0" rIns="0" bIns="0" rtlCol="0" anchor="ctr"/>
          <a:lstStyle/>
          <a:p>
            <a:pPr indent="0" marL="0">
              <a:lnSpc>
                <a:spcPct val="110000"/>
              </a:lnSpc>
              <a:buNone/>
            </a:pPr>
            <a:r>
              <a:rPr lang="en-US" sz="1450" dirty="0">
                <a:solidFill>
                  <a:srgbClr val="CBD5E1"/>
                </a:solidFill>
                <a:latin typeface="Calibri" pitchFamily="34" charset="0"/>
                <a:ea typeface="Calibri" pitchFamily="34" charset="-122"/>
                <a:cs typeface="Calibri" pitchFamily="34" charset="-120"/>
              </a:rPr>
              <a:t>Esta sección le dice a la secretaria exactamente qué tocar en la app en cada momento del día: recibir la plata en efectivo, confirmar las transferencias y el efectivo que traen los cobradores, registrar clientes nuevos y cerrar la caja de cada grupo. Si sigue estos pasos, la plata del día cuadra sola y ningún cliente aparece "en mora" habiendo pagado.</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LA SECRETARIA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Al llegar en la mañana (antes de abrir la puerta al primer cliente)</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Dejar la app al día y saber con qué se va a encontrar hoy: cuánta plata quedó sin confirmar de ayer y a cuántos les toca pagar hoy.</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E0F2FE"/>
          </a:solidFill>
          <a:ln w="19050">
            <a:solidFill>
              <a:srgbClr val="0284C7"/>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0" name="Shape 8"/>
          <p:cNvSpPr/>
          <p:nvPr/>
        </p:nvSpPr>
        <p:spPr>
          <a:xfrm>
            <a:off x="740664" y="2569464"/>
            <a:ext cx="2084832" cy="347472"/>
          </a:xfrm>
          <a:prstGeom prst="roundRect">
            <a:avLst>
              <a:gd name="adj" fmla="val 13158"/>
            </a:avLst>
          </a:prstGeom>
          <a:solidFill>
            <a:srgbClr val="F1F5F9"/>
          </a:solidFill>
          <a:ln w="9525">
            <a:solidFill>
              <a:srgbClr val="E2E8F0"/>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Abrir la app y entrar con su usuario (ANGELA).</a:t>
            </a:r>
            <a:endParaRPr lang="en-US" sz="1000" dirty="0"/>
          </a:p>
        </p:txBody>
      </p:sp>
      <p:sp>
        <p:nvSpPr>
          <p:cNvPr id="27" name="Shape 25"/>
          <p:cNvSpPr/>
          <p:nvPr/>
        </p:nvSpPr>
        <p:spPr>
          <a:xfrm>
            <a:off x="4206240" y="2368296"/>
            <a:ext cx="274320" cy="274320"/>
          </a:xfrm>
          <a:prstGeom prst="ellipse">
            <a:avLst/>
          </a:prstGeom>
          <a:solidFill>
            <a:srgbClr val="0F172A"/>
          </a:solidFill>
          <a:ln/>
        </p:spPr>
      </p:sp>
      <p:sp>
        <p:nvSpPr>
          <p:cNvPr id="28" name="Text 26"/>
          <p:cNvSpPr/>
          <p:nvPr/>
        </p:nvSpPr>
        <p:spPr>
          <a:xfrm>
            <a:off x="4206240" y="2368296"/>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40864"/>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Si aparece el aviso flotante "🔄 Hay una versión nueva", tocar Actualizar y esperar a que recargue. (Si no lo hace, más tarde al registrar un pago puede salir un error raro; si eso pasa, presione Ctrl + Shift + R.)</a:t>
            </a:r>
            <a:endParaRPr lang="en-US" sz="1000" dirty="0"/>
          </a:p>
        </p:txBody>
      </p:sp>
      <p:sp>
        <p:nvSpPr>
          <p:cNvPr id="30" name="Shape 28"/>
          <p:cNvSpPr/>
          <p:nvPr/>
        </p:nvSpPr>
        <p:spPr>
          <a:xfrm>
            <a:off x="4206240" y="2990088"/>
            <a:ext cx="274320" cy="274320"/>
          </a:xfrm>
          <a:prstGeom prst="ellipse">
            <a:avLst/>
          </a:prstGeom>
          <a:solidFill>
            <a:srgbClr val="0F172A"/>
          </a:solidFill>
          <a:ln/>
        </p:spPr>
      </p:sp>
      <p:sp>
        <p:nvSpPr>
          <p:cNvPr id="31" name="Text 29"/>
          <p:cNvSpPr/>
          <p:nvPr/>
        </p:nvSpPr>
        <p:spPr>
          <a:xfrm>
            <a:off x="4206240" y="299008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62656"/>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Tocar la campana 🔔 arriba a la derecha y leer las alertas. A usted le interesan sobre todo las de "transferencia pendiente".</a:t>
            </a:r>
            <a:endParaRPr lang="en-US" sz="1000" dirty="0"/>
          </a:p>
        </p:txBody>
      </p:sp>
      <p:sp>
        <p:nvSpPr>
          <p:cNvPr id="33" name="Shape 31"/>
          <p:cNvSpPr/>
          <p:nvPr/>
        </p:nvSpPr>
        <p:spPr>
          <a:xfrm>
            <a:off x="4206240" y="3611880"/>
            <a:ext cx="274320" cy="274320"/>
          </a:xfrm>
          <a:prstGeom prst="ellipse">
            <a:avLst/>
          </a:prstGeom>
          <a:solidFill>
            <a:srgbClr val="0F172A"/>
          </a:solidFill>
          <a:ln/>
        </p:spPr>
      </p:sp>
      <p:sp>
        <p:nvSpPr>
          <p:cNvPr id="34" name="Text 32"/>
          <p:cNvSpPr/>
          <p:nvPr/>
        </p:nvSpPr>
        <p:spPr>
          <a:xfrm>
            <a:off x="4206240" y="361188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84448"/>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Tocar 💳 Cartera (en el computador está en la barra de la izquierda; en el celular, en la barra de abajo).</a:t>
            </a:r>
            <a:endParaRPr lang="en-US" sz="1000" dirty="0"/>
          </a:p>
        </p:txBody>
      </p:sp>
      <p:sp>
        <p:nvSpPr>
          <p:cNvPr id="36" name="Shape 34"/>
          <p:cNvSpPr/>
          <p:nvPr/>
        </p:nvSpPr>
        <p:spPr>
          <a:xfrm>
            <a:off x="4206240" y="4233672"/>
            <a:ext cx="274320" cy="274320"/>
          </a:xfrm>
          <a:prstGeom prst="ellipse">
            <a:avLst/>
          </a:prstGeom>
          <a:solidFill>
            <a:srgbClr val="0F172A"/>
          </a:solidFill>
          <a:ln/>
        </p:spPr>
      </p:sp>
      <p:sp>
        <p:nvSpPr>
          <p:cNvPr id="37" name="Text 35"/>
          <p:cNvSpPr/>
          <p:nvPr/>
        </p:nvSpPr>
        <p:spPr>
          <a:xfrm>
            <a:off x="4206240" y="4233672"/>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206240"/>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Mirar los 4 recuadros de arriba: Pagan hoy · Recaudado hoy · En gabela · En mora. Son botones: si toca "Pagan hoy" le muestra la lista de esos clientes.</a:t>
            </a:r>
            <a:endParaRPr lang="en-US" sz="1000" dirty="0"/>
          </a:p>
        </p:txBody>
      </p:sp>
      <p:sp>
        <p:nvSpPr>
          <p:cNvPr id="39" name="Shape 37"/>
          <p:cNvSpPr/>
          <p:nvPr/>
        </p:nvSpPr>
        <p:spPr>
          <a:xfrm>
            <a:off x="4206240" y="4855464"/>
            <a:ext cx="274320" cy="274320"/>
          </a:xfrm>
          <a:prstGeom prst="ellipse">
            <a:avLst/>
          </a:prstGeom>
          <a:solidFill>
            <a:srgbClr val="0F172A"/>
          </a:solidFill>
          <a:ln/>
        </p:spPr>
      </p:sp>
      <p:sp>
        <p:nvSpPr>
          <p:cNvPr id="40" name="Text 38"/>
          <p:cNvSpPr/>
          <p:nvPr/>
        </p:nvSpPr>
        <p:spPr>
          <a:xfrm>
            <a:off x="4206240" y="485546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82803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Tocar la pestaña "⏳ Por confirmar" (en celular dice "⏳ Confirmar") y anotar el número que trae al lado. Eso es plata que entró pero que TODAVÍA no está contada: transferencias de anoche y efectivo que trajeron los…</a:t>
            </a:r>
            <a:endParaRPr lang="en-US" sz="1000" dirty="0"/>
          </a:p>
        </p:txBody>
      </p:sp>
      <p:sp>
        <p:nvSpPr>
          <p:cNvPr id="42" name="Shape 40"/>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3" name="Text 41"/>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4" name="Text 42"/>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Martes 7:30 a.m. Los recuadros muestran: Pagan hoy 38 · Recaudado hoy $0 · En gabela 4 · En mora 11. La pestaña dice "⏳ Confirmar 5": son 3 transferencias que mandaron anoche por WhatsApp y 2 cobros que hizo EMIRO ayer en la tarde y todavía no le entrega.</a:t>
            </a:r>
            <a:endParaRPr lang="en-US" sz="1150" dirty="0"/>
          </a:p>
        </p:txBody>
      </p:sp>
      <p:sp>
        <p:nvSpPr>
          <p:cNvPr id="45" name="Shape 43"/>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6" name="Text 44"/>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47" name="Text 45"/>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No arranque el día sin mirar "⏳ Por confirmar". Mientras una transferencia esté sin confirmar, el sistema NO la cuenta: ese cliente sigue apareciendo en mora, y si el cobrador lo ve así, sale a perseguir a alguien que ya pagó.</a:t>
            </a:r>
            <a:endParaRPr lang="en-US" sz="1100" dirty="0"/>
          </a:p>
        </p:txBody>
      </p:sp>
      <p:sp>
        <p:nvSpPr>
          <p:cNvPr id="48" name="Text 46"/>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9" name="Text 47"/>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LA SECRETARIA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llega un cliente a la oficina a pagar en efectivo</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Registrar la plata que recibe en la mano, en el contrato correcto y por el valor correcto, dejando ver de una vez a qué se le aplicó (cuota, deuda, convenio, ahorro).</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Estando en 💳 Cartera, tocar el botón redondo azul "+" abajo a la derecha. Como usted no cobra en la calle, le abre directo la ventana "Registrar pago".</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 el campo "Cliente / contrato" escribir el nombre o la placa (con 2 o 3 letras basta) y tocar el resultado de la lista.</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Leer el recuadro que aparece: los tres cuadritos "Cuota período · Pagado · Pendiente", y abajo, si tiene, las franjas naranja "Deuda: $" y azul "Convenio: $/período".</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Decirle en voz alta al cliente cuánto debe y recibir la plata CONTADA antes de teclear nada.</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 "Valor recibido" escribir el monto que recibió.</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Leer el renglón azul que dice "Se aplicará: tarifa … · deuda … · convenio … · ahorro …". Ese renglón es la prueba de que la plata va a donde debe ir.</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 "Método de pago" dejar "Efectivo (confirma automático)".</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ANDRY BREA (placa RLZ93H), contrato semanal de $202.000, día de pago miércoles. Le entrega $202.000 en billetes. En el renglón azul aparece: "Se aplicará: tarifa $176.000 · ahorro $26.000". Eso es correcto: $27.000 diarios de lunes a sábado + $14.000 el domingo son los $176.000 de la empresa, y los $4.000 diarios + $2.000 del domingo son los $26.000 de ahorro del cliente.</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Dos cosas. (1) Si la ventana de confirmación muestra el aviso amarillo de pago repetido (mismo cliente, mismo monto, el mismo día), PARE y revise primero la pestaña 🧾 Historial: casi siempre es el mismo pago que se está registrando dos veces, y eso descuadra la caja.</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LA SECRETARIA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Justo después de registrar el pago (el cliente todavía está en frente)</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Entregarle al cliente su comprobante impreso y mandárselo por WhatsApp, para que quede sin dudas de cuánto pagó y cuánto le falta.</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21792"/>
          </a:xfrm>
          <a:prstGeom prst="rect">
            <a:avLst/>
          </a:prstGeom>
          <a:noFill/>
          <a:ln/>
        </p:spPr>
        <p:txBody>
          <a:bodyPr wrap="square" lIns="0" tIns="0" rIns="0" bIns="0" rtlCol="0" anchor="ctr"/>
          <a:lstStyle/>
          <a:p>
            <a:pPr indent="0" marL="0">
              <a:lnSpc>
                <a:spcPct val="92000"/>
              </a:lnSpc>
              <a:buNone/>
            </a:pPr>
            <a:r>
              <a:rPr lang="en-US" sz="1050" dirty="0">
                <a:solidFill>
                  <a:srgbClr val="0F172A"/>
                </a:solidFill>
                <a:latin typeface="Calibri" pitchFamily="34" charset="0"/>
                <a:ea typeface="Calibri" pitchFamily="34" charset="-122"/>
                <a:cs typeface="Calibri" pitchFamily="34" charset="-120"/>
              </a:rPr>
              <a:t>Al confirmar el efectivo, se abre sola la ventana "🧾 Recibo de pago" con el folio, el monto y el bloque "Detalle de su cuenta".</a:t>
            </a:r>
            <a:endParaRPr lang="en-US" sz="1050" dirty="0"/>
          </a:p>
        </p:txBody>
      </p:sp>
      <p:sp>
        <p:nvSpPr>
          <p:cNvPr id="27" name="Shape 25"/>
          <p:cNvSpPr/>
          <p:nvPr/>
        </p:nvSpPr>
        <p:spPr>
          <a:xfrm>
            <a:off x="4206240" y="2368296"/>
            <a:ext cx="274320" cy="274320"/>
          </a:xfrm>
          <a:prstGeom prst="ellipse">
            <a:avLst/>
          </a:prstGeom>
          <a:solidFill>
            <a:srgbClr val="0F172A"/>
          </a:solidFill>
          <a:ln/>
        </p:spPr>
      </p:sp>
      <p:sp>
        <p:nvSpPr>
          <p:cNvPr id="28" name="Text 26"/>
          <p:cNvSpPr/>
          <p:nvPr/>
        </p:nvSpPr>
        <p:spPr>
          <a:xfrm>
            <a:off x="4206240" y="2368296"/>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40864"/>
            <a:ext cx="3291840" cy="621792"/>
          </a:xfrm>
          <a:prstGeom prst="rect">
            <a:avLst/>
          </a:prstGeom>
          <a:noFill/>
          <a:ln/>
        </p:spPr>
        <p:txBody>
          <a:bodyPr wrap="square" lIns="0" tIns="0" rIns="0" bIns="0" rtlCol="0" anchor="ctr"/>
          <a:lstStyle/>
          <a:p>
            <a:pPr indent="0" marL="0">
              <a:lnSpc>
                <a:spcPct val="92000"/>
              </a:lnSpc>
              <a:buNone/>
            </a:pPr>
            <a:r>
              <a:rPr lang="en-US" sz="1050" dirty="0">
                <a:solidFill>
                  <a:srgbClr val="0F172A"/>
                </a:solidFill>
                <a:latin typeface="Calibri" pitchFamily="34" charset="0"/>
                <a:ea typeface="Calibri" pitchFamily="34" charset="-122"/>
                <a:cs typeface="Calibri" pitchFamily="34" charset="-120"/>
              </a:rPr>
              <a:t>Leerle al cliente el renglón "Le queda pendiente" — ese es el número por el que después vuelve a preguntar.</a:t>
            </a:r>
            <a:endParaRPr lang="en-US" sz="1050" dirty="0"/>
          </a:p>
        </p:txBody>
      </p:sp>
      <p:sp>
        <p:nvSpPr>
          <p:cNvPr id="30" name="Shape 28"/>
          <p:cNvSpPr/>
          <p:nvPr/>
        </p:nvSpPr>
        <p:spPr>
          <a:xfrm>
            <a:off x="4206240" y="2990088"/>
            <a:ext cx="274320" cy="274320"/>
          </a:xfrm>
          <a:prstGeom prst="ellipse">
            <a:avLst/>
          </a:prstGeom>
          <a:solidFill>
            <a:srgbClr val="0F172A"/>
          </a:solidFill>
          <a:ln/>
        </p:spPr>
      </p:sp>
      <p:sp>
        <p:nvSpPr>
          <p:cNvPr id="31" name="Text 29"/>
          <p:cNvSpPr/>
          <p:nvPr/>
        </p:nvSpPr>
        <p:spPr>
          <a:xfrm>
            <a:off x="4206240" y="299008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62656"/>
            <a:ext cx="3291840" cy="621792"/>
          </a:xfrm>
          <a:prstGeom prst="rect">
            <a:avLst/>
          </a:prstGeom>
          <a:noFill/>
          <a:ln/>
        </p:spPr>
        <p:txBody>
          <a:bodyPr wrap="square" lIns="0" tIns="0" rIns="0" bIns="0" rtlCol="0" anchor="ctr"/>
          <a:lstStyle/>
          <a:p>
            <a:pPr indent="0" marL="0">
              <a:lnSpc>
                <a:spcPct val="92000"/>
              </a:lnSpc>
              <a:buNone/>
            </a:pPr>
            <a:r>
              <a:rPr lang="en-US" sz="1050" dirty="0">
                <a:solidFill>
                  <a:srgbClr val="0F172A"/>
                </a:solidFill>
                <a:latin typeface="Calibri" pitchFamily="34" charset="0"/>
                <a:ea typeface="Calibri" pitchFamily="34" charset="-122"/>
                <a:cs typeface="Calibri" pitchFamily="34" charset="-120"/>
              </a:rPr>
              <a:t>Tocar "🖨️ Imprimir recibo": sale por la impresora térmica (la GA-E2001) y se le entrega el papel al cliente.</a:t>
            </a:r>
            <a:endParaRPr lang="en-US" sz="1050" dirty="0"/>
          </a:p>
        </p:txBody>
      </p:sp>
      <p:sp>
        <p:nvSpPr>
          <p:cNvPr id="33" name="Shape 31"/>
          <p:cNvSpPr/>
          <p:nvPr/>
        </p:nvSpPr>
        <p:spPr>
          <a:xfrm>
            <a:off x="4206240" y="3611880"/>
            <a:ext cx="274320" cy="274320"/>
          </a:xfrm>
          <a:prstGeom prst="ellipse">
            <a:avLst/>
          </a:prstGeom>
          <a:solidFill>
            <a:srgbClr val="0F172A"/>
          </a:solidFill>
          <a:ln/>
        </p:spPr>
      </p:sp>
      <p:sp>
        <p:nvSpPr>
          <p:cNvPr id="34" name="Text 32"/>
          <p:cNvSpPr/>
          <p:nvPr/>
        </p:nvSpPr>
        <p:spPr>
          <a:xfrm>
            <a:off x="4206240" y="361188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84448"/>
            <a:ext cx="3291840" cy="621792"/>
          </a:xfrm>
          <a:prstGeom prst="rect">
            <a:avLst/>
          </a:prstGeom>
          <a:noFill/>
          <a:ln/>
        </p:spPr>
        <p:txBody>
          <a:bodyPr wrap="square" lIns="0" tIns="0" rIns="0" bIns="0" rtlCol="0" anchor="ctr"/>
          <a:lstStyle/>
          <a:p>
            <a:pPr indent="0" marL="0">
              <a:lnSpc>
                <a:spcPct val="92000"/>
              </a:lnSpc>
              <a:buNone/>
            </a:pPr>
            <a:r>
              <a:rPr lang="en-US" sz="1050" dirty="0">
                <a:solidFill>
                  <a:srgbClr val="0F172A"/>
                </a:solidFill>
                <a:latin typeface="Calibri" pitchFamily="34" charset="0"/>
                <a:ea typeface="Calibri" pitchFamily="34" charset="-122"/>
                <a:cs typeface="Calibri" pitchFamily="34" charset="-120"/>
              </a:rPr>
              <a:t>Tocar "💬 Enviar por WhatsApp" → tocar el botón del número registrado. Si el cliente da otro número, escribirlo en "Otro número" y tocar Enviar; si quiere que le llegue a los dos, tocar "Enviar a los dos números".</a:t>
            </a:r>
            <a:endParaRPr lang="en-US" sz="1050" dirty="0"/>
          </a:p>
        </p:txBody>
      </p:sp>
      <p:sp>
        <p:nvSpPr>
          <p:cNvPr id="36" name="Shape 34"/>
          <p:cNvSpPr/>
          <p:nvPr/>
        </p:nvSpPr>
        <p:spPr>
          <a:xfrm>
            <a:off x="4206240" y="4233672"/>
            <a:ext cx="274320" cy="274320"/>
          </a:xfrm>
          <a:prstGeom prst="ellipse">
            <a:avLst/>
          </a:prstGeom>
          <a:solidFill>
            <a:srgbClr val="0F172A"/>
          </a:solidFill>
          <a:ln/>
        </p:spPr>
      </p:sp>
      <p:sp>
        <p:nvSpPr>
          <p:cNvPr id="37" name="Text 35"/>
          <p:cNvSpPr/>
          <p:nvPr/>
        </p:nvSpPr>
        <p:spPr>
          <a:xfrm>
            <a:off x="4206240" y="4233672"/>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206240"/>
            <a:ext cx="3291840" cy="621792"/>
          </a:xfrm>
          <a:prstGeom prst="rect">
            <a:avLst/>
          </a:prstGeom>
          <a:noFill/>
          <a:ln/>
        </p:spPr>
        <p:txBody>
          <a:bodyPr wrap="square" lIns="0" tIns="0" rIns="0" bIns="0" rtlCol="0" anchor="ctr"/>
          <a:lstStyle/>
          <a:p>
            <a:pPr indent="0" marL="0">
              <a:lnSpc>
                <a:spcPct val="92000"/>
              </a:lnSpc>
              <a:buNone/>
            </a:pPr>
            <a:r>
              <a:rPr lang="en-US" sz="1050" dirty="0">
                <a:solidFill>
                  <a:srgbClr val="0F172A"/>
                </a:solidFill>
                <a:latin typeface="Calibri" pitchFamily="34" charset="0"/>
                <a:ea typeface="Calibri" pitchFamily="34" charset="-122"/>
                <a:cs typeface="Calibri" pitchFamily="34" charset="-120"/>
              </a:rPr>
              <a:t>Cerrar la ventana con la ✕.</a:t>
            </a:r>
            <a:endParaRPr lang="en-US" sz="1050" dirty="0"/>
          </a:p>
        </p:txBody>
      </p:sp>
      <p:sp>
        <p:nvSpPr>
          <p:cNvPr id="39" name="Shape 37"/>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0" name="Text 38"/>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1" name="Text 39"/>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MARTHA ALVAREZ (placa RLT68H) solo pudo traer $100.000 de los $202.000 de la semana. El recibo dice: "Debía en total $202.000 → A la cuota $100.000 → Le queda pendiente $102.000", y el ahorro sale en $0. No es un error: primero se cubre la tarifa de la empresa y el ahorro solo se le abona cuando complete la semana.</a:t>
            </a:r>
            <a:endParaRPr lang="en-US" sz="1150" dirty="0"/>
          </a:p>
        </p:txBody>
      </p:sp>
      <p:sp>
        <p:nvSpPr>
          <p:cNvPr id="42" name="Shape 40"/>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3" name="Text 41"/>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44" name="Text 42"/>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Si la impresora no sacó el papel, NO vuelva a registrar el pago. El pago ya quedó guardado. Vaya a Cartera → pestaña "🧾 Historial", busque el pago y toque el botón "🧾 Recibo" para imprimirlo de nuevo.</a:t>
            </a:r>
            <a:endParaRPr lang="en-US" sz="1100" dirty="0"/>
          </a:p>
        </p:txBody>
      </p:sp>
      <p:sp>
        <p:nvSpPr>
          <p:cNvPr id="45" name="Text 43"/>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6" name="Text 44"/>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LA SECRETARIA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llega un comprobante de transferencia por WhatsApp</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Que la transferencia quede registrada con su foto y que solo se cuente como plata real cuando usted verifique en el banco que entró.</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F1F5F9"/>
          </a:solidFill>
          <a:ln w="9525">
            <a:solidFill>
              <a:srgbClr val="E2E8F0"/>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p:txBody>
      </p:sp>
      <p:sp>
        <p:nvSpPr>
          <p:cNvPr id="12" name="Shape 10"/>
          <p:cNvSpPr/>
          <p:nvPr/>
        </p:nvSpPr>
        <p:spPr>
          <a:xfrm>
            <a:off x="740664" y="2971800"/>
            <a:ext cx="2084832" cy="347472"/>
          </a:xfrm>
          <a:prstGeom prst="roundRect">
            <a:avLst>
              <a:gd name="adj" fmla="val 13158"/>
            </a:avLst>
          </a:prstGeom>
          <a:solidFill>
            <a:srgbClr val="E0F2FE"/>
          </a:solidFill>
          <a:ln w="19050">
            <a:solidFill>
              <a:srgbClr val="0284C7"/>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Guardar en el teléfono/computador la imagen del comprobante que mandó el cliente.</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Cartera → botón "+" → buscar el cliente o la placa y seleccionarlo.</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Escribir el valor en "Valor recibido".</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 "Método de pago" escoger "Transferencia (queda pendiente)".</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Aparece "Foto del comprobante *": tocar "📷 Cámara" si va a fotografiar la pantalla del cliente, o "🖼 Galería" si ya tiene la imagen guardada. Debe quedar el ✓ verde con el nombre del archivo.</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Tocar "Registrar pago" → "Confirmar". Sale el aviso amarillo "⏳ Transferencia registrada". Ojo: todavía NO es plata contada.</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Entrar al banco y verificar que el dinero sí llegó a la cuenta.</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ALEJANDRO NIETO manda a las 6:00 a.m. la foto de una transferencia de $195.000 (es de los de tarifa vieja: $26.000 la tarifa diaria y $13.000 el domingo). Usted la registra con la foto, queda "⏳ Pendiente". A las 9:00 a.m. revisa el banco, sí entró, toca "✓ Confirmar recibido" y le manda el recibo por WhatsApp.</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Confirmar SIN haber mirado el banco es el hueco más peligroso que hay: el sistema no valida nada con el banco, la única verificación es la que usted hace con sus ojos. Una foto vieja reenviada o un comprobante editado pasa derecho si usted confirma de una.</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LA SECRETARIA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el cobrador (EMIRO) llega con el efectivo que recogió en la calle</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Recibir, contar y confirmar el efectivo de campo, para que la plata deje de estar "en poder del admin" y entre a la caja.</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F1F5F9"/>
          </a:solidFill>
          <a:ln w="9525">
            <a:solidFill>
              <a:srgbClr val="E2E8F0"/>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p:txBody>
      </p:sp>
      <p:sp>
        <p:nvSpPr>
          <p:cNvPr id="12" name="Shape 10"/>
          <p:cNvSpPr/>
          <p:nvPr/>
        </p:nvSpPr>
        <p:spPr>
          <a:xfrm>
            <a:off x="740664" y="2971800"/>
            <a:ext cx="2084832" cy="347472"/>
          </a:xfrm>
          <a:prstGeom prst="roundRect">
            <a:avLst>
              <a:gd name="adj" fmla="val 13158"/>
            </a:avLst>
          </a:prstGeom>
          <a:solidFill>
            <a:srgbClr val="E0F2FE"/>
          </a:solidFill>
          <a:ln w="19050">
            <a:solidFill>
              <a:srgbClr val="0284C7"/>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Cartera → pestaña "⏳ Por confirmar" → bajar hasta el bloque "💵 Efectivo de campo por confirmar".</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Usar los chips "Todos / Por entregar / Entregado, falta confirmar" para filtrar. Los que dicen "Entregado a secretaria" (verde) son los que EMIRO ya marcó como entregados; los que dicen "En poder del admin"…</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Contar los billetes con EMIRO al frente, uno por uno contra la lista de la pantalla (cada tarjeta trae el nombre, la placa, el folio y el monto).</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Si en la tarjeta hay foto del cobro, tocarla para ampliarla y verificarla.</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Por cada cobro que cuadre, tocar "✓ Confirmar recibido". Ahí se abre el recibo y ya cuenta como plata de la caja del día.</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Si un cobro no cuadra con el efectivo que le entregaron, NO lo confirme: déjelo pendiente y avísele a SERGIO o a FREDY.</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Si un cobro sigue apareciendo "En poder del admin" pero EMIRO ya le dio la plata, pídale a él que toque primero "📤 Entregué a secretaria" en su celular; ese botón es de él, no suyo.</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EMIRO llega a las 5:00 p.m. con $471.000. En la lista aparecen 3 cobros: $202.000 (ANDRY BREA, RLZ93H), $195.000 (ALEJANDRO NIETO) y $74.000 (un abono). Suman $471.000, coincide con lo que trajo, y confirma los tres uno por uno.</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Confirmar los cobros sin haber contado la plata al frente del cobrador destruye el doble control: son dos personas justamente para que ninguna quede sola con la responsabilidad.</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LA SECRETARIA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un cliente llega a pagar y no trae la cuota completa (o quiere ponerse al día de una deuda vieja)</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Recibir lo que traiga sin que se pierda el registro, y si hay una deuda atrasada grande, dejarla organizada en un convenio con fecha y cuotas.</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Registrar el abono igual que un pago normal (botón "+" → buscar cliente → "Valor recibido" → Efectivo → Registrar pago → Confirmar). Nunca lo deje sin registrar por ser "poquito".</a:t>
            </a:r>
            <a:endParaRPr lang="en-US" sz="1000" dirty="0"/>
          </a:p>
        </p:txBody>
      </p:sp>
      <p:sp>
        <p:nvSpPr>
          <p:cNvPr id="27" name="Shape 25"/>
          <p:cNvSpPr/>
          <p:nvPr/>
        </p:nvSpPr>
        <p:spPr>
          <a:xfrm>
            <a:off x="4206240" y="2368296"/>
            <a:ext cx="274320" cy="274320"/>
          </a:xfrm>
          <a:prstGeom prst="ellipse">
            <a:avLst/>
          </a:prstGeom>
          <a:solidFill>
            <a:srgbClr val="0F172A"/>
          </a:solidFill>
          <a:ln/>
        </p:spPr>
      </p:sp>
      <p:sp>
        <p:nvSpPr>
          <p:cNvPr id="28" name="Text 26"/>
          <p:cNvSpPr/>
          <p:nvPr/>
        </p:nvSpPr>
        <p:spPr>
          <a:xfrm>
            <a:off x="4206240" y="2368296"/>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40864"/>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Leer el renglón azul "Se aplicará" y explicarle al cliente qué pasó con su plata: primero llena la semana más vieja que tenga pendiente, después la deuda, después la cuota del convenio.</a:t>
            </a:r>
            <a:endParaRPr lang="en-US" sz="1000" dirty="0"/>
          </a:p>
        </p:txBody>
      </p:sp>
      <p:sp>
        <p:nvSpPr>
          <p:cNvPr id="30" name="Shape 28"/>
          <p:cNvSpPr/>
          <p:nvPr/>
        </p:nvSpPr>
        <p:spPr>
          <a:xfrm>
            <a:off x="4206240" y="2990088"/>
            <a:ext cx="274320" cy="274320"/>
          </a:xfrm>
          <a:prstGeom prst="ellipse">
            <a:avLst/>
          </a:prstGeom>
          <a:solidFill>
            <a:srgbClr val="0F172A"/>
          </a:solidFill>
          <a:ln/>
        </p:spPr>
      </p:sp>
      <p:sp>
        <p:nvSpPr>
          <p:cNvPr id="31" name="Text 29"/>
          <p:cNvSpPr/>
          <p:nvPr/>
        </p:nvSpPr>
        <p:spPr>
          <a:xfrm>
            <a:off x="4206240" y="299008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62656"/>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Mostrarle en el recibo el renglón "Le queda pendiente" para que sepa con cuánto queda.</a:t>
            </a:r>
            <a:endParaRPr lang="en-US" sz="1000" dirty="0"/>
          </a:p>
        </p:txBody>
      </p:sp>
      <p:sp>
        <p:nvSpPr>
          <p:cNvPr id="33" name="Shape 31"/>
          <p:cNvSpPr/>
          <p:nvPr/>
        </p:nvSpPr>
        <p:spPr>
          <a:xfrm>
            <a:off x="4206240" y="3611880"/>
            <a:ext cx="274320" cy="274320"/>
          </a:xfrm>
          <a:prstGeom prst="ellipse">
            <a:avLst/>
          </a:prstGeom>
          <a:solidFill>
            <a:srgbClr val="0F172A"/>
          </a:solidFill>
          <a:ln/>
        </p:spPr>
      </p:sp>
      <p:sp>
        <p:nvSpPr>
          <p:cNvPr id="34" name="Text 32"/>
          <p:cNvSpPr/>
          <p:nvPr/>
        </p:nvSpPr>
        <p:spPr>
          <a:xfrm>
            <a:off x="4206240" y="361188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84448"/>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Si además arrastra una deuda vieja grande, abrir el contrato en la lista (pestaña 🌎 Todos → tocar el cliente) y usar el botón de Convenio para pactar cuánto va a abonar por período.</a:t>
            </a:r>
            <a:endParaRPr lang="en-US" sz="1000" dirty="0"/>
          </a:p>
        </p:txBody>
      </p:sp>
      <p:sp>
        <p:nvSpPr>
          <p:cNvPr id="36" name="Shape 34"/>
          <p:cNvSpPr/>
          <p:nvPr/>
        </p:nvSpPr>
        <p:spPr>
          <a:xfrm>
            <a:off x="4206240" y="4233672"/>
            <a:ext cx="274320" cy="274320"/>
          </a:xfrm>
          <a:prstGeom prst="ellipse">
            <a:avLst/>
          </a:prstGeom>
          <a:solidFill>
            <a:srgbClr val="0F172A"/>
          </a:solidFill>
          <a:ln/>
        </p:spPr>
      </p:sp>
      <p:sp>
        <p:nvSpPr>
          <p:cNvPr id="37" name="Text 35"/>
          <p:cNvSpPr/>
          <p:nvPr/>
        </p:nvSpPr>
        <p:spPr>
          <a:xfrm>
            <a:off x="4206240" y="4233672"/>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206240"/>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En el convenio: escribir la meta (lo que debe en total), escoger si se fija por número de cuotas o por valor de cuota, y guardar con el cliente presente y su firma.</a:t>
            </a:r>
            <a:endParaRPr lang="en-US" sz="1000" dirty="0"/>
          </a:p>
        </p:txBody>
      </p:sp>
      <p:sp>
        <p:nvSpPr>
          <p:cNvPr id="39" name="Shape 37"/>
          <p:cNvSpPr/>
          <p:nvPr/>
        </p:nvSpPr>
        <p:spPr>
          <a:xfrm>
            <a:off x="4206240" y="4855464"/>
            <a:ext cx="274320" cy="274320"/>
          </a:xfrm>
          <a:prstGeom prst="ellipse">
            <a:avLst/>
          </a:prstGeom>
          <a:solidFill>
            <a:srgbClr val="0F172A"/>
          </a:solidFill>
          <a:ln/>
        </p:spPr>
      </p:sp>
      <p:sp>
        <p:nvSpPr>
          <p:cNvPr id="40" name="Text 38"/>
          <p:cNvSpPr/>
          <p:nvPr/>
        </p:nvSpPr>
        <p:spPr>
          <a:xfrm>
            <a:off x="4206240" y="485546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82803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Verificar en el chip "🤝 Convenio" de la pestaña 🌎 Todos que el cliente ya aparece ahí.</a:t>
            </a:r>
            <a:endParaRPr lang="en-US" sz="1000" dirty="0"/>
          </a:p>
        </p:txBody>
      </p:sp>
      <p:sp>
        <p:nvSpPr>
          <p:cNvPr id="42" name="Shape 40"/>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3" name="Text 41"/>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4" name="Text 42"/>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MARTHA ALVAREZ (RLT68H) debe $202.000 de la semana y trae $100.000. Se registra el abono: la app aplica los $100.000 a la semana más atrasada, el ahorro queda en $0 y el recibo muestra "Le queda pendiente $102.000". Como además arrastra $150.000 de semanas anteriores, se le arma un convenio de $50.000 por semana durante 3 semanas, encima de su cuota normal de $202.000.</a:t>
            </a:r>
            <a:endParaRPr lang="en-US" sz="1150" dirty="0"/>
          </a:p>
        </p:txBody>
      </p:sp>
      <p:sp>
        <p:nvSpPr>
          <p:cNvPr id="45" name="Shape 43"/>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6" name="Text 44"/>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47" name="Text 45"/>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Tres advertencias. (1) El convenio NUNCA reemplaza la cuota de la semana: es plata ADICIONAL. Si se lo explica mal, el cliente cree que pagando el convenio ya cumplió y vuelve a caer en mora.</a:t>
            </a:r>
            <a:endParaRPr lang="en-US" sz="1100" dirty="0"/>
          </a:p>
        </p:txBody>
      </p:sp>
      <p:sp>
        <p:nvSpPr>
          <p:cNvPr id="48" name="Text 46"/>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9" name="Text 47"/>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LA SECRETARIA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llega una persona nueva a pedir moto (registro de cliente nuevo)</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Dejar el cliente creado con su plata inicial registrada, su autorización de datos firmada y sus documentos, para que pueda seguir el camino: visita → aprobación → contrato.</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Clientes</a:t>
            </a:r>
            <a:endParaRPr lang="en-US" sz="900" dirty="0"/>
          </a:p>
        </p:txBody>
      </p:sp>
      <p:sp>
        <p:nvSpPr>
          <p:cNvPr id="8" name="Shape 6"/>
          <p:cNvSpPr/>
          <p:nvPr/>
        </p:nvSpPr>
        <p:spPr>
          <a:xfrm>
            <a:off x="740664" y="2167128"/>
            <a:ext cx="2084832" cy="347472"/>
          </a:xfrm>
          <a:prstGeom prst="roundRect">
            <a:avLst>
              <a:gd name="adj" fmla="val 13158"/>
            </a:avLst>
          </a:prstGeom>
          <a:solidFill>
            <a:srgbClr val="E0F2FE"/>
          </a:solidFill>
          <a:ln w="19050">
            <a:solidFill>
              <a:srgbClr val="0284C7"/>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Nuevo cliente</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0" name="Shape 8"/>
          <p:cNvSpPr/>
          <p:nvPr/>
        </p:nvSpPr>
        <p:spPr>
          <a:xfrm>
            <a:off x="740664" y="2569464"/>
            <a:ext cx="2084832" cy="347472"/>
          </a:xfrm>
          <a:prstGeom prst="roundRect">
            <a:avLst>
              <a:gd name="adj" fmla="val 13158"/>
            </a:avLst>
          </a:prstGeom>
          <a:solidFill>
            <a:srgbClr val="F1F5F9"/>
          </a:solidFill>
          <a:ln w="9525">
            <a:solidFill>
              <a:srgbClr val="E2E8F0"/>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visita</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Pendiente evaluación</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Ver ficha completa</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Clientes</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Tocar 👥 Clientes en el menú → botón "+ Nuevo cliente" (arriba a la derecha en el computador; el botón redondo abajo en el celular).</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Llenar nombre completo, cédula, dirección y teléfono. Estos cuatro son obligatorios: sin ellos no deja guardar.</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Escoger la ruta del contrato: "Diario" (todavía está ahorrando la base de $510.000) o "Tiempo definido" (ya tiene la base y paga semanal/quincenal/mensual).</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 "Ingreso inicial" escribir la plata que la persona está entregando hoy. El mínimo son $100.000; lo ideal son $280.500. El recuadro cambia de color solo para avisarle si está bajo.</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Llenar los datos del acompañante. Si vive en la misma casa del cliente, marcar "Sí" en la pregunta de domicilio: así el sistema no le vuelve a pedir el recibo público, solo la cédula.</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Subir los documentos con los botones 📷 Cámara o 🖼 Galería de cada uno (hoja de vida, cédula, recibo público, antecedentes; la licencia es opcional).</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Bajar hasta "Autorización de tratamiento de datos personales", hacer firmar al cliente en la pantalla y, si el lector de huella está funcionando, tomarle la huella (la huella es opcional, la firma no debería…</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Llega un señor referido por ANDRY BREA. Trae $280.500 y quiere ruta "Diario". Se registra con cédula, dirección y teléfono, se marca que el acompañante vive con él (entonces solo se le pide la cédula de ella), se le hace firmar la autorización y se guarda. Sale el recibo de $280.500 y el cliente queda en estado "En proceso" hasta que le hagan la visita domiciliaria.</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El ingreso inicial que usted teclee aquí es el mismo que después aparece en el contrato como base: si lo escribe mal, el contrato nace mal y toca corregirlo con el admin.</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LA SECRETARIA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Al final de la tarde — cierre de caja</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Cuadrar la plata del día contra lo que hay físicamente en la caja, y cerrar el día grupo por grupo (cada grupo es una bolsa de dinero distinta).</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ANTES de cerrar, volver a Cartera → "⏳ Por confirmar" y dejar ese número en cero: confirme o rechace todo lo que quedó pendiente. Lo que quede pendiente NO entra en el cierre de hoy.</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Entrar a 💰 Caja Diaria. Arriba ve la fecha y los totales del día: Efectivo y Transferencias.</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Mirar el bloque "💵 Cobros en campo — efectivo a recibir por funcionario": ahí ve cuánto le corresponde entregar a cada cobrador y qué falta.</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Contar el efectivo físico de la caja y compararlo con el recuadro "Efectivo" de la pantalla.</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Usar los chips de grupo de arriba (COSTA / PRADERA / RASTREADOR / USADAS) o bajar al cuadro por grupo. Cada grupo se cierra por separado.</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 la tarjeta de cada grupo tocar el botón de cierre (dice, por ejemplo, "Cerrar caja de COSTA — $1.212.000") y confirmar.</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Repetir con cada grupo que tuvo movimiento. Arriba aparece un contador "X de Y grupos cerrados": no se vaya hasta que diga, por ejemplo, "3 de 3 grupos cerrados".</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Miércoles, día fuerte de pagos. COSTA recogió $1.212.000 (6 pagos de $202.000), PRADERA $585.000 y RASTREADOR $390.000. Usted cuenta el efectivo, cuadra, y cierra los tres por aparte. El contador de arriba pasa a "3 de 3 grupos cerrados".</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No mezcle los grupos ni cierre "todo junto": COSTA, PRADERA, RASTREADOR y USADAS son bolsas de plata de dueños distintos y cada una se le reporta a su socio por aparte.</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LA SECRETARIA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Antes de irse (revisión de 5 minutos)</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Asegurarse de que nada quedó a medias y que mañana no arranca con problemas heredados de hoy.</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F1F5F9"/>
          </a:solidFill>
          <a:ln w="9525">
            <a:solidFill>
              <a:srgbClr val="E2E8F0"/>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E0F2FE"/>
          </a:solidFill>
          <a:ln w="19050">
            <a:solidFill>
              <a:srgbClr val="0284C7"/>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Entrar a 🧾 Historial Pagos.</a:t>
            </a:r>
            <a:endParaRPr lang="en-US" sz="1000" dirty="0"/>
          </a:p>
        </p:txBody>
      </p:sp>
      <p:sp>
        <p:nvSpPr>
          <p:cNvPr id="27" name="Shape 25"/>
          <p:cNvSpPr/>
          <p:nvPr/>
        </p:nvSpPr>
        <p:spPr>
          <a:xfrm>
            <a:off x="4206240" y="2368296"/>
            <a:ext cx="274320" cy="274320"/>
          </a:xfrm>
          <a:prstGeom prst="ellipse">
            <a:avLst/>
          </a:prstGeom>
          <a:solidFill>
            <a:srgbClr val="0F172A"/>
          </a:solidFill>
          <a:ln/>
        </p:spPr>
      </p:sp>
      <p:sp>
        <p:nvSpPr>
          <p:cNvPr id="28" name="Text 26"/>
          <p:cNvSpPr/>
          <p:nvPr/>
        </p:nvSpPr>
        <p:spPr>
          <a:xfrm>
            <a:off x="4206240" y="2368296"/>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40864"/>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Tocar el atajo de rango "Hoy".</a:t>
            </a:r>
            <a:endParaRPr lang="en-US" sz="1000" dirty="0"/>
          </a:p>
        </p:txBody>
      </p:sp>
      <p:sp>
        <p:nvSpPr>
          <p:cNvPr id="30" name="Shape 28"/>
          <p:cNvSpPr/>
          <p:nvPr/>
        </p:nvSpPr>
        <p:spPr>
          <a:xfrm>
            <a:off x="4206240" y="2990088"/>
            <a:ext cx="274320" cy="274320"/>
          </a:xfrm>
          <a:prstGeom prst="ellipse">
            <a:avLst/>
          </a:prstGeom>
          <a:solidFill>
            <a:srgbClr val="0F172A"/>
          </a:solidFill>
          <a:ln/>
        </p:spPr>
      </p:sp>
      <p:sp>
        <p:nvSpPr>
          <p:cNvPr id="31" name="Text 29"/>
          <p:cNvSpPr/>
          <p:nvPr/>
        </p:nvSpPr>
        <p:spPr>
          <a:xfrm>
            <a:off x="4206240" y="299008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62656"/>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Mirar los cuatro recuadros de arriba: Total confirmado · Efectivo · Transferencias · Pendiente.</a:t>
            </a:r>
            <a:endParaRPr lang="en-US" sz="1000" dirty="0"/>
          </a:p>
        </p:txBody>
      </p:sp>
      <p:sp>
        <p:nvSpPr>
          <p:cNvPr id="33" name="Shape 31"/>
          <p:cNvSpPr/>
          <p:nvPr/>
        </p:nvSpPr>
        <p:spPr>
          <a:xfrm>
            <a:off x="4206240" y="3611880"/>
            <a:ext cx="274320" cy="274320"/>
          </a:xfrm>
          <a:prstGeom prst="ellipse">
            <a:avLst/>
          </a:prstGeom>
          <a:solidFill>
            <a:srgbClr val="0F172A"/>
          </a:solidFill>
          <a:ln/>
        </p:spPr>
      </p:sp>
      <p:sp>
        <p:nvSpPr>
          <p:cNvPr id="34" name="Text 32"/>
          <p:cNvSpPr/>
          <p:nvPr/>
        </p:nvSpPr>
        <p:spPr>
          <a:xfrm>
            <a:off x="4206240" y="361188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84448"/>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Verificar que el recuadro "Pendiente" esté en $0. Si no, es plata sin confirmar: vuelva a Cartera → "⏳ Por confirmar" y resuélvala.</a:t>
            </a:r>
            <a:endParaRPr lang="en-US" sz="1000" dirty="0"/>
          </a:p>
        </p:txBody>
      </p:sp>
      <p:sp>
        <p:nvSpPr>
          <p:cNvPr id="36" name="Shape 34"/>
          <p:cNvSpPr/>
          <p:nvPr/>
        </p:nvSpPr>
        <p:spPr>
          <a:xfrm>
            <a:off x="4206240" y="4233672"/>
            <a:ext cx="274320" cy="274320"/>
          </a:xfrm>
          <a:prstGeom prst="ellipse">
            <a:avLst/>
          </a:prstGeom>
          <a:solidFill>
            <a:srgbClr val="0F172A"/>
          </a:solidFill>
          <a:ln/>
        </p:spPr>
      </p:sp>
      <p:sp>
        <p:nvSpPr>
          <p:cNvPr id="37" name="Text 35"/>
          <p:cNvSpPr/>
          <p:nvPr/>
        </p:nvSpPr>
        <p:spPr>
          <a:xfrm>
            <a:off x="4206240" y="4233672"/>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206240"/>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Revisar rápido la lista por si algún pago tiene un valor raro (un $2.020.000 en vez de $202.000, por ejemplo — un cero de más al teclear).</a:t>
            </a:r>
            <a:endParaRPr lang="en-US" sz="1000" dirty="0"/>
          </a:p>
        </p:txBody>
      </p:sp>
      <p:sp>
        <p:nvSpPr>
          <p:cNvPr id="39" name="Shape 37"/>
          <p:cNvSpPr/>
          <p:nvPr/>
        </p:nvSpPr>
        <p:spPr>
          <a:xfrm>
            <a:off x="4206240" y="4855464"/>
            <a:ext cx="274320" cy="274320"/>
          </a:xfrm>
          <a:prstGeom prst="ellipse">
            <a:avLst/>
          </a:prstGeom>
          <a:solidFill>
            <a:srgbClr val="0F172A"/>
          </a:solidFill>
          <a:ln/>
        </p:spPr>
      </p:sp>
      <p:sp>
        <p:nvSpPr>
          <p:cNvPr id="40" name="Text 38"/>
          <p:cNvSpPr/>
          <p:nvPr/>
        </p:nvSpPr>
        <p:spPr>
          <a:xfrm>
            <a:off x="4206240" y="485546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82803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Si encuentra un pago mal registrado, NO lo intente arreglar usted: tome nota del nombre, la placa, el valor y la hora, y avísele a FREDY (borrar pagos es exclusivo de él y queda con rastro).</a:t>
            </a:r>
            <a:endParaRPr lang="en-US" sz="1000" dirty="0"/>
          </a:p>
        </p:txBody>
      </p:sp>
      <p:sp>
        <p:nvSpPr>
          <p:cNvPr id="42" name="Shape 40"/>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3" name="Text 41"/>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4" name="Text 42"/>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Al final del miércoles el resumen muestra: Total confirmado $2.187.000 · Efectivo (9) $1.815.000 · Transferencias (2) $372.000 · Pendiente (0) $0. Todo cuadra con lo que se cerró en Caja Diaria y se puede cerrar la oficina tranquila.</a:t>
            </a:r>
            <a:endParaRPr lang="en-US" sz="1150" dirty="0"/>
          </a:p>
        </p:txBody>
      </p:sp>
      <p:sp>
        <p:nvSpPr>
          <p:cNvPr id="45" name="Shape 43"/>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6" name="Text 44"/>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47" name="Text 45"/>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Si deja el "Pendiente" en rojo al irse, mañana amanecen clientes marcados en mora habiendo pagado, y el cobrador sale a perseguirlos. Cinco minutos hoy le evitan una hora de reclamos mañana.</a:t>
            </a:r>
            <a:endParaRPr lang="en-US" sz="1100" dirty="0"/>
          </a:p>
        </p:txBody>
      </p:sp>
      <p:sp>
        <p:nvSpPr>
          <p:cNvPr id="48" name="Text 46"/>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9" name="Text 47"/>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FD100"/>
          </a:solidFill>
          <a:ln/>
        </p:spPr>
      </p:sp>
      <p:sp>
        <p:nvSpPr>
          <p:cNvPr id="3" name="Text 1"/>
          <p:cNvSpPr/>
          <p:nvPr/>
        </p:nvSpPr>
        <p:spPr>
          <a:xfrm>
            <a:off x="914400" y="2468880"/>
            <a:ext cx="10058400" cy="310896"/>
          </a:xfrm>
          <a:prstGeom prst="rect">
            <a:avLst/>
          </a:prstGeom>
          <a:noFill/>
          <a:ln/>
        </p:spPr>
        <p:txBody>
          <a:bodyPr wrap="square" lIns="0" tIns="0" rIns="0" bIns="0" rtlCol="0" anchor="ctr"/>
          <a:lstStyle/>
          <a:p>
            <a:pPr indent="0" marL="0">
              <a:buNone/>
            </a:pPr>
            <a:r>
              <a:rPr lang="en-US" sz="1300" b="1" spc="250" kern="0" dirty="0">
                <a:solidFill>
                  <a:srgbClr val="38BDF8"/>
                </a:solidFill>
                <a:latin typeface="Calibri" pitchFamily="34" charset="0"/>
                <a:ea typeface="Calibri" pitchFamily="34" charset="-122"/>
                <a:cs typeface="Calibri" pitchFamily="34" charset="-120"/>
              </a:rPr>
              <a:t>EL DÍA A DÍA</a:t>
            </a:r>
            <a:endParaRPr lang="en-US" sz="1300" dirty="0"/>
          </a:p>
        </p:txBody>
      </p:sp>
      <p:sp>
        <p:nvSpPr>
          <p:cNvPr id="4" name="Text 2"/>
          <p:cNvSpPr/>
          <p:nvPr/>
        </p:nvSpPr>
        <p:spPr>
          <a:xfrm>
            <a:off x="914400" y="278892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El cobrador en la calle</a:t>
            </a:r>
            <a:endParaRPr lang="en-US" sz="4000" dirty="0"/>
          </a:p>
        </p:txBody>
      </p:sp>
      <p:sp>
        <p:nvSpPr>
          <p:cNvPr id="5" name="Text 3"/>
          <p:cNvSpPr/>
          <p:nvPr/>
        </p:nvSpPr>
        <p:spPr>
          <a:xfrm>
            <a:off x="914400" y="3657600"/>
            <a:ext cx="9509760" cy="822960"/>
          </a:xfrm>
          <a:prstGeom prst="rect">
            <a:avLst/>
          </a:prstGeom>
          <a:noFill/>
          <a:ln/>
        </p:spPr>
        <p:txBody>
          <a:bodyPr wrap="square" lIns="0" tIns="0" rIns="0" bIns="0" rtlCol="0" anchor="ctr"/>
          <a:lstStyle/>
          <a:p>
            <a:pPr indent="0" marL="0">
              <a:lnSpc>
                <a:spcPct val="110000"/>
              </a:lnSpc>
              <a:buNone/>
            </a:pPr>
            <a:r>
              <a:rPr lang="en-US" sz="1450" dirty="0">
                <a:solidFill>
                  <a:srgbClr val="CBD5E1"/>
                </a:solidFill>
                <a:latin typeface="Calibri" pitchFamily="34" charset="0"/>
                <a:ea typeface="Calibri" pitchFamily="34" charset="-122"/>
                <a:cs typeface="Calibri" pitchFamily="34" charset="-120"/>
              </a:rPr>
              <a:t>Esta sección es para el cobrador de calle (rol SUBADMIN, como EMIRO): le dice qué abrir apenas llega, a quién cobrarle hoy, cómo registrar la plata que recoge en la calle, qué hacer con el que no paga y cómo entregar el efectivo sin que le quede faltando nada. El cobrador solo ve las motos que le asignaron — si una placa no le aparece, es porque no es suya, no porque el sistema esté malo.</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COBRADOR EN LA CALLE</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Al llegar en la mañana — ver a quién hay que cobrarle hoy</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Saber en 30 segundos, sin llamar a nadie ni revisar cuadernos, cuáles de SUS motos deben plata hoy y en qué orden atacarlas.</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Abre la app y entra con tu usuario (ej. EMIRO).</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Toca abajo el ícono 💳 Cartera (en computador: menú izquierdo → OPERACIONES → Cartera &amp; Cobros).</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Como eres cobrador, la app te abre SOLA en la pestaña "📋 Para hacer hoy". Si tocaste otra pestaña, vuelve tocando "📋 Para hacer hoy" (el número al lado es cuántas tareas tienes).</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Mira los chips de arriba y trabájalos de izquierda a derecha, que ya están en orden de urgencia: "🚚 Recolec." → "🔴 Mora" → "🟡 Gabela" → "🔵 Pagan hoy". El chip "Todos" te los junta.</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 cada tarjeta lees de un vistazo: NOMBRE del cliente, la placa amarilla, si dice "3d sin pagar" o "Paga Miércoles", el estado (Mora/Gabela/Al día) y abajo grande el "Debe pagar $ …".</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Si buscas a alguien puntual, escribe el nombre o la placa en la casilla "Buscar cliente o placa..." (no tienes que bajar toda la lista).</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Anota tu ruta del día en el orden que te queda mejor por barrio, pero SIN saltarte los de "🚚 Recolec." y "🔴 Mora": esos son los que le están costando plata a la empresa.</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EMIRO abre Cartera y ve "📋 Para hacer hoy (9)". En "🔴 Mora" le aparece ANDRY BREA — RLZ93H — "2d sin pagar" — Debe pagar $ 222.000 (cuota $202.000 + deuda $20.000). En "🔵 Pagan hoy" le aparece MARTHA ALVAREZ — RLT68H — Debe pagar $ 195.000 (ella es de la tarifa vieja: $26.000 de tarifa + $4.000 de ahorro = $30.000 por día de lunes a sábado).</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Error común: quedarse trabajando en la pestaña "🌎 Todos" porque es la que muestra más gente. Ahí están TODOS sus contratos mezclados (incluidos los que están al día y no hay que molestar) y NO salen los botones de tarea.</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COBRADOR EN LA CALLE</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el cliente le paga en la calle (cobro en campo)</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Que la plata que recibe en la mano quede registrada al instante, con la prueba de dónde y a quién se la recibió, y que el cliente se vaya con su comprobante.</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 la tarjeta del cliente toca el botón verde "💵 Cobrar". (Si estás parado en la calle y no lo tienes en la lista, toca el botón redondo "+" y busca el cliente por nombre o placa.)</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Apenas abre la ventana, el celular pide permiso de ubicación: dale PERMITIR. Al lado de "📍 Ubicación:" debe quedar "✓ Capturada". Si dice "No disponible", toca "Capturar GPS" otra vez.</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Antes de recibir la plata, mírale al cliente el recuadro azul "Debe pagar (referencia)": ahí está el total y el desglose (cuota del período, deuda, convenio). Cóbrale sobre esa cifra.</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Escribe en "Monto recuperado" lo que el cliente TE ENTREGÓ de verdad — no lo que debía. Si te dio menos, escribe lo que te dio.</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Si quieres respaldo, toca "📷 Cámara" y tómale foto al billete/al cliente recibiendo. Es opcional pero recomendado cuando el monto es alto o el cliente es problemático.</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 "Nota (opcional)" escribe algo útil para después: "abonó, dice que completa el viernes".</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Toca "Registrar cobro en campo". Sale una ventana de confirmación con el nombre, la placa y el monto: revísala y toca Confirmar.</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EMIRO llega donde ANDRY BREA (RLZ93H). La ventana le muestra "Debe pagar (referencia) $ 222.000 — Cuota período: $202.000 · Deuda: $20.000". ANDRY solo le da $150.000. EMIRO escribe 150.000, verifica "✓ Capturada" en ubicación, le toma foto, pone la nota "abona $150.000, completa el miércoles" y registra.</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Tres errores que cuestan plata: (1) escribir el monto que DEBÍA en vez del que recibió — la caja no le va a cuadrar a ANGELA y el descuadre queda a nombre de EMIRO; (2) registrar el cobro sin ubicación ("No disponible") — sin GPS no hay prueba de que fue a cobrar, y esa es la…</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COBRADOR EN LA CALLE</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el cliente no paga — primer y segundo intento (mensaje y llamada)</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Dejar constancia de que sí se le persiguió, en orden, para poder escalar después. El sistema NO deja recolectar una moto si antes no quedaron registrados los intentos.</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Ubica al cliente en el chip "🟡 Gabela" (día siguiente al de pago) o "🔴 Mora" (de ahí en adelante).</a:t>
            </a:r>
            <a:endParaRPr lang="en-US" sz="1000" dirty="0"/>
          </a:p>
        </p:txBody>
      </p:sp>
      <p:sp>
        <p:nvSpPr>
          <p:cNvPr id="27" name="Shape 25"/>
          <p:cNvSpPr/>
          <p:nvPr/>
        </p:nvSpPr>
        <p:spPr>
          <a:xfrm>
            <a:off x="4206240" y="2368296"/>
            <a:ext cx="274320" cy="274320"/>
          </a:xfrm>
          <a:prstGeom prst="ellipse">
            <a:avLst/>
          </a:prstGeom>
          <a:solidFill>
            <a:srgbClr val="0F172A"/>
          </a:solidFill>
          <a:ln/>
        </p:spPr>
      </p:sp>
      <p:sp>
        <p:nvSpPr>
          <p:cNvPr id="28" name="Text 26"/>
          <p:cNvSpPr/>
          <p:nvPr/>
        </p:nvSpPr>
        <p:spPr>
          <a:xfrm>
            <a:off x="4206240" y="2368296"/>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40864"/>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Toca "Mensaje": se abre WhatsApp con el texto ya escrito según su estado (día de pago / gabela / mora), con su nombre, su placa y lo que debe. Dale enviar.</a:t>
            </a:r>
            <a:endParaRPr lang="en-US" sz="1000" dirty="0"/>
          </a:p>
        </p:txBody>
      </p:sp>
      <p:sp>
        <p:nvSpPr>
          <p:cNvPr id="30" name="Shape 28"/>
          <p:cNvSpPr/>
          <p:nvPr/>
        </p:nvSpPr>
        <p:spPr>
          <a:xfrm>
            <a:off x="4206240" y="2990088"/>
            <a:ext cx="274320" cy="274320"/>
          </a:xfrm>
          <a:prstGeom prst="ellipse">
            <a:avLst/>
          </a:prstGeom>
          <a:solidFill>
            <a:srgbClr val="0F172A"/>
          </a:solidFill>
          <a:ln/>
        </p:spPr>
      </p:sp>
      <p:sp>
        <p:nvSpPr>
          <p:cNvPr id="31" name="Text 29"/>
          <p:cNvSpPr/>
          <p:nvPr/>
        </p:nvSpPr>
        <p:spPr>
          <a:xfrm>
            <a:off x="4206240" y="299008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62656"/>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Si no contesta, toca "Llamar": el celular marca solo el número del cliente y la llamada queda registrada como gestión.</a:t>
            </a:r>
            <a:endParaRPr lang="en-US" sz="1000" dirty="0"/>
          </a:p>
        </p:txBody>
      </p:sp>
      <p:sp>
        <p:nvSpPr>
          <p:cNvPr id="33" name="Shape 31"/>
          <p:cNvSpPr/>
          <p:nvPr/>
        </p:nvSpPr>
        <p:spPr>
          <a:xfrm>
            <a:off x="4206240" y="3611880"/>
            <a:ext cx="274320" cy="274320"/>
          </a:xfrm>
          <a:prstGeom prst="ellipse">
            <a:avLst/>
          </a:prstGeom>
          <a:solidFill>
            <a:srgbClr val="0F172A"/>
          </a:solidFill>
          <a:ln/>
        </p:spPr>
      </p:sp>
      <p:sp>
        <p:nvSpPr>
          <p:cNvPr id="34" name="Text 32"/>
          <p:cNvSpPr/>
          <p:nvPr/>
        </p:nvSpPr>
        <p:spPr>
          <a:xfrm>
            <a:off x="4206240" y="361188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84448"/>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Si tampoco contesta, toca "Sirena" (queda el registro de que se activó, 3 segundos y solo con la moto detenida).</a:t>
            </a:r>
            <a:endParaRPr lang="en-US" sz="1000" dirty="0"/>
          </a:p>
        </p:txBody>
      </p:sp>
      <p:sp>
        <p:nvSpPr>
          <p:cNvPr id="36" name="Shape 34"/>
          <p:cNvSpPr/>
          <p:nvPr/>
        </p:nvSpPr>
        <p:spPr>
          <a:xfrm>
            <a:off x="4206240" y="4233672"/>
            <a:ext cx="274320" cy="274320"/>
          </a:xfrm>
          <a:prstGeom prst="ellipse">
            <a:avLst/>
          </a:prstGeom>
          <a:solidFill>
            <a:srgbClr val="0F172A"/>
          </a:solidFill>
          <a:ln/>
        </p:spPr>
      </p:sp>
      <p:sp>
        <p:nvSpPr>
          <p:cNvPr id="37" name="Text 35"/>
          <p:cNvSpPr/>
          <p:nvPr/>
        </p:nvSpPr>
        <p:spPr>
          <a:xfrm>
            <a:off x="4206240" y="4233672"/>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206240"/>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Los tres pasos se pueden hacer el MISMO día si el cliente no da la cara — no hay que esperar un día entre uno y otro.</a:t>
            </a:r>
            <a:endParaRPr lang="en-US" sz="1000" dirty="0"/>
          </a:p>
        </p:txBody>
      </p:sp>
      <p:sp>
        <p:nvSpPr>
          <p:cNvPr id="39" name="Shape 37"/>
          <p:cNvSpPr/>
          <p:nvPr/>
        </p:nvSpPr>
        <p:spPr>
          <a:xfrm>
            <a:off x="4206240" y="4855464"/>
            <a:ext cx="274320" cy="274320"/>
          </a:xfrm>
          <a:prstGeom prst="ellipse">
            <a:avLst/>
          </a:prstGeom>
          <a:solidFill>
            <a:srgbClr val="0F172A"/>
          </a:solidFill>
          <a:ln/>
        </p:spPr>
      </p:sp>
      <p:sp>
        <p:nvSpPr>
          <p:cNvPr id="40" name="Text 38"/>
          <p:cNvSpPr/>
          <p:nvPr/>
        </p:nvSpPr>
        <p:spPr>
          <a:xfrm>
            <a:off x="4206240" y="485546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82803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Si el cliente sí contesta y te da una razón o una promesa, no te quedes solo con el WhatsApp: registra la gestión completa (bloque siguiente).</a:t>
            </a:r>
            <a:endParaRPr lang="en-US" sz="1000" dirty="0"/>
          </a:p>
        </p:txBody>
      </p:sp>
      <p:sp>
        <p:nvSpPr>
          <p:cNvPr id="42" name="Shape 40"/>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3" name="Text 41"/>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4" name="Text 42"/>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ALEJANDRO NIETO tiene un día de gabela y no ha pagado sus $202.000. EMIRO toca "Mensaje" a las 8 a.m. (queda ✓), no responde; a las 11 a.m. toca "Llamar" (no contesta); a las 3 p.m. toca "Sirena". A las 3 p.m. ya tiene los tres pasos hechos el mismo día, y el botón "🔒 Recolección" se le desbloquea.</a:t>
            </a:r>
            <a:endParaRPr lang="en-US" sz="1150" dirty="0"/>
          </a:p>
        </p:txBody>
      </p:sp>
      <p:sp>
        <p:nvSpPr>
          <p:cNvPr id="45" name="Shape 43"/>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6" name="Text 44"/>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47" name="Text 45"/>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Error común: mandar el mensaje por WhatsApp desde el chat propio del celular, por fuera de la app. Se ve igual para el cliente, pero para el sistema ESE mensaje no existe: el botón de Recolección se queda con el candado "🔒" y al tocarlo el sistema le dice "Antes de recolectar…</a:t>
            </a:r>
            <a:endParaRPr lang="en-US" sz="1100" dirty="0"/>
          </a:p>
        </p:txBody>
      </p:sp>
      <p:sp>
        <p:nvSpPr>
          <p:cNvPr id="48" name="Text 46"/>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9" name="Text 47"/>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COBRADOR EN LA CALLE</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el cliente pide chance — plazo extra o promesa de pago</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Que el compromiso quede en el sistema con fecha, para que la app se lo recuerde sola y no dependa de la memoria del cobrador ni de un papelito.</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Inmovilizaciones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Retenidas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En mora</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Cobrar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Entregar moto</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Inmovilizaciones</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Entra al módulo Inmovilizaciones (menú ☰ Más → SEGUIMIENTO → Inmovilizaciones) y quédate en la pestaña "🔴 En mora".</a:t>
            </a:r>
            <a:endParaRPr lang="en-US" sz="1000" dirty="0"/>
          </a:p>
        </p:txBody>
      </p:sp>
      <p:sp>
        <p:nvSpPr>
          <p:cNvPr id="27" name="Shape 25"/>
          <p:cNvSpPr/>
          <p:nvPr/>
        </p:nvSpPr>
        <p:spPr>
          <a:xfrm>
            <a:off x="4206240" y="2368296"/>
            <a:ext cx="274320" cy="274320"/>
          </a:xfrm>
          <a:prstGeom prst="ellipse">
            <a:avLst/>
          </a:prstGeom>
          <a:solidFill>
            <a:srgbClr val="0F172A"/>
          </a:solidFill>
          <a:ln/>
        </p:spPr>
      </p:sp>
      <p:sp>
        <p:nvSpPr>
          <p:cNvPr id="28" name="Text 26"/>
          <p:cNvSpPr/>
          <p:nvPr/>
        </p:nvSpPr>
        <p:spPr>
          <a:xfrm>
            <a:off x="4206240" y="2368296"/>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40864"/>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Busca al cliente y toca "📋 Gestión".</a:t>
            </a:r>
            <a:endParaRPr lang="en-US" sz="1000" dirty="0"/>
          </a:p>
        </p:txBody>
      </p:sp>
      <p:sp>
        <p:nvSpPr>
          <p:cNvPr id="30" name="Shape 28"/>
          <p:cNvSpPr/>
          <p:nvPr/>
        </p:nvSpPr>
        <p:spPr>
          <a:xfrm>
            <a:off x="4206240" y="2990088"/>
            <a:ext cx="274320" cy="274320"/>
          </a:xfrm>
          <a:prstGeom prst="ellipse">
            <a:avLst/>
          </a:prstGeom>
          <a:solidFill>
            <a:srgbClr val="0F172A"/>
          </a:solidFill>
          <a:ln/>
        </p:spPr>
      </p:sp>
      <p:sp>
        <p:nvSpPr>
          <p:cNvPr id="31" name="Text 29"/>
          <p:cNvSpPr/>
          <p:nvPr/>
        </p:nvSpPr>
        <p:spPr>
          <a:xfrm>
            <a:off x="4206240" y="299008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62656"/>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Si le vas a dar chance formal: en "Tipo" elige "⏳ Plazo extra", escribe 1 o 2 días (el máximo son 2) y escribe el MOTIVO — es obligatorio, sin motivo no guarda.</a:t>
            </a:r>
            <a:endParaRPr lang="en-US" sz="1000" dirty="0"/>
          </a:p>
        </p:txBody>
      </p:sp>
      <p:sp>
        <p:nvSpPr>
          <p:cNvPr id="33" name="Shape 31"/>
          <p:cNvSpPr/>
          <p:nvPr/>
        </p:nvSpPr>
        <p:spPr>
          <a:xfrm>
            <a:off x="4206240" y="3611880"/>
            <a:ext cx="274320" cy="274320"/>
          </a:xfrm>
          <a:prstGeom prst="ellipse">
            <a:avLst/>
          </a:prstGeom>
          <a:solidFill>
            <a:srgbClr val="0F172A"/>
          </a:solidFill>
          <a:ln/>
        </p:spPr>
      </p:sp>
      <p:sp>
        <p:nvSpPr>
          <p:cNvPr id="34" name="Text 32"/>
          <p:cNvSpPr/>
          <p:nvPr/>
        </p:nvSpPr>
        <p:spPr>
          <a:xfrm>
            <a:off x="4206240" y="361188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84448"/>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Si el cliente solo prometió pagar: deja el tipo que corresponda (📞 Llamada o 💬 Mensaje WhatsApp) y en "Resultado" elige "Promesa de pago"; el sistema te va a exigir la FECHA en que prometió pagar. Ponla exacta.</a:t>
            </a:r>
            <a:endParaRPr lang="en-US" sz="1000" dirty="0"/>
          </a:p>
        </p:txBody>
      </p:sp>
      <p:sp>
        <p:nvSpPr>
          <p:cNvPr id="36" name="Shape 34"/>
          <p:cNvSpPr/>
          <p:nvPr/>
        </p:nvSpPr>
        <p:spPr>
          <a:xfrm>
            <a:off x="4206240" y="4233672"/>
            <a:ext cx="274320" cy="274320"/>
          </a:xfrm>
          <a:prstGeom prst="ellipse">
            <a:avLst/>
          </a:prstGeom>
          <a:solidFill>
            <a:srgbClr val="0F172A"/>
          </a:solidFill>
          <a:ln/>
        </p:spPr>
      </p:sp>
      <p:sp>
        <p:nvSpPr>
          <p:cNvPr id="37" name="Text 35"/>
          <p:cNvSpPr/>
          <p:nvPr/>
        </p:nvSpPr>
        <p:spPr>
          <a:xfrm>
            <a:off x="4206240" y="4233672"/>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206240"/>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Guarda. Con el plazo extra el cliente sale del grupo "🚚 Recolec." mientras el plazo esté vigente — no se le puede recolectar la moto en ese margen.</a:t>
            </a:r>
            <a:endParaRPr lang="en-US" sz="1000" dirty="0"/>
          </a:p>
        </p:txBody>
      </p:sp>
      <p:sp>
        <p:nvSpPr>
          <p:cNvPr id="39" name="Shape 37"/>
          <p:cNvSpPr/>
          <p:nvPr/>
        </p:nvSpPr>
        <p:spPr>
          <a:xfrm>
            <a:off x="4206240" y="4855464"/>
            <a:ext cx="274320" cy="274320"/>
          </a:xfrm>
          <a:prstGeom prst="ellipse">
            <a:avLst/>
          </a:prstGeom>
          <a:solidFill>
            <a:srgbClr val="0F172A"/>
          </a:solidFill>
          <a:ln/>
        </p:spPr>
      </p:sp>
      <p:sp>
        <p:nvSpPr>
          <p:cNvPr id="40" name="Text 38"/>
          <p:cNvSpPr/>
          <p:nvPr/>
        </p:nvSpPr>
        <p:spPr>
          <a:xfrm>
            <a:off x="4206240" y="485546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82803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Al vencerse el plazo o la fecha prometida sin pago, el cliente vuelve solo a la cola y además te sale una alerta en la campana 🔔: "Plazo extra vencido" o "Promesa de pago vencida".</a:t>
            </a:r>
            <a:endParaRPr lang="en-US" sz="1000" dirty="0"/>
          </a:p>
        </p:txBody>
      </p:sp>
      <p:sp>
        <p:nvSpPr>
          <p:cNvPr id="42" name="Shape 40"/>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3" name="Text 41"/>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4" name="Text 42"/>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ALEJANDRO NIETO le dice a EMIRO el lunes: "págame el miércoles que me pagan el flete". EMIRO entra a Inmovilizaciones → En mora → 📋 Gestión → Tipo "📞 Llamada telefónica", Resultado "Promesa de pago", fecha 27/07. El miércoles 27, si ALEJANDRO no pagó, a EMIRO le suena la campana: "Promesa de pago vencida — ALEJANDRO NIETO: prometió pagar el 27/07".</a:t>
            </a:r>
            <a:endParaRPr lang="en-US" sz="1150" dirty="0"/>
          </a:p>
        </p:txBody>
      </p:sp>
      <p:sp>
        <p:nvSpPr>
          <p:cNvPr id="45" name="Shape 43"/>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6" name="Text 44"/>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47" name="Text 45"/>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Error grave: dar el chance de palabra y no registrarlo. Pasan dos cosas malas: (1) otro compañero o el sistema lo mete a Recolección y le recogen la moto a un cliente al que ya le habían dado plazo (queda mal la empresa); (2) si el cliente incumple, no hay nada escrito que lo…</a:t>
            </a:r>
            <a:endParaRPr lang="en-US" sz="1100" dirty="0"/>
          </a:p>
        </p:txBody>
      </p:sp>
      <p:sp>
        <p:nvSpPr>
          <p:cNvPr id="48" name="Text 46"/>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9" name="Text 47"/>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COBRADOR EN LA CALLE</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ya no hay con quién — recoger la moto (recolección)</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Retirar la moto con toda la evidencia fotográfica y que el sistema haga solo lo demás: suspender el contrato, marcar la moto como Recuperada y cargar la multa de $20.000.</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El cliente aparece en "🚚 Recolec." cuando lleva más de 3 días de mora real y no tiene plazo vigente. Verifica que el botón "Recolección" NO tenga el candado 🔒 (si lo tiene, faltan mensaje/llamada/sirena — ver…</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Toca "Recolección". Se abre la ventana del acta.</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Elige el destino de la moto: "🏬 Bodega", "🏢 Oficina" o "🔧 Directo a taller (necesita ajuste)".</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Toma las 6 fotos que pide, una por una y en el ángulo que muestra el dibujito: delantera, lateral izquierdo, desde arriba, lateral derecho, trasera (con la placa legible) y la foto de la PERSONA al lado de la moto…</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Escribe el kilometraje, marca la condición general y describe los daños si los hay.</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Guarda. En un solo paso el sistema: registra el acta de recepción, suspende el contrato, pone la moto en "Recuperada" y le carga automáticamente la multa de $20.000 por recolección.</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La moto queda en Inmovilizaciones → pestaña "🔒 Retenidas", con el reloj de 7 días corriendo.</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ANDRY BREA (RLZ93H) lleva 5 días sin pagar y ya tiene mensaje, llamada y sirena registrados. EMIRO recoge la moto, destino "🏬 Bodega", toma las 6 fotos, kilometraje 34.500, condición buena, daños "espejo derecho rayado". Al guardar, el contrato de ANDRY queda Suspendido, RLZ93H queda "Recuperada" y a ANDRY le queda una deuda nueva de $20.000 encima de lo que ya debía.</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Errores caros: (1) recoger la moto y "registrarla después" — mientras no se registre, el contrato sigue Activo, la cartera le sigue cobrando y el reloj de los 7 días para poder liquidar NUNCA arranca; (2) subir 4 o 5 fotos y saltarse la de la persona — esa foto es la prueba…</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COBRADOR EN LA CALLE</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Al terminar la ruta — entregar el efectivo a la secretaria</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Que la plata recogida en la calle pase formalmente a manos de ANGELA y quede el doble control: el cobrador declara que la entregó, la secretaria confirma que la recibió.</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F1F5F9"/>
          </a:solidFill>
          <a:ln w="9525">
            <a:solidFill>
              <a:srgbClr val="E2E8F0"/>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p:txBody>
      </p:sp>
      <p:sp>
        <p:nvSpPr>
          <p:cNvPr id="12" name="Shape 10"/>
          <p:cNvSpPr/>
          <p:nvPr/>
        </p:nvSpPr>
        <p:spPr>
          <a:xfrm>
            <a:off x="740664" y="2971800"/>
            <a:ext cx="2084832" cy="347472"/>
          </a:xfrm>
          <a:prstGeom prst="roundRect">
            <a:avLst>
              <a:gd name="adj" fmla="val 13158"/>
            </a:avLst>
          </a:prstGeom>
          <a:solidFill>
            <a:srgbClr val="E0F2FE"/>
          </a:solidFill>
          <a:ln w="19050">
            <a:solidFill>
              <a:srgbClr val="0284C7"/>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Antes de salir de la ruta, vuelve a "📋 Para hacer hoy" y mira el recuadro verde de arriba: "💵 Recogiste hoy: $X en N cobro(s)" y debajo, en amarillo, "Pendiente entregar a caja: $Y".</a:t>
            </a:r>
            <a:endParaRPr lang="en-US" sz="1000" dirty="0"/>
          </a:p>
        </p:txBody>
      </p:sp>
      <p:sp>
        <p:nvSpPr>
          <p:cNvPr id="27" name="Shape 25"/>
          <p:cNvSpPr/>
          <p:nvPr/>
        </p:nvSpPr>
        <p:spPr>
          <a:xfrm>
            <a:off x="4206240" y="2368296"/>
            <a:ext cx="274320" cy="274320"/>
          </a:xfrm>
          <a:prstGeom prst="ellipse">
            <a:avLst/>
          </a:prstGeom>
          <a:solidFill>
            <a:srgbClr val="0F172A"/>
          </a:solidFill>
          <a:ln/>
        </p:spPr>
      </p:sp>
      <p:sp>
        <p:nvSpPr>
          <p:cNvPr id="28" name="Text 26"/>
          <p:cNvSpPr/>
          <p:nvPr/>
        </p:nvSpPr>
        <p:spPr>
          <a:xfrm>
            <a:off x="4206240" y="2368296"/>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40864"/>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Cuenta el efectivo físico y compáralo con ese número. Si no cuadra, revisa el bloque "Efectivo de campo por confirmar" pago por pago ANTES de entregar.</a:t>
            </a:r>
            <a:endParaRPr lang="en-US" sz="1000" dirty="0"/>
          </a:p>
        </p:txBody>
      </p:sp>
      <p:sp>
        <p:nvSpPr>
          <p:cNvPr id="30" name="Shape 28"/>
          <p:cNvSpPr/>
          <p:nvPr/>
        </p:nvSpPr>
        <p:spPr>
          <a:xfrm>
            <a:off x="4206240" y="2990088"/>
            <a:ext cx="274320" cy="274320"/>
          </a:xfrm>
          <a:prstGeom prst="ellipse">
            <a:avLst/>
          </a:prstGeom>
          <a:solidFill>
            <a:srgbClr val="0F172A"/>
          </a:solidFill>
          <a:ln/>
        </p:spPr>
      </p:sp>
      <p:sp>
        <p:nvSpPr>
          <p:cNvPr id="31" name="Text 29"/>
          <p:cNvSpPr/>
          <p:nvPr/>
        </p:nvSpPr>
        <p:spPr>
          <a:xfrm>
            <a:off x="4206240" y="299008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62656"/>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Entrégale el efectivo en la mano a ANGELA.</a:t>
            </a:r>
            <a:endParaRPr lang="en-US" sz="1000" dirty="0"/>
          </a:p>
        </p:txBody>
      </p:sp>
      <p:sp>
        <p:nvSpPr>
          <p:cNvPr id="33" name="Shape 31"/>
          <p:cNvSpPr/>
          <p:nvPr/>
        </p:nvSpPr>
        <p:spPr>
          <a:xfrm>
            <a:off x="4206240" y="3611880"/>
            <a:ext cx="274320" cy="274320"/>
          </a:xfrm>
          <a:prstGeom prst="ellipse">
            <a:avLst/>
          </a:prstGeom>
          <a:solidFill>
            <a:srgbClr val="0F172A"/>
          </a:solidFill>
          <a:ln/>
        </p:spPr>
      </p:sp>
      <p:sp>
        <p:nvSpPr>
          <p:cNvPr id="34" name="Text 32"/>
          <p:cNvSpPr/>
          <p:nvPr/>
        </p:nvSpPr>
        <p:spPr>
          <a:xfrm>
            <a:off x="4206240" y="361188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84448"/>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Toca la pestaña "⏳ Por confirmar" → busca cada uno de tus cobros del día → toca "📤 Entregué a secretaria". La etiqueta del pago cambia de "En poder del admin" a "Entregado a secretaria".</a:t>
            </a:r>
            <a:endParaRPr lang="en-US" sz="1000" dirty="0"/>
          </a:p>
        </p:txBody>
      </p:sp>
      <p:sp>
        <p:nvSpPr>
          <p:cNvPr id="36" name="Shape 34"/>
          <p:cNvSpPr/>
          <p:nvPr/>
        </p:nvSpPr>
        <p:spPr>
          <a:xfrm>
            <a:off x="4206240" y="4233672"/>
            <a:ext cx="274320" cy="274320"/>
          </a:xfrm>
          <a:prstGeom prst="ellipse">
            <a:avLst/>
          </a:prstGeom>
          <a:solidFill>
            <a:srgbClr val="0F172A"/>
          </a:solidFill>
          <a:ln/>
        </p:spPr>
      </p:sp>
      <p:sp>
        <p:nvSpPr>
          <p:cNvPr id="37" name="Text 35"/>
          <p:cNvSpPr/>
          <p:nvPr/>
        </p:nvSpPr>
        <p:spPr>
          <a:xfrm>
            <a:off x="4206240" y="4233672"/>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206240"/>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ANGELA revisa y confirma cada pago desde su pantalla. Ahí el pago pasa de Pendiente a Confirmado y recién entonces le baja la deuda al cliente.</a:t>
            </a:r>
            <a:endParaRPr lang="en-US" sz="1000" dirty="0"/>
          </a:p>
        </p:txBody>
      </p:sp>
      <p:sp>
        <p:nvSpPr>
          <p:cNvPr id="39" name="Shape 37"/>
          <p:cNvSpPr/>
          <p:nvPr/>
        </p:nvSpPr>
        <p:spPr>
          <a:xfrm>
            <a:off x="4206240" y="4855464"/>
            <a:ext cx="274320" cy="274320"/>
          </a:xfrm>
          <a:prstGeom prst="ellipse">
            <a:avLst/>
          </a:prstGeom>
          <a:solidFill>
            <a:srgbClr val="0F172A"/>
          </a:solidFill>
          <a:ln/>
        </p:spPr>
      </p:sp>
      <p:sp>
        <p:nvSpPr>
          <p:cNvPr id="40" name="Text 38"/>
          <p:cNvSpPr/>
          <p:nvPr/>
        </p:nvSpPr>
        <p:spPr>
          <a:xfrm>
            <a:off x="4206240" y="485546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82803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Antes de irte, verifica que "Pendiente entregar a caja" te quedó en $0.</a:t>
            </a:r>
            <a:endParaRPr lang="en-US" sz="1000" dirty="0"/>
          </a:p>
        </p:txBody>
      </p:sp>
      <p:sp>
        <p:nvSpPr>
          <p:cNvPr id="42" name="Shape 40"/>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3" name="Text 41"/>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4" name="Text 42"/>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EMIRO cierra el día con "💵 Recogiste hoy: $ 547.000 en 4 cobro(s) — Pendiente entregar a caja: $ 547.000". Cuenta los billetes: $547.000 exactos. Se los pasa a ANGELA, marca los 4 pagos con "📤 Entregué a secretaria" y el aviso amarillo desaparece. ANGELA los confirma y ahí sí le baja la deuda a ANDRY, MARTHA y los otros dos.</a:t>
            </a:r>
            <a:endParaRPr lang="en-US" sz="1150" dirty="0"/>
          </a:p>
        </p:txBody>
      </p:sp>
      <p:sp>
        <p:nvSpPr>
          <p:cNvPr id="45" name="Shape 43"/>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6" name="Text 44"/>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47" name="Text 45"/>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Error #1: marcar "📤 Entregué a secretaria" sin haberle entregado la plata todavía. Eso es declarar algo falso en el sistema, y si el efectivo se pierde, el registro dice que ya lo había entregado. Se marca DESPUÉS de que la plata cambió de manos, nunca antes.</a:t>
            </a:r>
            <a:endParaRPr lang="en-US" sz="1100" dirty="0"/>
          </a:p>
        </p:txBody>
      </p:sp>
      <p:sp>
        <p:nvSpPr>
          <p:cNvPr id="48" name="Text 46"/>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9" name="Text 47"/>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COBRADOR EN LA CALLE</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le asignan una visita domiciliaria a un cliente nuevo</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Ir a la casa del prospecto, verificar que sí vive ahí y dejar la evidencia (fotos + GPS) para que el admin pueda aprobarlo. Sin visita aprobada NO se le puede entregar moto a nadie.</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Clientes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Nuevo cliente</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visita</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Pendiente evaluación</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Ver ficha completa</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Clientes</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 "📋 Para hacer hoy" fíjate en el aviso azul de arriba: "📋 Tienes N visitas domiciliarias pendientes". Tócalo y te lleva directo (o entra por 👥 Clientes → chip "🏠 Para visita").</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Solo te aparecen las visitas que TE asignaron a ti. Abre el cliente y toca "Registrar visita".</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IMPORTANTE: llena el formulario PARADO EN LA CASA del cliente, no después en la oficina. El sistema captura el GPS del sitio donde estás en ese momento.</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Llena la entrevista: ¿el cliente vive allí?, tiempo de residencia (ej. "3 años"), tipo de vivienda, composición familiar, estabilidad laboral y las dudas que hizo el cliente.</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"Observaciones del visitador" es OBLIGATORIO (tiene asterisco rojo): escribe lo que viste con tus ojos, no un "todo bien".</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Toma la "Foto cliente + funcionario" (los dos en la foto) y la "Foto fachada" (el frente de la casa).</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Responde "¿Va a guardar la moto aquí, en esta casa?" y, si dice que no, escribe dónde la va a guardar. Ese dato después lo verifica el admin contra el GPS.</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 EMIRO le asignan la visita de un prospecto en Olaya. Va a la casa, marca "Sí vive allí", tiempo de residencia "4 años", vivienda familiar, "mototaxista independiente", observaciones "casa de material, patio cerrado con reja donde guardaría la moto; la señora confirmó que él vive ahí", toma las dos fotos, marca que SÍ guarda la moto en esa casa, GPS ✔ 10.39xxx, -75.49xxx, y…</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Error común: llenar la visita desde la oficina o desde la casa propia "porque ya fui". El GPS queda en el sitio equivocado y la visita queda inservible como respaldo — si mañana ese cliente desaparece con la moto, la dirección que tiene la empresa es falsa.</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COBRADOR EN LA CALLE</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Una vez al día (mañana y tarde) — revisar la campana de alertas</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Enterarse de lo que no se ve en la lista de cobro: plazos vencidos, promesas incumplidas, SOAT/tecnomecánica por vencer y motos retenidas o demoradas en taller.</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Alertas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Mora</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Transferencias</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Documentos</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Promesas</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Campana de alertas</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Toca la campana 🔔 arriba a la derecha. Solo te muestra alertas de TUS motos y TUS clientes.</a:t>
            </a:r>
            <a:endParaRPr lang="en-US" sz="1000" dirty="0"/>
          </a:p>
        </p:txBody>
      </p:sp>
      <p:sp>
        <p:nvSpPr>
          <p:cNvPr id="27" name="Shape 25"/>
          <p:cNvSpPr/>
          <p:nvPr/>
        </p:nvSpPr>
        <p:spPr>
          <a:xfrm>
            <a:off x="4206240" y="2368296"/>
            <a:ext cx="274320" cy="274320"/>
          </a:xfrm>
          <a:prstGeom prst="ellipse">
            <a:avLst/>
          </a:prstGeom>
          <a:solidFill>
            <a:srgbClr val="0F172A"/>
          </a:solidFill>
          <a:ln/>
        </p:spPr>
      </p:sp>
      <p:sp>
        <p:nvSpPr>
          <p:cNvPr id="28" name="Text 26"/>
          <p:cNvSpPr/>
          <p:nvPr/>
        </p:nvSpPr>
        <p:spPr>
          <a:xfrm>
            <a:off x="4206240" y="2368296"/>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40864"/>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Revisa primero las de plata: "Mora crítica", "En gabela", "Plazo extra vencido", "Promesa de pago vencida". Cada alerta te lleva al módulo donde se resuelve.</a:t>
            </a:r>
            <a:endParaRPr lang="en-US" sz="1000" dirty="0"/>
          </a:p>
        </p:txBody>
      </p:sp>
      <p:sp>
        <p:nvSpPr>
          <p:cNvPr id="30" name="Shape 28"/>
          <p:cNvSpPr/>
          <p:nvPr/>
        </p:nvSpPr>
        <p:spPr>
          <a:xfrm>
            <a:off x="4206240" y="2990088"/>
            <a:ext cx="274320" cy="274320"/>
          </a:xfrm>
          <a:prstGeom prst="ellipse">
            <a:avLst/>
          </a:prstGeom>
          <a:solidFill>
            <a:srgbClr val="0F172A"/>
          </a:solidFill>
          <a:ln/>
        </p:spPr>
      </p:sp>
      <p:sp>
        <p:nvSpPr>
          <p:cNvPr id="31" name="Text 29"/>
          <p:cNvSpPr/>
          <p:nvPr/>
        </p:nvSpPr>
        <p:spPr>
          <a:xfrm>
            <a:off x="4206240" y="299008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62656"/>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Revisa las de papeles de la moto: "SOAT vence" y "Tecnomecánica vence" (avisan a 30, 15 y 5 días). Avísale a SERGIO apenas la veas — una moto sin SOAT no puede rodar y se para el ingreso.</a:t>
            </a:r>
            <a:endParaRPr lang="en-US" sz="1000" dirty="0"/>
          </a:p>
        </p:txBody>
      </p:sp>
      <p:sp>
        <p:nvSpPr>
          <p:cNvPr id="33" name="Shape 31"/>
          <p:cNvSpPr/>
          <p:nvPr/>
        </p:nvSpPr>
        <p:spPr>
          <a:xfrm>
            <a:off x="4206240" y="3611880"/>
            <a:ext cx="274320" cy="274320"/>
          </a:xfrm>
          <a:prstGeom prst="ellipse">
            <a:avLst/>
          </a:prstGeom>
          <a:solidFill>
            <a:srgbClr val="0F172A"/>
          </a:solidFill>
          <a:ln/>
        </p:spPr>
      </p:sp>
      <p:sp>
        <p:nvSpPr>
          <p:cNvPr id="34" name="Text 32"/>
          <p:cNvSpPr/>
          <p:nvPr/>
        </p:nvSpPr>
        <p:spPr>
          <a:xfrm>
            <a:off x="4206240" y="361188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84448"/>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Revisa las físicas: "Moto retenida", "Moto demorada en taller", "Validar ubicación de la moto".</a:t>
            </a:r>
            <a:endParaRPr lang="en-US" sz="1000" dirty="0"/>
          </a:p>
        </p:txBody>
      </p:sp>
      <p:sp>
        <p:nvSpPr>
          <p:cNvPr id="36" name="Shape 34"/>
          <p:cNvSpPr/>
          <p:nvPr/>
        </p:nvSpPr>
        <p:spPr>
          <a:xfrm>
            <a:off x="4206240" y="4233672"/>
            <a:ext cx="274320" cy="274320"/>
          </a:xfrm>
          <a:prstGeom prst="ellipse">
            <a:avLst/>
          </a:prstGeom>
          <a:solidFill>
            <a:srgbClr val="0F172A"/>
          </a:solidFill>
          <a:ln/>
        </p:spPr>
      </p:sp>
      <p:sp>
        <p:nvSpPr>
          <p:cNvPr id="37" name="Text 35"/>
          <p:cNvSpPr/>
          <p:nvPr/>
        </p:nvSpPr>
        <p:spPr>
          <a:xfrm>
            <a:off x="4206240" y="4233672"/>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206240"/>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Si necesitas buscar algo puntual en el momento (un cliente, una placa, un contrato), usa la lupa 🔍 del encabezado — escribe mínimo 2 letras.</a:t>
            </a:r>
            <a:endParaRPr lang="en-US" sz="1000" dirty="0"/>
          </a:p>
        </p:txBody>
      </p:sp>
      <p:sp>
        <p:nvSpPr>
          <p:cNvPr id="39" name="Shape 37"/>
          <p:cNvSpPr/>
          <p:nvPr/>
        </p:nvSpPr>
        <p:spPr>
          <a:xfrm>
            <a:off x="4206240" y="4855464"/>
            <a:ext cx="274320" cy="274320"/>
          </a:xfrm>
          <a:prstGeom prst="ellipse">
            <a:avLst/>
          </a:prstGeom>
          <a:solidFill>
            <a:srgbClr val="0F172A"/>
          </a:solidFill>
          <a:ln/>
        </p:spPr>
      </p:sp>
      <p:sp>
        <p:nvSpPr>
          <p:cNvPr id="40" name="Text 38"/>
          <p:cNvSpPr/>
          <p:nvPr/>
        </p:nvSpPr>
        <p:spPr>
          <a:xfrm>
            <a:off x="4206240" y="485546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82803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Cierra el día repasando "📋 Para hacer hoy": lo que quedó con ✓ está gestionado; lo que quedó sin tocar arranca mañana en la misma lista.</a:t>
            </a:r>
            <a:endParaRPr lang="en-US" sz="1000" dirty="0"/>
          </a:p>
        </p:txBody>
      </p:sp>
      <p:sp>
        <p:nvSpPr>
          <p:cNvPr id="42" name="Shape 40"/>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3" name="Text 41"/>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4" name="Text 42"/>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EMIRO abre la campana y ve tres cosas: "Promesa de pago vencida — ALEJANDRO NIETO: prometió pagar el 27/07", "Mora crítica — ANDRY BREA" y "SOAT vence en 15 días — RLT68H". Con eso arma la ruta de mañana: pasa donde ALEJANDRO, escala a ANDRY y le avisa a SERGIO del SOAT de la moto de MARTHA ALVAREZ.</a:t>
            </a:r>
            <a:endParaRPr lang="en-US" sz="1150" dirty="0"/>
          </a:p>
        </p:txBody>
      </p:sp>
      <p:sp>
        <p:nvSpPr>
          <p:cNvPr id="45" name="Shape 43"/>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6" name="Text 44"/>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47" name="Text 45"/>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Error común: ignorar la campana porque "lo de cobrar ya lo veo en Para hacer hoy". Hay cosas que SOLO viven en la campana y no salen en la lista de cobro: SOAT y tecnomecánica por vencer, moto demorada en taller, promesa de pago vencida.</a:t>
            </a:r>
            <a:endParaRPr lang="en-US" sz="1100" dirty="0"/>
          </a:p>
        </p:txBody>
      </p:sp>
      <p:sp>
        <p:nvSpPr>
          <p:cNvPr id="48" name="Text 46"/>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9" name="Text 47"/>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FD100"/>
          </a:solidFill>
          <a:ln/>
        </p:spPr>
      </p:sp>
      <p:sp>
        <p:nvSpPr>
          <p:cNvPr id="3" name="Text 1"/>
          <p:cNvSpPr/>
          <p:nvPr/>
        </p:nvSpPr>
        <p:spPr>
          <a:xfrm>
            <a:off x="914400" y="2468880"/>
            <a:ext cx="10058400" cy="310896"/>
          </a:xfrm>
          <a:prstGeom prst="rect">
            <a:avLst/>
          </a:prstGeom>
          <a:noFill/>
          <a:ln/>
        </p:spPr>
        <p:txBody>
          <a:bodyPr wrap="square" lIns="0" tIns="0" rIns="0" bIns="0" rtlCol="0" anchor="ctr"/>
          <a:lstStyle/>
          <a:p>
            <a:pPr indent="0" marL="0">
              <a:buNone/>
            </a:pPr>
            <a:r>
              <a:rPr lang="en-US" sz="1300" b="1" spc="250" kern="0" dirty="0">
                <a:solidFill>
                  <a:srgbClr val="38BDF8"/>
                </a:solidFill>
                <a:latin typeface="Calibri" pitchFamily="34" charset="0"/>
                <a:ea typeface="Calibri" pitchFamily="34" charset="-122"/>
                <a:cs typeface="Calibri" pitchFamily="34" charset="-120"/>
              </a:rPr>
              <a:t>EL DÍA A DÍA</a:t>
            </a:r>
            <a:endParaRPr lang="en-US" sz="1300" dirty="0"/>
          </a:p>
        </p:txBody>
      </p:sp>
      <p:sp>
        <p:nvSpPr>
          <p:cNvPr id="4" name="Text 2"/>
          <p:cNvSpPr/>
          <p:nvPr/>
        </p:nvSpPr>
        <p:spPr>
          <a:xfrm>
            <a:off x="914400" y="278892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El administrador</a:t>
            </a:r>
            <a:endParaRPr lang="en-US" sz="4000" dirty="0"/>
          </a:p>
        </p:txBody>
      </p:sp>
      <p:sp>
        <p:nvSpPr>
          <p:cNvPr id="5" name="Text 3"/>
          <p:cNvSpPr/>
          <p:nvPr/>
        </p:nvSpPr>
        <p:spPr>
          <a:xfrm>
            <a:off x="914400" y="3657600"/>
            <a:ext cx="9509760" cy="822960"/>
          </a:xfrm>
          <a:prstGeom prst="rect">
            <a:avLst/>
          </a:prstGeom>
          <a:noFill/>
          <a:ln/>
        </p:spPr>
        <p:txBody>
          <a:bodyPr wrap="square" lIns="0" tIns="0" rIns="0" bIns="0" rtlCol="0" anchor="ctr"/>
          <a:lstStyle/>
          <a:p>
            <a:pPr indent="0" marL="0">
              <a:lnSpc>
                <a:spcPct val="110000"/>
              </a:lnSpc>
              <a:buNone/>
            </a:pPr>
            <a:r>
              <a:rPr lang="en-US" sz="1450" dirty="0">
                <a:solidFill>
                  <a:srgbClr val="CBD5E1"/>
                </a:solidFill>
                <a:latin typeface="Calibri" pitchFamily="34" charset="0"/>
                <a:ea typeface="Calibri" pitchFamily="34" charset="-122"/>
                <a:cs typeface="Calibri" pitchFamily="34" charset="-120"/>
              </a:rPr>
              <a:t>Guía del administrador que ve TODO: qué revisar cada mañana, qué autorizar (plazos, convenios, entregas), cómo entregar una moto nueva, qué decidir con las motos retenidas, cómo cuadrar la plata por grupo y cómo dejar en firme los saldos viejos con el cliente presente. Cada momento del día con el clic exacto, un ejemplo real con placa y cifras, y el error que hay que evitar.</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ADMINISTRADOR</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Al llegar en la mañana (7:00–7:30 a.m.) — el barrido general antes de que llegue nadie</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Saber en 5 minutos cómo amaneció el negocio: cuánta plata está en riesgo, cuántas motos están fuera de la calle y qué se venció anoche. Es la foto del día ANTES de que empiecen a llamar los cobradores.</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Alertas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Mora</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Transferencias</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Documentos</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Promesas</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Campana de alertas</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Entra a la app y toca **Panel** (en el celular es la primera pestaña de la barra de abajo; en el computador es el primer ítem del menú de la izquierda).</a:t>
            </a:r>
            <a:endParaRPr lang="en-US" sz="1000" dirty="0"/>
          </a:p>
        </p:txBody>
      </p:sp>
      <p:sp>
        <p:nvSpPr>
          <p:cNvPr id="27" name="Shape 25"/>
          <p:cNvSpPr/>
          <p:nvPr/>
        </p:nvSpPr>
        <p:spPr>
          <a:xfrm>
            <a:off x="4206240" y="2368296"/>
            <a:ext cx="274320" cy="274320"/>
          </a:xfrm>
          <a:prstGeom prst="ellipse">
            <a:avLst/>
          </a:prstGeom>
          <a:solidFill>
            <a:srgbClr val="0F172A"/>
          </a:solidFill>
          <a:ln/>
        </p:spPr>
      </p:sp>
      <p:sp>
        <p:nvSpPr>
          <p:cNvPr id="28" name="Text 26"/>
          <p:cNvSpPr/>
          <p:nvPr/>
        </p:nvSpPr>
        <p:spPr>
          <a:xfrm>
            <a:off x="4206240" y="2368296"/>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40864"/>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Mira primero la fila de tarjetas grandes de arriba: **Clientes activos · Motos en campo · En mora · Contratos activos · Por inmovilizar**. Esos 5 números son el semáforo del negocio.</a:t>
            </a:r>
            <a:endParaRPr lang="en-US" sz="1000" dirty="0"/>
          </a:p>
        </p:txBody>
      </p:sp>
      <p:sp>
        <p:nvSpPr>
          <p:cNvPr id="30" name="Shape 28"/>
          <p:cNvSpPr/>
          <p:nvPr/>
        </p:nvSpPr>
        <p:spPr>
          <a:xfrm>
            <a:off x="4206240" y="2990088"/>
            <a:ext cx="274320" cy="274320"/>
          </a:xfrm>
          <a:prstGeom prst="ellipse">
            <a:avLst/>
          </a:prstGeom>
          <a:solidFill>
            <a:srgbClr val="0F172A"/>
          </a:solidFill>
          <a:ln/>
        </p:spPr>
      </p:sp>
      <p:sp>
        <p:nvSpPr>
          <p:cNvPr id="31" name="Text 29"/>
          <p:cNvSpPr/>
          <p:nvPr/>
        </p:nvSpPr>
        <p:spPr>
          <a:xfrm>
            <a:off x="4206240" y="299008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62656"/>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Justo debajo hay unos botones de grupo: **Toda la flota · COSTA · PRADERA · RASTREADOR · USADAS**. Toca **COSTA** para ver solo ese portafolio, porque cada grupo es una inversión distinta y responden dueños…</a:t>
            </a:r>
            <a:endParaRPr lang="en-US" sz="1000" dirty="0"/>
          </a:p>
        </p:txBody>
      </p:sp>
      <p:sp>
        <p:nvSpPr>
          <p:cNvPr id="33" name="Shape 31"/>
          <p:cNvSpPr/>
          <p:nvPr/>
        </p:nvSpPr>
        <p:spPr>
          <a:xfrm>
            <a:off x="4206240" y="3611880"/>
            <a:ext cx="274320" cy="274320"/>
          </a:xfrm>
          <a:prstGeom prst="ellipse">
            <a:avLst/>
          </a:prstGeom>
          <a:solidFill>
            <a:srgbClr val="0F172A"/>
          </a:solidFill>
          <a:ln/>
        </p:spPr>
      </p:sp>
      <p:sp>
        <p:nvSpPr>
          <p:cNvPr id="34" name="Text 32"/>
          <p:cNvSpPr/>
          <p:nvPr/>
        </p:nvSpPr>
        <p:spPr>
          <a:xfrm>
            <a:off x="4206240" y="361188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84448"/>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Baja al bloque de cartera del Panel y revisa los 4 números del día: **Pagan hoy · En gabela · En mora · Recuperadas (sem.)**.</a:t>
            </a:r>
            <a:endParaRPr lang="en-US" sz="1000" dirty="0"/>
          </a:p>
        </p:txBody>
      </p:sp>
      <p:sp>
        <p:nvSpPr>
          <p:cNvPr id="36" name="Shape 34"/>
          <p:cNvSpPr/>
          <p:nvPr/>
        </p:nvSpPr>
        <p:spPr>
          <a:xfrm>
            <a:off x="4206240" y="4233672"/>
            <a:ext cx="274320" cy="274320"/>
          </a:xfrm>
          <a:prstGeom prst="ellipse">
            <a:avLst/>
          </a:prstGeom>
          <a:solidFill>
            <a:srgbClr val="0F172A"/>
          </a:solidFill>
          <a:ln/>
        </p:spPr>
      </p:sp>
      <p:sp>
        <p:nvSpPr>
          <p:cNvPr id="37" name="Text 35"/>
          <p:cNvSpPr/>
          <p:nvPr/>
        </p:nvSpPr>
        <p:spPr>
          <a:xfrm>
            <a:off x="4206240" y="4233672"/>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206240"/>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Ahora toca la **campana 🔔** arriba a la derecha. Ahí sale lo que el sistema detectó solo: mora crítica, gabela, SOAT y tecnomecánica por vencer (avisa a 30, 15 y 5 días), transferencias que la secretaria no ha…</a:t>
            </a:r>
            <a:endParaRPr lang="en-US" sz="1000" dirty="0"/>
          </a:p>
        </p:txBody>
      </p:sp>
      <p:sp>
        <p:nvSpPr>
          <p:cNvPr id="39" name="Shape 37"/>
          <p:cNvSpPr/>
          <p:nvPr/>
        </p:nvSpPr>
        <p:spPr>
          <a:xfrm>
            <a:off x="4206240" y="4855464"/>
            <a:ext cx="274320" cy="274320"/>
          </a:xfrm>
          <a:prstGeom prst="ellipse">
            <a:avLst/>
          </a:prstGeom>
          <a:solidFill>
            <a:srgbClr val="0F172A"/>
          </a:solidFill>
          <a:ln/>
        </p:spPr>
      </p:sp>
      <p:sp>
        <p:nvSpPr>
          <p:cNvPr id="40" name="Text 38"/>
          <p:cNvSpPr/>
          <p:nvPr/>
        </p:nvSpPr>
        <p:spPr>
          <a:xfrm>
            <a:off x="4206240" y="485546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82803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Toca cada alerta: te lleva directo al módulo donde se resuelve. Las que no puedas resolver de una vez, repártelas por WhatsApp al que corresponde (EMIRO si es cobro de sus motos, ANGELA si es plata por confirmar).</a:t>
            </a:r>
            <a:endParaRPr lang="en-US" sz="1000" dirty="0"/>
          </a:p>
        </p:txBody>
      </p:sp>
      <p:sp>
        <p:nvSpPr>
          <p:cNvPr id="42" name="Shape 40"/>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3" name="Text 41"/>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4" name="Text 42"/>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Lunes, 7:10 a.m. El Panel muestra **En mora: 14** y **Por inmovilizar: 3**. Filtras por **COSTA** y ves que 11 de esos 14 son de COSTA (que tiene ~180 contratos activos). En la campana 🔔 hay 2 avisos de SOAT: **RLZ93H (ANDRY BREA) vence en 15 días** y otra vence en 5 días.</a:t>
            </a:r>
            <a:endParaRPr lang="en-US" sz="1150" dirty="0"/>
          </a:p>
        </p:txBody>
      </p:sp>
      <p:sp>
        <p:nvSpPr>
          <p:cNvPr id="45" name="Shape 43"/>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6" name="Text 44"/>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47" name="Text 45"/>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El error más común es mirar solo el número grande de "En mora" y asustarse: ese número junta TODOS los grupos, y si no filtras terminas regañando al encargado de un grupo por la mora de otro.</a:t>
            </a:r>
            <a:endParaRPr lang="en-US" sz="1100" dirty="0"/>
          </a:p>
        </p:txBody>
      </p:sp>
      <p:sp>
        <p:nvSpPr>
          <p:cNvPr id="48" name="Text 46"/>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9" name="Text 47"/>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ADMINISTRADOR</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Media mañana (8:00–10:00 a.m.) — revisar la cartera del día y que el equipo sí esté gestionando</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Verificar cliente por cliente quién debe hoy, a quién ya le mandaron mensaje y quién lleva días sin que nadie lo toque. Es donde se detecta al cobrador que no está trabajando la mora.</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E0F2FE"/>
          </a:solidFill>
          <a:ln w="19050">
            <a:solidFill>
              <a:srgbClr val="0284C7"/>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0" name="Shape 8"/>
          <p:cNvSpPr/>
          <p:nvPr/>
        </p:nvSpPr>
        <p:spPr>
          <a:xfrm>
            <a:off x="740664" y="2569464"/>
            <a:ext cx="2084832" cy="347472"/>
          </a:xfrm>
          <a:prstGeom prst="roundRect">
            <a:avLst>
              <a:gd name="adj" fmla="val 13158"/>
            </a:avLst>
          </a:prstGeom>
          <a:solidFill>
            <a:srgbClr val="F1F5F9"/>
          </a:solidFill>
          <a:ln w="9525">
            <a:solidFill>
              <a:srgbClr val="E2E8F0"/>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Toca **Cartera** (barra de abajo en el celular / menú izquierdo en el computador).</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Arriba verás 4 números: **Pagan hoy · Recaudado hoy · En gabela · En mora**. Cada uno es un botón: al tocarlo te lleva a la lista ya filtrada, no tienes que buscar a mano.</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Toca la pestaña **📋 Para hacer hoy**. Ahí están las tareas del día ordenadas por urgencia y sin repetir clientes: primero Recolección, luego Mora, luego Gabela, y de último los que pagan hoy.</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 cada tarjeta ves el nombre, la placa, cuánto debe y los botones de tarea: **Mensaje · Llamar · Sirena · Recolección**.</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Para revisar un cliente puntual, toca la pestaña **🌎 Todos** y usa los filtros: **Todos · 🔴 Mora · 🟡 Gabela · 🟢 Al día · 🔵 Pagan hoy · 🤝 Convenio**. También hay buscador por nombre o placa.</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Toca el cliente para abrir su detalle. Ahí ves el total exacto que debe, desglosado línea por línea (prorrateo + cada cuota vencida + multa/deuda + cuota del convenio), y abajo cuatro pestañas: **Gestiones · Deudas…</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Si necesitas mandarle la cuenta al cliente, toca **📄 Estado de cuenta**: te lo imprime o te lo arma para enviar por WhatsApp.</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Abres **📋 Para hacer hoy** y hay 9 tarjetas. **MARTHA ALVAREZ (RLT68H)** aparece en 🔴 Mora con **Debe $202.000**, y en su pestaña Gestiones dice "WhatsApp — 22/jul — No contestó": tres días sin que nadie la vuelva a tocar. Llamas a EMIRO y le pides que hoy mismo pase de Mensaje a **Llamar**.</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No confundas 🟡 Gabela con 🔴 Mora. La gabela es el día de gracia (un día después del día de pago) y todavía se maneja con mensaje; la mora es de ahí en adelante y ahí sí se escala. Si tratas a un cliente en gabela como moroso, lo quemas por nada.</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ADMINISTRADOR</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un cobrador llama pidiendo autorización: "el cliente pide un plazo" o "quiere ponerse al día por cuotas</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Decidir entre dar 1–2 días extra (caso chico: paga completo el jueves) o armar un convenio (caso grande: debe varias semanas). Son dos herramientas distintas y usarlas al revés es la fuente de los líos.</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**Para dar plazo extra (1 o 2 días):** entra a **Inmovilizaciones** → pestaña **🔴 En mora** → busca el cliente → abre el registro de gestión → en "Tipo" elige **⏳ Plazo extra**.</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Escribe los **días (1 o 2, no más)** y el **motivo — es obligatorio**, el sistema no deja guardar sin él. Escribe algo real: "le pagan el jueves en la obra", no "pidió plazo".</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Guarda. Mientras el plazo esté vigente el contrato SALE solo de la lista de recolección, y cuando se vence vuelve solo a la cola. No tienes que acordarte tú.</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Solo ADMIN, ADMIN_PRINCIPAL y SUBADMIN pueden dar plazo extra — si alguien no ve la opción, es por su rol.</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**Para autorizar un convenio:** entra a **Cartera** → busca el contrato → ábrelo → pestaña **Convenio** → crea el convenio.</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Llena: **Motivo del convenio**, **Meta a pagar (total del convenio)** — viene precargada con lo que debe — y elige **Fijar por número de cuotas** o **Fijar por valor de la cuota**; el sistema calcula solo la otra…</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Guarda con el cliente presente y con su firma. Regla clave: **el convenio va SIEMPRE encima del pago normal, nunca lo reemplaza** — el cliente sigue pagando su semana Y además la cuota del convenio.</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EMIRO llama: "**ALEJANDRO NIETO** dice que le pagan el miércoles". Debe una sola semana de $202.000 → eso es **plazo extra de 2 días**, no convenio. En cambio **MARTHA ALVAREZ (RLT68H)** debe 3 semanas ($606.000) y no las va a juntar de un tirón → eso sí es **convenio**: meta $606.000, 6 cuotas de $101.000, primer pago el lunes.</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Tres errores caros. (1) Dar plazo extra a alguien que debe 3 semanas: el plazo es para el que paga completo en 48 horas, no para tapar un hueco grande. (2) Guardar el convenio SIN la firma del cliente — luego no hay con qué respaldar el acuerdo (ya pasó con un convenio que tocó…</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ADMINISTRADOR</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Entregar una moto a un cliente nuevo (el momento más delicado del día)</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Dejar el contrato armado, firmado y con la moto entregada con evidencia fotográfica. Si algo queda a medias, después no hay cómo cobrar ni cómo reclamar un daño.</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Contratos</a:t>
            </a:r>
            <a:endParaRPr lang="en-US" sz="900" dirty="0"/>
          </a:p>
        </p:txBody>
      </p:sp>
      <p:sp>
        <p:nvSpPr>
          <p:cNvPr id="8" name="Shape 6"/>
          <p:cNvSpPr/>
          <p:nvPr/>
        </p:nvSpPr>
        <p:spPr>
          <a:xfrm>
            <a:off x="740664" y="2167128"/>
            <a:ext cx="2084832" cy="347472"/>
          </a:xfrm>
          <a:prstGeom prst="roundRect">
            <a:avLst>
              <a:gd name="adj" fmla="val 13158"/>
            </a:avLst>
          </a:prstGeom>
          <a:solidFill>
            <a:srgbClr val="E0F2FE"/>
          </a:solidFill>
          <a:ln w="19050">
            <a:solidFill>
              <a:srgbClr val="0284C7"/>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Nuevo contrato</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0" name="Shape 8"/>
          <p:cNvSpPr/>
          <p:nvPr/>
        </p:nvSpPr>
        <p:spPr>
          <a:xfrm>
            <a:off x="740664" y="2569464"/>
            <a:ext cx="2084832" cy="347472"/>
          </a:xfrm>
          <a:prstGeom prst="roundRect">
            <a:avLst>
              <a:gd name="adj" fmla="val 13158"/>
            </a:avLst>
          </a:prstGeom>
          <a:solidFill>
            <a:srgbClr val="F1F5F9"/>
          </a:solidFill>
          <a:ln w="9525">
            <a:solidFill>
              <a:srgbClr val="E2E8F0"/>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Activos</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Documentos</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Editar contrato</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Contratos</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Antes de empezar, confirma que el cliente esté en estado **Aprobado** (con visita domiciliaria hecha y aprobada). Si no está Aprobado, no lo deja seleccionar — y es a propósito.</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Entra a **Contratos** → toca el botón **"+"** (Nuevo contrato).</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**Paso 1 — Datos del contrato:** elige el cliente, la modalidad (Diario / Semanal / Quincenal / Mensual) y escribe los **4 valores directos**: tarifa L-S, tarifa domingo, ahorro L-S y ahorro domingo.</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Si la base quedó incompleta, se abre un convenio OBLIGATORIO que hay que llenar antes de seguir: no se puede cerrar ni saltar.</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**Paso 2 — Asignar moto:** busca la placa en la lista de Disponibles. Sale un aviso con la placa, marca/modelo y el nombre del cliente para que confirmes que no te equivocaste de moto. La moto queda "Reservada".</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**Paso 3 — Firma del contrato de arrendamiento:** el cliente lee, se marca la casilla y firma en la pantalla (con el dedo o el lápiz). Toca **"Confirmar firma →"**.</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**Paso 4 — Firma del pagaré y la carta:** lo mismo. **"Confirmar firma →"**.</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Cliente nuevo con la tarifa actual: tarifa L-S **$27.000**, domingo **$14.000**, ahorro **$4.000** L-S y **$2.000** domingo → el sistema calcula solo **$202.000 la semana** (6 días × $31.000 + $16.000 del domingo). Base requerida: **$510.000** ($308.000 de ahorro + $202.000 de la semana adelantada).</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Nunca calcules el domingo como "la mitad de la tarifa" ni la cuota diaria como "el total dividido entre 7": esas cifras no existen en el negocio y descuadran la cartera desde el primer día. Deja que el sistema calcule.</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ADMINISTRADOR</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Después del mediodía — decidir qué hacer con las motos retenidas e inmovilizadas</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Que ninguna moto se quede quieta en el patio. El principio del negocio es uno solo: **la moto nunca debe dejar de producir**. Aquí decides si se devuelve, si se presta un reemplazo o si se liquida y se reasigna.</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Inmovilizaciones</a:t>
            </a:r>
            <a:endParaRPr lang="en-US" sz="900" dirty="0"/>
          </a:p>
        </p:txBody>
      </p:sp>
      <p:sp>
        <p:nvSpPr>
          <p:cNvPr id="8" name="Shape 6"/>
          <p:cNvSpPr/>
          <p:nvPr/>
        </p:nvSpPr>
        <p:spPr>
          <a:xfrm>
            <a:off x="740664" y="2167128"/>
            <a:ext cx="2084832" cy="347472"/>
          </a:xfrm>
          <a:prstGeom prst="roundRect">
            <a:avLst>
              <a:gd name="adj" fmla="val 13158"/>
            </a:avLst>
          </a:prstGeom>
          <a:solidFill>
            <a:srgbClr val="E0F2FE"/>
          </a:solidFill>
          <a:ln w="19050">
            <a:solidFill>
              <a:srgbClr val="0284C7"/>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Retenidas</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0" name="Shape 8"/>
          <p:cNvSpPr/>
          <p:nvPr/>
        </p:nvSpPr>
        <p:spPr>
          <a:xfrm>
            <a:off x="740664" y="2569464"/>
            <a:ext cx="2084832" cy="347472"/>
          </a:xfrm>
          <a:prstGeom prst="roundRect">
            <a:avLst>
              <a:gd name="adj" fmla="val 13158"/>
            </a:avLst>
          </a:prstGeom>
          <a:solidFill>
            <a:srgbClr val="F1F5F9"/>
          </a:solidFill>
          <a:ln w="9525">
            <a:solidFill>
              <a:srgbClr val="E2E8F0"/>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En mora</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Cobrar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Entregar moto</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Inmovilizaciones</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Entra a **Inmovilizaciones**. Abre en la pestaña **🔒 Retenidas** (es la que más se consulta); al lado está **🔴 En mora**, que es la persecución previa.</a:t>
            </a:r>
            <a:endParaRPr lang="en-US" sz="1000" dirty="0"/>
          </a:p>
        </p:txBody>
      </p:sp>
      <p:sp>
        <p:nvSpPr>
          <p:cNvPr id="27" name="Shape 25"/>
          <p:cNvSpPr/>
          <p:nvPr/>
        </p:nvSpPr>
        <p:spPr>
          <a:xfrm>
            <a:off x="4206240" y="2368296"/>
            <a:ext cx="274320" cy="274320"/>
          </a:xfrm>
          <a:prstGeom prst="ellipse">
            <a:avLst/>
          </a:prstGeom>
          <a:solidFill>
            <a:srgbClr val="0F172A"/>
          </a:solidFill>
          <a:ln/>
        </p:spPr>
      </p:sp>
      <p:sp>
        <p:nvSpPr>
          <p:cNvPr id="28" name="Text 26"/>
          <p:cNvSpPr/>
          <p:nvPr/>
        </p:nvSpPr>
        <p:spPr>
          <a:xfrm>
            <a:off x="4206240" y="2368296"/>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40864"/>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Usa los filtros de arriba para separar por qué está retenida: **Todas · 🔴 Mora · 🅿️ Temporal · 🔧 Taller**.</a:t>
            </a:r>
            <a:endParaRPr lang="en-US" sz="1000" dirty="0"/>
          </a:p>
        </p:txBody>
      </p:sp>
      <p:sp>
        <p:nvSpPr>
          <p:cNvPr id="30" name="Shape 28"/>
          <p:cNvSpPr/>
          <p:nvPr/>
        </p:nvSpPr>
        <p:spPr>
          <a:xfrm>
            <a:off x="4206240" y="2990088"/>
            <a:ext cx="274320" cy="274320"/>
          </a:xfrm>
          <a:prstGeom prst="ellipse">
            <a:avLst/>
          </a:prstGeom>
          <a:solidFill>
            <a:srgbClr val="0F172A"/>
          </a:solidFill>
          <a:ln/>
        </p:spPr>
      </p:sp>
      <p:sp>
        <p:nvSpPr>
          <p:cNvPr id="31" name="Text 29"/>
          <p:cNvSpPr/>
          <p:nvPr/>
        </p:nvSpPr>
        <p:spPr>
          <a:xfrm>
            <a:off x="4206240" y="299008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62656"/>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**Si es por mora y el cliente vino a pagar:** como mínimo tiene que pagar la **multa de $20.000** (se genera sola cada vez que se recolecta). El resto atrasado puede quedar en convenio.</a:t>
            </a:r>
            <a:endParaRPr lang="en-US" sz="1000" dirty="0"/>
          </a:p>
        </p:txBody>
      </p:sp>
      <p:sp>
        <p:nvSpPr>
          <p:cNvPr id="33" name="Shape 31"/>
          <p:cNvSpPr/>
          <p:nvPr/>
        </p:nvSpPr>
        <p:spPr>
          <a:xfrm>
            <a:off x="4206240" y="3611880"/>
            <a:ext cx="274320" cy="274320"/>
          </a:xfrm>
          <a:prstGeom prst="ellipse">
            <a:avLst/>
          </a:prstGeom>
          <a:solidFill>
            <a:srgbClr val="0F172A"/>
          </a:solidFill>
          <a:ln/>
        </p:spPr>
      </p:sp>
      <p:sp>
        <p:nvSpPr>
          <p:cNvPr id="34" name="Text 32"/>
          <p:cNvSpPr/>
          <p:nvPr/>
        </p:nvSpPr>
        <p:spPr>
          <a:xfrm>
            <a:off x="4206240" y="361188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84448"/>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**Si el cliente no aparece:** a los **7 días** de retenida se habilita **🔁 Liquidar y reasignar**. Ahí decides tú: se liquida el contrato, se libera la moto y se le entrega a otro cliente.</a:t>
            </a:r>
            <a:endParaRPr lang="en-US" sz="1000" dirty="0"/>
          </a:p>
        </p:txBody>
      </p:sp>
      <p:sp>
        <p:nvSpPr>
          <p:cNvPr id="36" name="Shape 34"/>
          <p:cNvSpPr/>
          <p:nvPr/>
        </p:nvSpPr>
        <p:spPr>
          <a:xfrm>
            <a:off x="4206240" y="4233672"/>
            <a:ext cx="274320" cy="274320"/>
          </a:xfrm>
          <a:prstGeom prst="ellipse">
            <a:avLst/>
          </a:prstGeom>
          <a:solidFill>
            <a:srgbClr val="0F172A"/>
          </a:solidFill>
          <a:ln/>
        </p:spPr>
      </p:sp>
      <p:sp>
        <p:nvSpPr>
          <p:cNvPr id="37" name="Text 35"/>
          <p:cNvSpPr/>
          <p:nvPr/>
        </p:nvSpPr>
        <p:spPr>
          <a:xfrm>
            <a:off x="4206240" y="4233672"/>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206240"/>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**Si la moto está varada en el taller pero el cliente está al día:** usa **🔄 Prestar reemplazo**. Le pasas otra moto del pool, se cobra **$27.000 por día de alquiler** con el botón **💵 Cobrar alquiler**, y cuando…</a:t>
            </a:r>
            <a:endParaRPr lang="en-US" sz="1000" dirty="0"/>
          </a:p>
        </p:txBody>
      </p:sp>
      <p:sp>
        <p:nvSpPr>
          <p:cNvPr id="39" name="Shape 37"/>
          <p:cNvSpPr/>
          <p:nvPr/>
        </p:nvSpPr>
        <p:spPr>
          <a:xfrm>
            <a:off x="4206240" y="4855464"/>
            <a:ext cx="274320" cy="274320"/>
          </a:xfrm>
          <a:prstGeom prst="ellipse">
            <a:avLst/>
          </a:prstGeom>
          <a:solidFill>
            <a:srgbClr val="0F172A"/>
          </a:solidFill>
          <a:ln/>
        </p:spPr>
      </p:sp>
      <p:sp>
        <p:nvSpPr>
          <p:cNvPr id="40" name="Text 38"/>
          <p:cNvSpPr/>
          <p:nvPr/>
        </p:nvSpPr>
        <p:spPr>
          <a:xfrm>
            <a:off x="4206240" y="485546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82803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Cuando devuelvas una moto que estuvo en Fiscalía, Tránsito, Garantía o Taller, el sistema te pregunta qué hacer con el tiempo parado: **cobrarlo** (queda como deuda) o **rodarlo** (se corre la fecha de fin del…</a:t>
            </a:r>
            <a:endParaRPr lang="en-US" sz="1000" dirty="0"/>
          </a:p>
        </p:txBody>
      </p:sp>
      <p:sp>
        <p:nvSpPr>
          <p:cNvPr id="42" name="Shape 40"/>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3" name="Text 41"/>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4" name="Text 42"/>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En **🔒 Retenidas** hay 3 motos. **RLT68H (MARTHA ALVAREZ)** lleva 4 días, filtro 🔴 Mora, debe $606.000 más la multa de $20.000. Martha aparece con $150.000: le cobras primero los **$20.000 de la multa** (el sistema aplica deuda-primero), el resto entra como abono y las 3 semanas quedan en convenio → se habilita **✓ Entregar moto**.</a:t>
            </a:r>
            <a:endParaRPr lang="en-US" sz="1150" dirty="0"/>
          </a:p>
        </p:txBody>
      </p:sp>
      <p:sp>
        <p:nvSpPr>
          <p:cNvPr id="45" name="Shape 43"/>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6" name="Text 44"/>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47" name="Text 45"/>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El error que más plata cuesta es dejar una moto retenida "esperando a ver si el cliente aparece" durante 3 semanas: cada día quieta son ~$27.000 que el grupo deja de recibir. A los 7 días toma la decisión.</a:t>
            </a:r>
            <a:endParaRPr lang="en-US" sz="1100" dirty="0"/>
          </a:p>
        </p:txBody>
      </p:sp>
      <p:sp>
        <p:nvSpPr>
          <p:cNvPr id="48" name="Text 46"/>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9" name="Text 47"/>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ADMINISTRADOR</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Al cierre de la tarde (4:30–5:30 p.m.) — revisar la caja y el recaudo por grupo</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Cuadrar que lo que entró en la app sea lo mismo que hay en efectivo, y que cada portafolio (COSTA, PRADERA, RASTREADOR, USADAS) tenga su cuenta separada. Cada grupo tiene dueño distinto y la plata no se mezcla.</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Entra a **Caja Diaria**. Verifica que la fecha de arriba sea la de hoy.</a:t>
            </a:r>
            <a:endParaRPr lang="en-US" sz="1000" dirty="0"/>
          </a:p>
        </p:txBody>
      </p:sp>
      <p:sp>
        <p:nvSpPr>
          <p:cNvPr id="27" name="Shape 25"/>
          <p:cNvSpPr/>
          <p:nvPr/>
        </p:nvSpPr>
        <p:spPr>
          <a:xfrm>
            <a:off x="4206240" y="2368296"/>
            <a:ext cx="274320" cy="274320"/>
          </a:xfrm>
          <a:prstGeom prst="ellipse">
            <a:avLst/>
          </a:prstGeom>
          <a:solidFill>
            <a:srgbClr val="0F172A"/>
          </a:solidFill>
          <a:ln/>
        </p:spPr>
      </p:sp>
      <p:sp>
        <p:nvSpPr>
          <p:cNvPr id="28" name="Text 26"/>
          <p:cNvSpPr/>
          <p:nvPr/>
        </p:nvSpPr>
        <p:spPr>
          <a:xfrm>
            <a:off x="4206240" y="2368296"/>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40864"/>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Usa los botones de grupo para ver cada portafolio por separado: **COSTA · PRADERA · RASTREADOR · USADAS**. En la vista "Todos" verás el cuadro con el desglose de cada grupo.</a:t>
            </a:r>
            <a:endParaRPr lang="en-US" sz="1000" dirty="0"/>
          </a:p>
        </p:txBody>
      </p:sp>
      <p:sp>
        <p:nvSpPr>
          <p:cNvPr id="30" name="Shape 28"/>
          <p:cNvSpPr/>
          <p:nvPr/>
        </p:nvSpPr>
        <p:spPr>
          <a:xfrm>
            <a:off x="4206240" y="2990088"/>
            <a:ext cx="274320" cy="274320"/>
          </a:xfrm>
          <a:prstGeom prst="ellipse">
            <a:avLst/>
          </a:prstGeom>
          <a:solidFill>
            <a:srgbClr val="0F172A"/>
          </a:solidFill>
          <a:ln/>
        </p:spPr>
      </p:sp>
      <p:sp>
        <p:nvSpPr>
          <p:cNvPr id="31" name="Text 29"/>
          <p:cNvSpPr/>
          <p:nvPr/>
        </p:nvSpPr>
        <p:spPr>
          <a:xfrm>
            <a:off x="4206240" y="299008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62656"/>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Revisa el resumen por funcionario: cuánto recogió cada uno, cuánto tiene **pendiente de entregar** y cuánto está **sin confirmar**. Ahí se ve si EMIRO recogió en la calle y todavía no le ha entregado a ANGELA.</a:t>
            </a:r>
            <a:endParaRPr lang="en-US" sz="1000" dirty="0"/>
          </a:p>
        </p:txBody>
      </p:sp>
      <p:sp>
        <p:nvSpPr>
          <p:cNvPr id="33" name="Shape 31"/>
          <p:cNvSpPr/>
          <p:nvPr/>
        </p:nvSpPr>
        <p:spPr>
          <a:xfrm>
            <a:off x="4206240" y="3611880"/>
            <a:ext cx="274320" cy="274320"/>
          </a:xfrm>
          <a:prstGeom prst="ellipse">
            <a:avLst/>
          </a:prstGeom>
          <a:solidFill>
            <a:srgbClr val="0F172A"/>
          </a:solidFill>
          <a:ln/>
        </p:spPr>
      </p:sp>
      <p:sp>
        <p:nvSpPr>
          <p:cNvPr id="34" name="Text 32"/>
          <p:cNvSpPr/>
          <p:nvPr/>
        </p:nvSpPr>
        <p:spPr>
          <a:xfrm>
            <a:off x="4206240" y="361188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84448"/>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Antes de cerrar, pásate a **Cartera → pestaña "⏳ Por confirmar"**: ahí quedan las transferencias con foto del comprobante y el efectivo de campo esperando que ANGELA los confirme.</a:t>
            </a:r>
            <a:endParaRPr lang="en-US" sz="1000" dirty="0"/>
          </a:p>
        </p:txBody>
      </p:sp>
      <p:sp>
        <p:nvSpPr>
          <p:cNvPr id="36" name="Shape 34"/>
          <p:cNvSpPr/>
          <p:nvPr/>
        </p:nvSpPr>
        <p:spPr>
          <a:xfrm>
            <a:off x="4206240" y="4233672"/>
            <a:ext cx="274320" cy="274320"/>
          </a:xfrm>
          <a:prstGeom prst="ellipse">
            <a:avLst/>
          </a:prstGeom>
          <a:solidFill>
            <a:srgbClr val="0F172A"/>
          </a:solidFill>
          <a:ln/>
        </p:spPr>
      </p:sp>
      <p:sp>
        <p:nvSpPr>
          <p:cNvPr id="37" name="Text 35"/>
          <p:cNvSpPr/>
          <p:nvPr/>
        </p:nvSpPr>
        <p:spPr>
          <a:xfrm>
            <a:off x="4206240" y="4233672"/>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206240"/>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El cierre lo hace la SECRETARIA (ANGELA) y **cada grupo se cierra por aparte**, desde la tarjeta de ese grupo: **"Cerrar caja de COSTA — $X"**. Tú confirmas que los números cuadren antes de que ella cierre.</a:t>
            </a:r>
            <a:endParaRPr lang="en-US" sz="1000" dirty="0"/>
          </a:p>
        </p:txBody>
      </p:sp>
      <p:sp>
        <p:nvSpPr>
          <p:cNvPr id="39" name="Shape 37"/>
          <p:cNvSpPr/>
          <p:nvPr/>
        </p:nvSpPr>
        <p:spPr>
          <a:xfrm>
            <a:off x="4206240" y="4855464"/>
            <a:ext cx="274320" cy="274320"/>
          </a:xfrm>
          <a:prstGeom prst="ellipse">
            <a:avLst/>
          </a:prstGeom>
          <a:solidFill>
            <a:srgbClr val="0F172A"/>
          </a:solidFill>
          <a:ln/>
        </p:spPr>
      </p:sp>
      <p:sp>
        <p:nvSpPr>
          <p:cNvPr id="40" name="Text 38"/>
          <p:cNvSpPr/>
          <p:nvPr/>
        </p:nvSpPr>
        <p:spPr>
          <a:xfrm>
            <a:off x="4206240" y="485546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828032"/>
            <a:ext cx="3291840" cy="621792"/>
          </a:xfrm>
          <a:prstGeom prst="rect">
            <a:avLst/>
          </a:prstGeom>
          <a:noFill/>
          <a:ln/>
        </p:spPr>
        <p:txBody>
          <a:bodyPr wrap="square" lIns="0" tIns="0" rIns="0" bIns="0" rtlCol="0" anchor="ctr"/>
          <a:lstStyle/>
          <a:p>
            <a:pPr indent="0" marL="0">
              <a:lnSpc>
                <a:spcPct val="92000"/>
              </a:lnSpc>
              <a:buNone/>
            </a:pPr>
            <a:r>
              <a:rPr lang="en-US" sz="1000" dirty="0">
                <a:solidFill>
                  <a:srgbClr val="0F172A"/>
                </a:solidFill>
                <a:latin typeface="Calibri" pitchFamily="34" charset="0"/>
                <a:ea typeface="Calibri" pitchFamily="34" charset="-122"/>
                <a:cs typeface="Calibri" pitchFamily="34" charset="-120"/>
              </a:rPr>
              <a:t>Ten en cuenta: la semana adelantada que paga un cliente nuevo con su base **NO cuenta como recaudo del día** (es un movimiento interno, no plata que entró hoy). Si el número no cuadra por ese lado, es normal.</a:t>
            </a:r>
            <a:endParaRPr lang="en-US" sz="1000" dirty="0"/>
          </a:p>
        </p:txBody>
      </p:sp>
      <p:sp>
        <p:nvSpPr>
          <p:cNvPr id="42" name="Shape 40"/>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3" name="Text 41"/>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4" name="Text 42"/>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5:00 p.m. En Caja Diaria, COSTA muestra **$3.240.000 confirmados** en 16 pagos. El resumen por funcionario dice: EMIRO recogió **$606.000** en campo y tiene **$404.000 pendientes de entregar**. Le escribes: "pasa por la oficina antes de las 6". PRADERA muestra **$1.170.000** (clientes de tarifa vieja, $195.000 la semana, $26.000 el día).</a:t>
            </a:r>
            <a:endParaRPr lang="en-US" sz="1150" dirty="0"/>
          </a:p>
        </p:txBody>
      </p:sp>
      <p:sp>
        <p:nvSpPr>
          <p:cNvPr id="45" name="Shape 43"/>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6" name="Text 44"/>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47" name="Text 45"/>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Nunca cierres la caja con pagos en "⏳ Por confirmar": esa plata queda por fuera del cierre y al otro día aparece un descuadre que nadie sabe de dónde salió.</a:t>
            </a:r>
            <a:endParaRPr lang="en-US" sz="1100" dirty="0"/>
          </a:p>
        </p:txBody>
      </p:sp>
      <p:sp>
        <p:nvSpPr>
          <p:cNvPr id="48" name="Text 46"/>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9" name="Text 47"/>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ADMINISTRADOR</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entra un funcionario nuevo, o alguien deja de hacer una tarea (usuarios y permisos)</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Que cada persona vea y pueda hacer exactamente lo suyo, ni más ni menos. Es la protección contra que alguien registre plata que no le corresponde o vea clientes que no son suyos.</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21792"/>
          </a:xfrm>
          <a:prstGeom prst="rect">
            <a:avLst/>
          </a:prstGeom>
          <a:noFill/>
          <a:ln/>
        </p:spPr>
        <p:txBody>
          <a:bodyPr wrap="square" lIns="0" tIns="0" rIns="0" bIns="0" rtlCol="0" anchor="ctr"/>
          <a:lstStyle/>
          <a:p>
            <a:pPr indent="0" marL="0">
              <a:lnSpc>
                <a:spcPct val="92000"/>
              </a:lnSpc>
              <a:buNone/>
            </a:pPr>
            <a:r>
              <a:rPr lang="en-US" sz="1050" dirty="0">
                <a:solidFill>
                  <a:srgbClr val="0F172A"/>
                </a:solidFill>
                <a:latin typeface="Calibri" pitchFamily="34" charset="0"/>
                <a:ea typeface="Calibri" pitchFamily="34" charset="-122"/>
                <a:cs typeface="Calibri" pitchFamily="34" charset="-120"/>
              </a:rPr>
              <a:t>Entra a **Usuarios**. Si no lo ves, es porque solo el **ADMIN_PRINCIPAL** lo tiene: SERGIO (ADMIN) no lo ve, y así debe ser.</a:t>
            </a:r>
            <a:endParaRPr lang="en-US" sz="1050" dirty="0"/>
          </a:p>
        </p:txBody>
      </p:sp>
      <p:sp>
        <p:nvSpPr>
          <p:cNvPr id="27" name="Shape 25"/>
          <p:cNvSpPr/>
          <p:nvPr/>
        </p:nvSpPr>
        <p:spPr>
          <a:xfrm>
            <a:off x="4206240" y="2368296"/>
            <a:ext cx="274320" cy="274320"/>
          </a:xfrm>
          <a:prstGeom prst="ellipse">
            <a:avLst/>
          </a:prstGeom>
          <a:solidFill>
            <a:srgbClr val="0F172A"/>
          </a:solidFill>
          <a:ln/>
        </p:spPr>
      </p:sp>
      <p:sp>
        <p:nvSpPr>
          <p:cNvPr id="28" name="Text 26"/>
          <p:cNvSpPr/>
          <p:nvPr/>
        </p:nvSpPr>
        <p:spPr>
          <a:xfrm>
            <a:off x="4206240" y="2368296"/>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40864"/>
            <a:ext cx="3291840" cy="621792"/>
          </a:xfrm>
          <a:prstGeom prst="rect">
            <a:avLst/>
          </a:prstGeom>
          <a:noFill/>
          <a:ln/>
        </p:spPr>
        <p:txBody>
          <a:bodyPr wrap="square" lIns="0" tIns="0" rIns="0" bIns="0" rtlCol="0" anchor="ctr"/>
          <a:lstStyle/>
          <a:p>
            <a:pPr indent="0" marL="0">
              <a:lnSpc>
                <a:spcPct val="92000"/>
              </a:lnSpc>
              <a:buNone/>
            </a:pPr>
            <a:r>
              <a:rPr lang="en-US" sz="1050" dirty="0">
                <a:solidFill>
                  <a:srgbClr val="0F172A"/>
                </a:solidFill>
                <a:latin typeface="Calibri" pitchFamily="34" charset="0"/>
                <a:ea typeface="Calibri" pitchFamily="34" charset="-122"/>
                <a:cs typeface="Calibri" pitchFamily="34" charset="-120"/>
              </a:rPr>
              <a:t>Para crear un funcionario: llena nombre, correo, contraseña y elige el **rol**. Los roles son: **ADMIN_PRINCIPAL** (todo), **ADMIN** (toda la operación), **SUBADMIN** (solo sus motos asignadas), **SECRETARIA**…</a:t>
            </a:r>
            <a:endParaRPr lang="en-US" sz="1050" dirty="0"/>
          </a:p>
        </p:txBody>
      </p:sp>
      <p:sp>
        <p:nvSpPr>
          <p:cNvPr id="30" name="Shape 28"/>
          <p:cNvSpPr/>
          <p:nvPr/>
        </p:nvSpPr>
        <p:spPr>
          <a:xfrm>
            <a:off x="4206240" y="2990088"/>
            <a:ext cx="274320" cy="274320"/>
          </a:xfrm>
          <a:prstGeom prst="ellipse">
            <a:avLst/>
          </a:prstGeom>
          <a:solidFill>
            <a:srgbClr val="0F172A"/>
          </a:solidFill>
          <a:ln/>
        </p:spPr>
      </p:sp>
      <p:sp>
        <p:nvSpPr>
          <p:cNvPr id="31" name="Text 29"/>
          <p:cNvSpPr/>
          <p:nvPr/>
        </p:nvSpPr>
        <p:spPr>
          <a:xfrm>
            <a:off x="4206240" y="299008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62656"/>
            <a:ext cx="3291840" cy="621792"/>
          </a:xfrm>
          <a:prstGeom prst="rect">
            <a:avLst/>
          </a:prstGeom>
          <a:noFill/>
          <a:ln/>
        </p:spPr>
        <p:txBody>
          <a:bodyPr wrap="square" lIns="0" tIns="0" rIns="0" bIns="0" rtlCol="0" anchor="ctr"/>
          <a:lstStyle/>
          <a:p>
            <a:pPr indent="0" marL="0">
              <a:lnSpc>
                <a:spcPct val="92000"/>
              </a:lnSpc>
              <a:buNone/>
            </a:pPr>
            <a:r>
              <a:rPr lang="en-US" sz="1050" dirty="0">
                <a:solidFill>
                  <a:srgbClr val="0F172A"/>
                </a:solidFill>
                <a:latin typeface="Calibri" pitchFamily="34" charset="0"/>
                <a:ea typeface="Calibri" pitchFamily="34" charset="-122"/>
                <a:cs typeface="Calibri" pitchFamily="34" charset="-120"/>
              </a:rPr>
              <a:t>Para ajustar a una persona: tócala en la lista → se abre el árbol de permisos. Arriba está cada **módulo** (la pantalla que ve) con su casilla, y anidadas debajo las **acciones** que puede hacer dentro: registrar…</a:t>
            </a:r>
            <a:endParaRPr lang="en-US" sz="1050" dirty="0"/>
          </a:p>
        </p:txBody>
      </p:sp>
      <p:sp>
        <p:nvSpPr>
          <p:cNvPr id="33" name="Shape 31"/>
          <p:cNvSpPr/>
          <p:nvPr/>
        </p:nvSpPr>
        <p:spPr>
          <a:xfrm>
            <a:off x="4206240" y="3611880"/>
            <a:ext cx="274320" cy="274320"/>
          </a:xfrm>
          <a:prstGeom prst="ellipse">
            <a:avLst/>
          </a:prstGeom>
          <a:solidFill>
            <a:srgbClr val="0F172A"/>
          </a:solidFill>
          <a:ln/>
        </p:spPr>
      </p:sp>
      <p:sp>
        <p:nvSpPr>
          <p:cNvPr id="34" name="Text 32"/>
          <p:cNvSpPr/>
          <p:nvPr/>
        </p:nvSpPr>
        <p:spPr>
          <a:xfrm>
            <a:off x="4206240" y="361188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84448"/>
            <a:ext cx="3291840" cy="621792"/>
          </a:xfrm>
          <a:prstGeom prst="rect">
            <a:avLst/>
          </a:prstGeom>
          <a:noFill/>
          <a:ln/>
        </p:spPr>
        <p:txBody>
          <a:bodyPr wrap="square" lIns="0" tIns="0" rIns="0" bIns="0" rtlCol="0" anchor="ctr"/>
          <a:lstStyle/>
          <a:p>
            <a:pPr indent="0" marL="0">
              <a:lnSpc>
                <a:spcPct val="92000"/>
              </a:lnSpc>
              <a:buNone/>
            </a:pPr>
            <a:r>
              <a:rPr lang="en-US" sz="1050" dirty="0">
                <a:solidFill>
                  <a:srgbClr val="0F172A"/>
                </a:solidFill>
                <a:latin typeface="Calibri" pitchFamily="34" charset="0"/>
                <a:ea typeface="Calibri" pitchFamily="34" charset="-122"/>
                <a:cs typeface="Calibri" pitchFamily="34" charset="-120"/>
              </a:rPr>
              <a:t>Lo que cambies queda marcado con la etiqueta **"editado"** y arriba te dice cuántos permisos personalizaste. Si te enredaste, toca **"↺ volver a lo normal del rol"** y queda como venía de fábrica.</a:t>
            </a:r>
            <a:endParaRPr lang="en-US" sz="1050" dirty="0"/>
          </a:p>
        </p:txBody>
      </p:sp>
      <p:sp>
        <p:nvSpPr>
          <p:cNvPr id="36" name="Shape 34"/>
          <p:cNvSpPr/>
          <p:nvPr/>
        </p:nvSpPr>
        <p:spPr>
          <a:xfrm>
            <a:off x="4206240" y="4233672"/>
            <a:ext cx="274320" cy="274320"/>
          </a:xfrm>
          <a:prstGeom prst="ellipse">
            <a:avLst/>
          </a:prstGeom>
          <a:solidFill>
            <a:srgbClr val="0F172A"/>
          </a:solidFill>
          <a:ln/>
        </p:spPr>
      </p:sp>
      <p:sp>
        <p:nvSpPr>
          <p:cNvPr id="37" name="Text 35"/>
          <p:cNvSpPr/>
          <p:nvPr/>
        </p:nvSpPr>
        <p:spPr>
          <a:xfrm>
            <a:off x="4206240" y="4233672"/>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206240"/>
            <a:ext cx="3291840" cy="621792"/>
          </a:xfrm>
          <a:prstGeom prst="rect">
            <a:avLst/>
          </a:prstGeom>
          <a:noFill/>
          <a:ln/>
        </p:spPr>
        <p:txBody>
          <a:bodyPr wrap="square" lIns="0" tIns="0" rIns="0" bIns="0" rtlCol="0" anchor="ctr"/>
          <a:lstStyle/>
          <a:p>
            <a:pPr indent="0" marL="0">
              <a:lnSpc>
                <a:spcPct val="92000"/>
              </a:lnSpc>
              <a:buNone/>
            </a:pPr>
            <a:r>
              <a:rPr lang="en-US" sz="1050" dirty="0">
                <a:solidFill>
                  <a:srgbClr val="0F172A"/>
                </a:solidFill>
                <a:latin typeface="Calibri" pitchFamily="34" charset="0"/>
                <a:ea typeface="Calibri" pitchFamily="34" charset="-122"/>
                <a:cs typeface="Calibri" pitchFamily="34" charset="-120"/>
              </a:rPr>
              <a:t>Muy importante con el SUBADMIN: los permisos no bastan. Lo que define qué motos ve es la **asignación de motos**, que se hace en **Motos → seleccionar la moto → asignar sub-admin**.</a:t>
            </a:r>
            <a:endParaRPr lang="en-US" sz="1050" dirty="0"/>
          </a:p>
        </p:txBody>
      </p:sp>
      <p:sp>
        <p:nvSpPr>
          <p:cNvPr id="39" name="Shape 37"/>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0" name="Text 38"/>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1" name="Text 39"/>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Entra un cobrador nuevo para COSTA. Lo creas con rol **SUBADMIN**. Luego vas a **Motos**, filtras por grupo **COSTA** y le asignas las 40 placas que va a manejar. Cuando él entra, su Cartera muestra solo esas 40 y su pestaña **📋 Para hacer hoy** solo sus tareas.</a:t>
            </a:r>
            <a:endParaRPr lang="en-US" sz="1150" dirty="0"/>
          </a:p>
        </p:txBody>
      </p:sp>
      <p:sp>
        <p:nvSpPr>
          <p:cNvPr id="42" name="Shape 40"/>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3" name="Text 41"/>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44" name="Text 42"/>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Nunca subas a alguien a ADMIN "por ahora, para que haga una cosita": un ADMIN ve TODA la operación, todos los grupos y todos los clientes. Si necesitas que haga una sola cosa puntual, déjalo en su rol y actívale solo esa acción en el árbol de permisos.</a:t>
            </a:r>
            <a:endParaRPr lang="en-US" sz="1100" dirty="0"/>
          </a:p>
        </p:txBody>
      </p:sp>
      <p:sp>
        <p:nvSpPr>
          <p:cNvPr id="45" name="Text 43"/>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6" name="Text 44"/>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EL ADMINISTRADOR</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Cuando llega a pagar un cliente que venía del sistema viejo (empalme de COSTA y migrados)</a:t>
            </a:r>
            <a:endParaRPr lang="en-US" sz="2700" dirty="0"/>
          </a:p>
        </p:txBody>
      </p:sp>
      <p:sp>
        <p:nvSpPr>
          <p:cNvPr id="4" name="Text 2"/>
          <p:cNvSpPr/>
          <p:nvPr/>
        </p:nvSpPr>
        <p:spPr>
          <a:xfrm>
            <a:off x="548640" y="11887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Dejar en firme, con el cliente en frente y de acuerdo, cuánto ahorro traía y cuánto debía del sistema anterior. Es la única oportunidad de corregir esas cifras: una vez confirmadas, quedan selladas.</a:t>
            </a:r>
            <a:endParaRPr lang="en-US" sz="1300" dirty="0"/>
          </a:p>
        </p:txBody>
      </p:sp>
      <p:sp>
        <p:nvSpPr>
          <p:cNvPr id="5" name="Shape 3"/>
          <p:cNvSpPr/>
          <p:nvPr/>
        </p:nvSpPr>
        <p:spPr>
          <a:xfrm>
            <a:off x="640080" y="1691640"/>
            <a:ext cx="2286000" cy="3383280"/>
          </a:xfrm>
          <a:prstGeom prst="roundRect">
            <a:avLst>
              <a:gd name="adj" fmla="val 5600"/>
            </a:avLst>
          </a:prstGeom>
          <a:solidFill>
            <a:srgbClr val="FFFFFF"/>
          </a:solidFill>
          <a:ln w="25400">
            <a:solidFill>
              <a:srgbClr val="0F172A"/>
            </a:solidFill>
            <a:prstDash val="solid"/>
          </a:ln>
          <a:effectLst>
            <a:outerShdw sx="100000" sy="100000" kx="0" ky="0" algn="bl" rotWithShape="0" blurRad="101600" dist="38100" dir="5400000">
              <a:srgbClr val="94A3B8">
                <a:alpha val="30000"/>
              </a:srgbClr>
            </a:outerShdw>
          </a:effectLst>
        </p:spPr>
      </p:sp>
      <p:sp>
        <p:nvSpPr>
          <p:cNvPr id="6" name="Shape 4"/>
          <p:cNvSpPr/>
          <p:nvPr/>
        </p:nvSpPr>
        <p:spPr>
          <a:xfrm>
            <a:off x="694944" y="1746504"/>
            <a:ext cx="2176272" cy="329184"/>
          </a:xfrm>
          <a:prstGeom prst="rect">
            <a:avLst/>
          </a:prstGeom>
          <a:solidFill>
            <a:srgbClr val="0F172A"/>
          </a:solidFill>
          <a:ln/>
        </p:spPr>
      </p:sp>
      <p:sp>
        <p:nvSpPr>
          <p:cNvPr id="7" name="Text 5"/>
          <p:cNvSpPr/>
          <p:nvPr/>
        </p:nvSpPr>
        <p:spPr>
          <a:xfrm>
            <a:off x="768096" y="1746504"/>
            <a:ext cx="2029968" cy="32918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Cartera &amp; Cobros</a:t>
            </a:r>
            <a:endParaRPr lang="en-US" sz="900" dirty="0"/>
          </a:p>
        </p:txBody>
      </p:sp>
      <p:sp>
        <p:nvSpPr>
          <p:cNvPr id="8" name="Shape 6"/>
          <p:cNvSpPr/>
          <p:nvPr/>
        </p:nvSpPr>
        <p:spPr>
          <a:xfrm>
            <a:off x="740664" y="2167128"/>
            <a:ext cx="2084832" cy="347472"/>
          </a:xfrm>
          <a:prstGeom prst="roundRect">
            <a:avLst>
              <a:gd name="adj" fmla="val 13158"/>
            </a:avLst>
          </a:prstGeom>
          <a:solidFill>
            <a:srgbClr val="F1F5F9"/>
          </a:solidFill>
          <a:ln w="9525">
            <a:solidFill>
              <a:srgbClr val="E2E8F0"/>
            </a:solidFill>
            <a:prstDash val="solid"/>
          </a:ln>
        </p:spPr>
      </p:sp>
      <p:sp>
        <p:nvSpPr>
          <p:cNvPr id="9" name="Text 7"/>
          <p:cNvSpPr/>
          <p:nvPr/>
        </p:nvSpPr>
        <p:spPr>
          <a:xfrm>
            <a:off x="813816" y="2167128"/>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Todos</a:t>
            </a:r>
            <a:endParaRPr lang="en-US" sz="800" dirty="0"/>
          </a:p>
        </p:txBody>
      </p:sp>
      <p:sp>
        <p:nvSpPr>
          <p:cNvPr id="10" name="Shape 8"/>
          <p:cNvSpPr/>
          <p:nvPr/>
        </p:nvSpPr>
        <p:spPr>
          <a:xfrm>
            <a:off x="740664" y="2569464"/>
            <a:ext cx="2084832" cy="347472"/>
          </a:xfrm>
          <a:prstGeom prst="roundRect">
            <a:avLst>
              <a:gd name="adj" fmla="val 13158"/>
            </a:avLst>
          </a:prstGeom>
          <a:solidFill>
            <a:srgbClr val="E0F2FE"/>
          </a:solidFill>
          <a:ln w="19050">
            <a:solidFill>
              <a:srgbClr val="0284C7"/>
            </a:solidFill>
            <a:prstDash val="solid"/>
          </a:ln>
        </p:spPr>
      </p:sp>
      <p:sp>
        <p:nvSpPr>
          <p:cNvPr id="11" name="Text 9"/>
          <p:cNvSpPr/>
          <p:nvPr/>
        </p:nvSpPr>
        <p:spPr>
          <a:xfrm>
            <a:off x="813816" y="2569464"/>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Para hacer hoy</a:t>
            </a:r>
            <a:endParaRPr lang="en-US" sz="800" dirty="0"/>
          </a:p>
          <a:p>
            <a:pPr algn="l" indent="0" marL="0">
              <a:lnSpc>
                <a:spcPct val="90000"/>
              </a:lnSpc>
              <a:buNone/>
            </a:pPr>
            <a:r>
              <a:rPr lang="en-US" sz="650" dirty="0">
                <a:solidFill>
                  <a:srgbClr val="64748B"/>
                </a:solidFill>
                <a:latin typeface="Calibri" pitchFamily="34" charset="0"/>
                <a:ea typeface="Calibri" pitchFamily="34" charset="-122"/>
                <a:cs typeface="Calibri" pitchFamily="34" charset="-120"/>
              </a:rPr>
              <a:t>aquí se hace</a:t>
            </a:r>
            <a:endParaRPr lang="en-US" sz="800" dirty="0"/>
          </a:p>
        </p:txBody>
      </p:sp>
      <p:sp>
        <p:nvSpPr>
          <p:cNvPr id="12" name="Shape 10"/>
          <p:cNvSpPr/>
          <p:nvPr/>
        </p:nvSpPr>
        <p:spPr>
          <a:xfrm>
            <a:off x="740664" y="2971800"/>
            <a:ext cx="2084832" cy="347472"/>
          </a:xfrm>
          <a:prstGeom prst="roundRect">
            <a:avLst>
              <a:gd name="adj" fmla="val 13158"/>
            </a:avLst>
          </a:prstGeom>
          <a:solidFill>
            <a:srgbClr val="F1F5F9"/>
          </a:solidFill>
          <a:ln w="9525">
            <a:solidFill>
              <a:srgbClr val="E2E8F0"/>
            </a:solidFill>
            <a:prstDash val="solid"/>
          </a:ln>
        </p:spPr>
      </p:sp>
      <p:sp>
        <p:nvSpPr>
          <p:cNvPr id="13" name="Text 11"/>
          <p:cNvSpPr/>
          <p:nvPr/>
        </p:nvSpPr>
        <p:spPr>
          <a:xfrm>
            <a:off x="813816" y="2971800"/>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Por confirmar</a:t>
            </a:r>
            <a:endParaRPr lang="en-US" sz="800" dirty="0"/>
          </a:p>
        </p:txBody>
      </p:sp>
      <p:sp>
        <p:nvSpPr>
          <p:cNvPr id="14" name="Shape 12"/>
          <p:cNvSpPr/>
          <p:nvPr/>
        </p:nvSpPr>
        <p:spPr>
          <a:xfrm>
            <a:off x="740664" y="3374136"/>
            <a:ext cx="2084832" cy="347472"/>
          </a:xfrm>
          <a:prstGeom prst="roundRect">
            <a:avLst>
              <a:gd name="adj" fmla="val 13158"/>
            </a:avLst>
          </a:prstGeom>
          <a:solidFill>
            <a:srgbClr val="F1F5F9"/>
          </a:solidFill>
          <a:ln w="9525">
            <a:solidFill>
              <a:srgbClr val="E2E8F0"/>
            </a:solidFill>
            <a:prstDash val="solid"/>
          </a:ln>
        </p:spPr>
      </p:sp>
      <p:sp>
        <p:nvSpPr>
          <p:cNvPr id="15" name="Text 13"/>
          <p:cNvSpPr/>
          <p:nvPr/>
        </p:nvSpPr>
        <p:spPr>
          <a:xfrm>
            <a:off x="813816" y="3374136"/>
            <a:ext cx="1600200" cy="347472"/>
          </a:xfrm>
          <a:prstGeom prst="rect">
            <a:avLst/>
          </a:prstGeom>
          <a:noFill/>
          <a:ln/>
        </p:spPr>
        <p:txBody>
          <a:bodyPr wrap="square" lIns="0" tIns="0" rIns="0" bIns="0" rtlCol="0" anchor="ctr"/>
          <a:lstStyle/>
          <a:p>
            <a:pPr algn="l" indent="0" marL="0">
              <a:lnSpc>
                <a:spcPct val="90000"/>
              </a:lnSpc>
              <a:buNone/>
            </a:pPr>
            <a:r>
              <a:rPr lang="en-US" sz="800" b="1" dirty="0">
                <a:solidFill>
                  <a:srgbClr val="0F172A"/>
                </a:solidFill>
                <a:latin typeface="Calibri" pitchFamily="34" charset="0"/>
                <a:ea typeface="Calibri" pitchFamily="34" charset="-122"/>
                <a:cs typeface="Calibri" pitchFamily="34" charset="-120"/>
              </a:rPr>
              <a:t>🧾 Historial</a:t>
            </a:r>
            <a:endParaRPr lang="en-US" sz="800" dirty="0"/>
          </a:p>
        </p:txBody>
      </p:sp>
      <p:sp>
        <p:nvSpPr>
          <p:cNvPr id="16" name="Shape 14"/>
          <p:cNvSpPr/>
          <p:nvPr/>
        </p:nvSpPr>
        <p:spPr>
          <a:xfrm>
            <a:off x="694944" y="4690872"/>
            <a:ext cx="2176272" cy="329184"/>
          </a:xfrm>
          <a:prstGeom prst="rect">
            <a:avLst/>
          </a:prstGeom>
          <a:solidFill>
            <a:srgbClr val="F8FAFC"/>
          </a:solidFill>
          <a:ln w="9525">
            <a:solidFill>
              <a:srgbClr val="E2E8F0"/>
            </a:solidFill>
            <a:prstDash val="solid"/>
          </a:ln>
        </p:spPr>
      </p:sp>
      <p:sp>
        <p:nvSpPr>
          <p:cNvPr id="17" name="Text 15"/>
          <p:cNvSpPr/>
          <p:nvPr/>
        </p:nvSpPr>
        <p:spPr>
          <a:xfrm>
            <a:off x="694944"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Panel</a:t>
            </a:r>
            <a:endParaRPr lang="en-US" sz="600" dirty="0"/>
          </a:p>
        </p:txBody>
      </p:sp>
      <p:sp>
        <p:nvSpPr>
          <p:cNvPr id="18" name="Text 16"/>
          <p:cNvSpPr/>
          <p:nvPr/>
        </p:nvSpPr>
        <p:spPr>
          <a:xfrm>
            <a:off x="1130198"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Clientes</a:t>
            </a:r>
            <a:endParaRPr lang="en-US" sz="600" dirty="0"/>
          </a:p>
        </p:txBody>
      </p:sp>
      <p:sp>
        <p:nvSpPr>
          <p:cNvPr id="19" name="Text 17"/>
          <p:cNvSpPr/>
          <p:nvPr/>
        </p:nvSpPr>
        <p:spPr>
          <a:xfrm>
            <a:off x="1565453" y="4690872"/>
            <a:ext cx="435254" cy="329184"/>
          </a:xfrm>
          <a:prstGeom prst="rect">
            <a:avLst/>
          </a:prstGeom>
          <a:noFill/>
          <a:ln/>
        </p:spPr>
        <p:txBody>
          <a:bodyPr wrap="square" lIns="0" tIns="0" rIns="0" bIns="0" rtlCol="0" anchor="ctr"/>
          <a:lstStyle/>
          <a:p>
            <a:pPr algn="ctr" indent="0" marL="0">
              <a:buNone/>
            </a:pPr>
            <a:r>
              <a:rPr lang="en-US" sz="600" b="1" dirty="0">
                <a:solidFill>
                  <a:srgbClr val="0284C7"/>
                </a:solidFill>
                <a:latin typeface="Calibri" pitchFamily="34" charset="0"/>
                <a:ea typeface="Calibri" pitchFamily="34" charset="-122"/>
                <a:cs typeface="Calibri" pitchFamily="34" charset="-120"/>
              </a:rPr>
              <a:t>Cartera</a:t>
            </a:r>
            <a:endParaRPr lang="en-US" sz="600" dirty="0"/>
          </a:p>
        </p:txBody>
      </p:sp>
      <p:sp>
        <p:nvSpPr>
          <p:cNvPr id="20" name="Text 18"/>
          <p:cNvSpPr/>
          <p:nvPr/>
        </p:nvSpPr>
        <p:spPr>
          <a:xfrm>
            <a:off x="2000707"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Motos</a:t>
            </a:r>
            <a:endParaRPr lang="en-US" sz="600" dirty="0"/>
          </a:p>
        </p:txBody>
      </p:sp>
      <p:sp>
        <p:nvSpPr>
          <p:cNvPr id="21" name="Text 19"/>
          <p:cNvSpPr/>
          <p:nvPr/>
        </p:nvSpPr>
        <p:spPr>
          <a:xfrm>
            <a:off x="2435962" y="4690872"/>
            <a:ext cx="435254" cy="329184"/>
          </a:xfrm>
          <a:prstGeom prst="rect">
            <a:avLst/>
          </a:prstGeom>
          <a:noFill/>
          <a:ln/>
        </p:spPr>
        <p:txBody>
          <a:bodyPr wrap="square" lIns="0" tIns="0" rIns="0" bIns="0" rtlCol="0" anchor="ctr"/>
          <a:lstStyle/>
          <a:p>
            <a:pPr algn="ctr" indent="0" marL="0">
              <a:buNone/>
            </a:pPr>
            <a:r>
              <a:rPr lang="en-US" sz="600" dirty="0">
                <a:solidFill>
                  <a:srgbClr val="64748B"/>
                </a:solidFill>
                <a:latin typeface="Calibri" pitchFamily="34" charset="0"/>
                <a:ea typeface="Calibri" pitchFamily="34" charset="-122"/>
                <a:cs typeface="Calibri" pitchFamily="34" charset="-120"/>
              </a:rPr>
              <a:t>Más</a:t>
            </a:r>
            <a:endParaRPr lang="en-US" sz="600" dirty="0"/>
          </a:p>
        </p:txBody>
      </p:sp>
      <p:sp>
        <p:nvSpPr>
          <p:cNvPr id="22" name="Shape 20"/>
          <p:cNvSpPr/>
          <p:nvPr/>
        </p:nvSpPr>
        <p:spPr>
          <a:xfrm>
            <a:off x="640080" y="5230368"/>
            <a:ext cx="2286000" cy="384048"/>
          </a:xfrm>
          <a:prstGeom prst="roundRect">
            <a:avLst>
              <a:gd name="adj" fmla="val 23810"/>
            </a:avLst>
          </a:prstGeom>
          <a:solidFill>
            <a:srgbClr val="FFD100"/>
          </a:solidFill>
          <a:ln w="12700">
            <a:solidFill>
              <a:srgbClr val="0F172A"/>
            </a:solidFill>
            <a:prstDash val="solid"/>
          </a:ln>
        </p:spPr>
      </p:sp>
      <p:sp>
        <p:nvSpPr>
          <p:cNvPr id="23" name="Text 21"/>
          <p:cNvSpPr/>
          <p:nvPr/>
        </p:nvSpPr>
        <p:spPr>
          <a:xfrm>
            <a:off x="713232" y="5230368"/>
            <a:ext cx="2139696" cy="384048"/>
          </a:xfrm>
          <a:prstGeom prst="rect">
            <a:avLst/>
          </a:prstGeom>
          <a:noFill/>
          <a:ln/>
        </p:spPr>
        <p:txBody>
          <a:bodyPr wrap="square" lIns="0" tIns="0" rIns="0" bIns="0" rtlCol="0" anchor="ctr"/>
          <a:lstStyle/>
          <a:p>
            <a:pPr algn="ctr" indent="0" marL="0">
              <a:buNone/>
            </a:pPr>
            <a:r>
              <a:rPr lang="en-US" sz="950" b="1" dirty="0">
                <a:solidFill>
                  <a:srgbClr val="0F172A"/>
                </a:solidFill>
                <a:latin typeface="Calibri" pitchFamily="34" charset="0"/>
                <a:ea typeface="Calibri" pitchFamily="34" charset="-122"/>
                <a:cs typeface="Calibri" pitchFamily="34" charset="-120"/>
              </a:rPr>
              <a:t>Módulo Cartera</a:t>
            </a:r>
            <a:endParaRPr lang="en-US" sz="950" dirty="0"/>
          </a:p>
        </p:txBody>
      </p:sp>
      <p:sp>
        <p:nvSpPr>
          <p:cNvPr id="24" name="Shape 22"/>
          <p:cNvSpPr/>
          <p:nvPr/>
        </p:nvSpPr>
        <p:spPr>
          <a:xfrm>
            <a:off x="4206240" y="1746504"/>
            <a:ext cx="274320" cy="274320"/>
          </a:xfrm>
          <a:prstGeom prst="ellipse">
            <a:avLst/>
          </a:prstGeom>
          <a:solidFill>
            <a:srgbClr val="0F172A"/>
          </a:solidFill>
          <a:ln/>
        </p:spPr>
      </p:sp>
      <p:sp>
        <p:nvSpPr>
          <p:cNvPr id="25" name="Text 23"/>
          <p:cNvSpPr/>
          <p:nvPr/>
        </p:nvSpPr>
        <p:spPr>
          <a:xfrm>
            <a:off x="4206240" y="1746504"/>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4572000" y="1719072"/>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Reconoce el caso: en la lista de Cartera y en **📋 Para hacer hoy** estos clientes salen con la marca **⚠️ Empalme**. Mientras el empalme esté abierto el cliente se cobra normal — no se frena nada.</a:t>
            </a:r>
            <a:endParaRPr lang="en-US" sz="950" dirty="0"/>
          </a:p>
        </p:txBody>
      </p:sp>
      <p:sp>
        <p:nvSpPr>
          <p:cNvPr id="27" name="Shape 25"/>
          <p:cNvSpPr/>
          <p:nvPr/>
        </p:nvSpPr>
        <p:spPr>
          <a:xfrm>
            <a:off x="4206240" y="2353927"/>
            <a:ext cx="274320" cy="274320"/>
          </a:xfrm>
          <a:prstGeom prst="ellipse">
            <a:avLst/>
          </a:prstGeom>
          <a:solidFill>
            <a:srgbClr val="0F172A"/>
          </a:solidFill>
          <a:ln/>
        </p:spPr>
      </p:sp>
      <p:sp>
        <p:nvSpPr>
          <p:cNvPr id="28" name="Text 26"/>
          <p:cNvSpPr/>
          <p:nvPr/>
        </p:nvSpPr>
        <p:spPr>
          <a:xfrm>
            <a:off x="4206240" y="2353927"/>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4572000" y="2326495"/>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Cóbrale primero lo del día como a cualquier cliente. El empalme se hace después, con él ahí presente.</a:t>
            </a:r>
            <a:endParaRPr lang="en-US" sz="950" dirty="0"/>
          </a:p>
        </p:txBody>
      </p:sp>
      <p:sp>
        <p:nvSpPr>
          <p:cNvPr id="30" name="Shape 28"/>
          <p:cNvSpPr/>
          <p:nvPr/>
        </p:nvSpPr>
        <p:spPr>
          <a:xfrm>
            <a:off x="4206240" y="2961350"/>
            <a:ext cx="274320" cy="274320"/>
          </a:xfrm>
          <a:prstGeom prst="ellipse">
            <a:avLst/>
          </a:prstGeom>
          <a:solidFill>
            <a:srgbClr val="0F172A"/>
          </a:solidFill>
          <a:ln/>
        </p:spPr>
      </p:sp>
      <p:sp>
        <p:nvSpPr>
          <p:cNvPr id="31" name="Text 29"/>
          <p:cNvSpPr/>
          <p:nvPr/>
        </p:nvSpPr>
        <p:spPr>
          <a:xfrm>
            <a:off x="4206240" y="2961350"/>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4572000" y="2933918"/>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Abre el contrato en **Cartera** y busca arriba el recuadro amarillo **"⚠️ Empalme pendiente — cliente migrado sin revisar"**. Muestra dos cifras: **AHORRO QUE TRAÍA** y **DEUDA QUE TRAE**.</a:t>
            </a:r>
            <a:endParaRPr lang="en-US" sz="950" dirty="0"/>
          </a:p>
        </p:txBody>
      </p:sp>
      <p:sp>
        <p:nvSpPr>
          <p:cNvPr id="33" name="Shape 31"/>
          <p:cNvSpPr/>
          <p:nvPr/>
        </p:nvSpPr>
        <p:spPr>
          <a:xfrm>
            <a:off x="4206240" y="3568773"/>
            <a:ext cx="274320" cy="274320"/>
          </a:xfrm>
          <a:prstGeom prst="ellipse">
            <a:avLst/>
          </a:prstGeom>
          <a:solidFill>
            <a:srgbClr val="0F172A"/>
          </a:solidFill>
          <a:ln/>
        </p:spPr>
      </p:sp>
      <p:sp>
        <p:nvSpPr>
          <p:cNvPr id="34" name="Text 32"/>
          <p:cNvSpPr/>
          <p:nvPr/>
        </p:nvSpPr>
        <p:spPr>
          <a:xfrm>
            <a:off x="4206240" y="3568773"/>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4572000" y="3541341"/>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Léele las dos cifras en voz alta y compáralas con lo que él tenga anotado. Si una está mala, corrígela ANTES de confirmar: el ahorro se edita en **Editar contrato** (campo "Ahorro de apertura") y la deuda en la…</a:t>
            </a:r>
            <a:endParaRPr lang="en-US" sz="950" dirty="0"/>
          </a:p>
        </p:txBody>
      </p:sp>
      <p:sp>
        <p:nvSpPr>
          <p:cNvPr id="36" name="Shape 34"/>
          <p:cNvSpPr/>
          <p:nvPr/>
        </p:nvSpPr>
        <p:spPr>
          <a:xfrm>
            <a:off x="4206240" y="4176195"/>
            <a:ext cx="274320" cy="274320"/>
          </a:xfrm>
          <a:prstGeom prst="ellipse">
            <a:avLst/>
          </a:prstGeom>
          <a:solidFill>
            <a:srgbClr val="0F172A"/>
          </a:solidFill>
          <a:ln/>
        </p:spPr>
      </p:sp>
      <p:sp>
        <p:nvSpPr>
          <p:cNvPr id="37" name="Text 35"/>
          <p:cNvSpPr/>
          <p:nvPr/>
        </p:nvSpPr>
        <p:spPr>
          <a:xfrm>
            <a:off x="4206240" y="4176195"/>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4572000" y="4148763"/>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Marca la lista de chequeo del recuadro: **① deuda revisada · ② ahorro revisado · ③ teléfono y cédula verificados**. El punto ④ (autorización de datos con firma y huella) se marca solo cuando el cliente ya tiene…</a:t>
            </a:r>
            <a:endParaRPr lang="en-US" sz="950" dirty="0"/>
          </a:p>
        </p:txBody>
      </p:sp>
      <p:sp>
        <p:nvSpPr>
          <p:cNvPr id="39" name="Shape 37"/>
          <p:cNvSpPr/>
          <p:nvPr/>
        </p:nvSpPr>
        <p:spPr>
          <a:xfrm>
            <a:off x="4206240" y="4783618"/>
            <a:ext cx="274320" cy="274320"/>
          </a:xfrm>
          <a:prstGeom prst="ellipse">
            <a:avLst/>
          </a:prstGeom>
          <a:solidFill>
            <a:srgbClr val="0F172A"/>
          </a:solidFill>
          <a:ln/>
        </p:spPr>
      </p:sp>
      <p:sp>
        <p:nvSpPr>
          <p:cNvPr id="40" name="Text 38"/>
          <p:cNvSpPr/>
          <p:nvPr/>
        </p:nvSpPr>
        <p:spPr>
          <a:xfrm>
            <a:off x="4206240" y="4783618"/>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6</a:t>
            </a:r>
            <a:endParaRPr lang="en-US" sz="1000" dirty="0"/>
          </a:p>
        </p:txBody>
      </p:sp>
      <p:sp>
        <p:nvSpPr>
          <p:cNvPr id="41" name="Text 39"/>
          <p:cNvSpPr/>
          <p:nvPr/>
        </p:nvSpPr>
        <p:spPr>
          <a:xfrm>
            <a:off x="4572000" y="4756186"/>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Cuando los 4 puntos estén, toca **"Confirmar migración"**. Sale una advertencia de que las cifras viejas quedan selladas y que no se puede deshacer. Acepta solo si el cliente estuvo de acuerdo.</a:t>
            </a:r>
            <a:endParaRPr lang="en-US" sz="950" dirty="0"/>
          </a:p>
        </p:txBody>
      </p:sp>
      <p:sp>
        <p:nvSpPr>
          <p:cNvPr id="42" name="Shape 40"/>
          <p:cNvSpPr/>
          <p:nvPr/>
        </p:nvSpPr>
        <p:spPr>
          <a:xfrm>
            <a:off x="4206240" y="5391041"/>
            <a:ext cx="274320" cy="274320"/>
          </a:xfrm>
          <a:prstGeom prst="ellipse">
            <a:avLst/>
          </a:prstGeom>
          <a:solidFill>
            <a:srgbClr val="0F172A"/>
          </a:solidFill>
          <a:ln/>
        </p:spPr>
      </p:sp>
      <p:sp>
        <p:nvSpPr>
          <p:cNvPr id="43" name="Text 41"/>
          <p:cNvSpPr/>
          <p:nvPr/>
        </p:nvSpPr>
        <p:spPr>
          <a:xfrm>
            <a:off x="4206240" y="5391041"/>
            <a:ext cx="274320" cy="274320"/>
          </a:xfrm>
          <a:prstGeom prst="rect">
            <a:avLst/>
          </a:prstGeom>
          <a:noFill/>
          <a:ln/>
        </p:spPr>
        <p:txBody>
          <a:bodyPr wrap="square" lIns="0" tIns="0" rIns="0" bIns="0" rtlCol="0" anchor="ctr"/>
          <a:lstStyle/>
          <a:p>
            <a:pPr algn="ctr" indent="0" marL="0">
              <a:buNone/>
            </a:pPr>
            <a:r>
              <a:rPr lang="en-US" sz="1000" b="1" dirty="0">
                <a:solidFill>
                  <a:srgbClr val="FFD100"/>
                </a:solidFill>
                <a:latin typeface="Calibri" pitchFamily="34" charset="0"/>
                <a:ea typeface="Calibri" pitchFamily="34" charset="-122"/>
                <a:cs typeface="Calibri" pitchFamily="34" charset="-120"/>
              </a:rPr>
              <a:t>7</a:t>
            </a:r>
            <a:endParaRPr lang="en-US" sz="1000" dirty="0"/>
          </a:p>
        </p:txBody>
      </p:sp>
      <p:sp>
        <p:nvSpPr>
          <p:cNvPr id="44" name="Text 42"/>
          <p:cNvSpPr/>
          <p:nvPr/>
        </p:nvSpPr>
        <p:spPr>
          <a:xfrm>
            <a:off x="4572000" y="5363609"/>
            <a:ext cx="3291840" cy="607423"/>
          </a:xfrm>
          <a:prstGeom prst="rect">
            <a:avLst/>
          </a:prstGeom>
          <a:noFill/>
          <a:ln/>
        </p:spPr>
        <p:txBody>
          <a:bodyPr wrap="square" lIns="0" tIns="0" rIns="0" bIns="0" rtlCol="0" anchor="ctr"/>
          <a:lstStyle/>
          <a:p>
            <a:pPr indent="0" marL="0">
              <a:lnSpc>
                <a:spcPct val="92000"/>
              </a:lnSpc>
              <a:buNone/>
            </a:pPr>
            <a:r>
              <a:rPr lang="en-US" sz="950" dirty="0">
                <a:solidFill>
                  <a:srgbClr val="0F172A"/>
                </a:solidFill>
                <a:latin typeface="Calibri" pitchFamily="34" charset="0"/>
                <a:ea typeface="Calibri" pitchFamily="34" charset="-122"/>
                <a:cs typeface="Calibri" pitchFamily="34" charset="-120"/>
              </a:rPr>
              <a:t>Listo: la marca ⚠️ desaparece y el ahorro de apertura pasa a ser parte del ahorro acumulado normal.</a:t>
            </a:r>
            <a:endParaRPr lang="en-US" sz="950" dirty="0"/>
          </a:p>
        </p:txBody>
      </p:sp>
      <p:sp>
        <p:nvSpPr>
          <p:cNvPr id="45" name="Shape 43"/>
          <p:cNvSpPr/>
          <p:nvPr/>
        </p:nvSpPr>
        <p:spPr>
          <a:xfrm>
            <a:off x="8001000" y="1691640"/>
            <a:ext cx="3611880" cy="2331720"/>
          </a:xfrm>
          <a:prstGeom prst="roundRect">
            <a:avLst>
              <a:gd name="adj" fmla="val 3137"/>
            </a:avLst>
          </a:prstGeom>
          <a:solidFill>
            <a:srgbClr val="DCFCE7"/>
          </a:solidFill>
          <a:ln w="12700">
            <a:solidFill>
              <a:srgbClr val="16A34A"/>
            </a:solidFill>
            <a:prstDash val="solid"/>
          </a:ln>
        </p:spPr>
      </p:sp>
      <p:sp>
        <p:nvSpPr>
          <p:cNvPr id="46" name="Text 44"/>
          <p:cNvSpPr/>
          <p:nvPr/>
        </p:nvSpPr>
        <p:spPr>
          <a:xfrm>
            <a:off x="8147304" y="1764792"/>
            <a:ext cx="331927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7" name="Text 45"/>
          <p:cNvSpPr/>
          <p:nvPr/>
        </p:nvSpPr>
        <p:spPr>
          <a:xfrm>
            <a:off x="8147304" y="1984248"/>
            <a:ext cx="3319272" cy="194767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Llega **ANDRY BREA (RLZ93H)**, de COSTA, a pagar su semana de $202.000. Le registras el pago normal. Luego abres su contrato y el recuadro amarillo dice: **AHORRO QUE TRAÍA $1.240.000 · DEUDA QUE TRAE $404.000**. Se lo lees; él dice que el ahorro está bien pero que ya había abonado $100.000 de esa deuda.</a:t>
            </a:r>
            <a:endParaRPr lang="en-US" sz="1150" dirty="0"/>
          </a:p>
        </p:txBody>
      </p:sp>
      <p:sp>
        <p:nvSpPr>
          <p:cNvPr id="48" name="Shape 46"/>
          <p:cNvSpPr/>
          <p:nvPr/>
        </p:nvSpPr>
        <p:spPr>
          <a:xfrm>
            <a:off x="8001000" y="4160520"/>
            <a:ext cx="3611880" cy="1691640"/>
          </a:xfrm>
          <a:prstGeom prst="roundRect">
            <a:avLst>
              <a:gd name="adj" fmla="val 4324"/>
            </a:avLst>
          </a:prstGeom>
          <a:solidFill>
            <a:srgbClr val="FEF3C7"/>
          </a:solidFill>
          <a:ln w="12700">
            <a:solidFill>
              <a:srgbClr val="F59E0B"/>
            </a:solidFill>
            <a:prstDash val="solid"/>
          </a:ln>
        </p:spPr>
      </p:sp>
      <p:sp>
        <p:nvSpPr>
          <p:cNvPr id="49" name="Text 47"/>
          <p:cNvSpPr/>
          <p:nvPr/>
        </p:nvSpPr>
        <p:spPr>
          <a:xfrm>
            <a:off x="8147304" y="4233672"/>
            <a:ext cx="3319272" cy="219456"/>
          </a:xfrm>
          <a:prstGeom prst="rect">
            <a:avLst/>
          </a:prstGeom>
          <a:noFill/>
          <a:ln/>
        </p:spPr>
        <p:txBody>
          <a:bodyPr wrap="square" lIns="0" tIns="0" rIns="0" bIns="0" rtlCol="0" anchor="ctr"/>
          <a:lstStyle/>
          <a:p>
            <a:pPr indent="0" marL="0">
              <a:buNone/>
            </a:pPr>
            <a:r>
              <a:rPr lang="en-US" sz="900" b="1" spc="150" kern="0" dirty="0">
                <a:solidFill>
                  <a:srgbClr val="92400E"/>
                </a:solidFill>
                <a:latin typeface="Calibri" pitchFamily="34" charset="0"/>
                <a:ea typeface="Calibri" pitchFamily="34" charset="-122"/>
                <a:cs typeface="Calibri" pitchFamily="34" charset="-120"/>
              </a:rPr>
              <a:t>⚠ OJO</a:t>
            </a:r>
            <a:endParaRPr lang="en-US" sz="900" dirty="0"/>
          </a:p>
        </p:txBody>
      </p:sp>
      <p:sp>
        <p:nvSpPr>
          <p:cNvPr id="50" name="Text 48"/>
          <p:cNvSpPr/>
          <p:nvPr/>
        </p:nvSpPr>
        <p:spPr>
          <a:xfrm>
            <a:off x="8147304" y="4453128"/>
            <a:ext cx="3319272" cy="1307592"/>
          </a:xfrm>
          <a:prstGeom prst="rect">
            <a:avLst/>
          </a:prstGeom>
          <a:noFill/>
          <a:ln/>
        </p:spPr>
        <p:txBody>
          <a:bodyPr wrap="square" lIns="0" tIns="0" rIns="0" bIns="0" rtlCol="0" anchor="t"/>
          <a:lstStyle/>
          <a:p>
            <a:pPr indent="0" marL="0">
              <a:lnSpc>
                <a:spcPct val="105000"/>
              </a:lnSpc>
              <a:buNone/>
            </a:pPr>
            <a:r>
              <a:rPr lang="en-US" sz="1100" dirty="0">
                <a:solidFill>
                  <a:srgbClr val="92400E"/>
                </a:solidFill>
                <a:latin typeface="Calibri" pitchFamily="34" charset="0"/>
                <a:ea typeface="Calibri" pitchFamily="34" charset="-122"/>
                <a:cs typeface="Calibri" pitchFamily="34" charset="-120"/>
              </a:rPr>
              <a:t>La regla de oro es una sola: **nunca confirmes un empalme sin el cliente presente ni con la lista de chequeo a medias.** Si confirmas con una cifra mala, esa cifra queda sellada y arreglarla después es un lío que toca hacer por fuera del sistema.</a:t>
            </a:r>
            <a:endParaRPr lang="en-US" sz="1100" dirty="0"/>
          </a:p>
        </p:txBody>
      </p:sp>
      <p:sp>
        <p:nvSpPr>
          <p:cNvPr id="51" name="Text 49"/>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2" name="Text 50"/>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FD100"/>
          </a:solidFill>
          <a:ln/>
        </p:spPr>
      </p:sp>
      <p:sp>
        <p:nvSpPr>
          <p:cNvPr id="3" name="Text 1"/>
          <p:cNvSpPr/>
          <p:nvPr/>
        </p:nvSpPr>
        <p:spPr>
          <a:xfrm>
            <a:off x="914400" y="2468880"/>
            <a:ext cx="10058400" cy="310896"/>
          </a:xfrm>
          <a:prstGeom prst="rect">
            <a:avLst/>
          </a:prstGeom>
          <a:noFill/>
          <a:ln/>
        </p:spPr>
        <p:txBody>
          <a:bodyPr wrap="square" lIns="0" tIns="0" rIns="0" bIns="0" rtlCol="0" anchor="ctr"/>
          <a:lstStyle/>
          <a:p>
            <a:pPr indent="0" marL="0">
              <a:buNone/>
            </a:pPr>
            <a:r>
              <a:rPr lang="en-US" sz="1300" b="1" spc="250" kern="0" dirty="0">
                <a:solidFill>
                  <a:srgbClr val="38BDF8"/>
                </a:solidFill>
                <a:latin typeface="Calibri" pitchFamily="34" charset="0"/>
                <a:ea typeface="Calibri" pitchFamily="34" charset="-122"/>
                <a:cs typeface="Calibri" pitchFamily="34" charset="-120"/>
              </a:rPr>
              <a:t>CONSULTA RÁPIDA</a:t>
            </a:r>
            <a:endParaRPr lang="en-US" sz="1300" dirty="0"/>
          </a:p>
        </p:txBody>
      </p:sp>
      <p:sp>
        <p:nvSpPr>
          <p:cNvPr id="4" name="Text 2"/>
          <p:cNvSpPr/>
          <p:nvPr/>
        </p:nvSpPr>
        <p:spPr>
          <a:xfrm>
            <a:off x="914400" y="278892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¿Qué hago si…?</a:t>
            </a:r>
            <a:endParaRPr lang="en-US" sz="4000" dirty="0"/>
          </a:p>
        </p:txBody>
      </p:sp>
      <p:sp>
        <p:nvSpPr>
          <p:cNvPr id="5" name="Text 3"/>
          <p:cNvSpPr/>
          <p:nvPr/>
        </p:nvSpPr>
        <p:spPr>
          <a:xfrm>
            <a:off x="914400" y="3657600"/>
            <a:ext cx="9509760" cy="822960"/>
          </a:xfrm>
          <a:prstGeom prst="rect">
            <a:avLst/>
          </a:prstGeom>
          <a:noFill/>
          <a:ln/>
        </p:spPr>
        <p:txBody>
          <a:bodyPr wrap="square" lIns="0" tIns="0" rIns="0" bIns="0" rtlCol="0" anchor="ctr"/>
          <a:lstStyle/>
          <a:p>
            <a:pPr indent="0" marL="0">
              <a:lnSpc>
                <a:spcPct val="110000"/>
              </a:lnSpc>
              <a:buNone/>
            </a:pPr>
            <a:r>
              <a:rPr lang="en-US" sz="1450" dirty="0">
                <a:solidFill>
                  <a:srgbClr val="CBD5E1"/>
                </a:solidFill>
                <a:latin typeface="Calibri" pitchFamily="34" charset="0"/>
                <a:ea typeface="Calibri" pitchFamily="34" charset="-122"/>
                <a:cs typeface="Calibri" pitchFamily="34" charset="-120"/>
              </a:rPr>
              <a:t>Es la guía de consulta rápida para los casos que de verdad pasan en el mostrador y en la calle: el cliente dice algo, el funcionario abre esta hoja y encuentra el paso a paso exacto en la app. No explica el sistema completo, resuelve situaciones concretas.</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CONSULTA RÁPIDA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¿Qué hago si…?</a:t>
            </a:r>
            <a:endParaRPr lang="en-US" sz="2700" dirty="0"/>
          </a:p>
        </p:txBody>
      </p:sp>
      <p:sp>
        <p:nvSpPr>
          <p:cNvPr id="4" name="Shape 2"/>
          <p:cNvSpPr/>
          <p:nvPr/>
        </p:nvSpPr>
        <p:spPr>
          <a:xfrm>
            <a:off x="64008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5" name="Shape 3"/>
          <p:cNvSpPr/>
          <p:nvPr/>
        </p:nvSpPr>
        <p:spPr>
          <a:xfrm>
            <a:off x="640080" y="1371600"/>
            <a:ext cx="5394960" cy="475488"/>
          </a:xfrm>
          <a:prstGeom prst="roundRect">
            <a:avLst>
              <a:gd name="adj" fmla="val 19231"/>
            </a:avLst>
          </a:prstGeom>
          <a:solidFill>
            <a:srgbClr val="0F172A"/>
          </a:solidFill>
          <a:ln/>
        </p:spPr>
      </p:sp>
      <p:sp>
        <p:nvSpPr>
          <p:cNvPr id="6" name="Shape 4"/>
          <p:cNvSpPr/>
          <p:nvPr/>
        </p:nvSpPr>
        <p:spPr>
          <a:xfrm>
            <a:off x="640080" y="1664208"/>
            <a:ext cx="5394960" cy="182880"/>
          </a:xfrm>
          <a:prstGeom prst="rect">
            <a:avLst/>
          </a:prstGeom>
          <a:solidFill>
            <a:srgbClr val="0F172A"/>
          </a:solidFill>
          <a:ln/>
        </p:spPr>
      </p:sp>
      <p:sp>
        <p:nvSpPr>
          <p:cNvPr id="7" name="Text 5"/>
          <p:cNvSpPr/>
          <p:nvPr/>
        </p:nvSpPr>
        <p:spPr>
          <a:xfrm>
            <a:off x="78638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El cliente dice que ya pagó y aquí no me aparece</a:t>
            </a:r>
            <a:endParaRPr lang="en-US" sz="1150" dirty="0"/>
          </a:p>
        </p:txBody>
      </p:sp>
      <p:sp>
        <p:nvSpPr>
          <p:cNvPr id="8" name="Shape 6"/>
          <p:cNvSpPr/>
          <p:nvPr/>
        </p:nvSpPr>
        <p:spPr>
          <a:xfrm>
            <a:off x="804672" y="1975104"/>
            <a:ext cx="219456" cy="219456"/>
          </a:xfrm>
          <a:prstGeom prst="ellipse">
            <a:avLst/>
          </a:prstGeom>
          <a:solidFill>
            <a:srgbClr val="0284C7"/>
          </a:solidFill>
          <a:ln/>
        </p:spPr>
      </p:sp>
      <p:sp>
        <p:nvSpPr>
          <p:cNvPr id="9" name="Text 7"/>
          <p:cNvSpPr/>
          <p:nvPr/>
        </p:nvSpPr>
        <p:spPr>
          <a:xfrm>
            <a:off x="80467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Text 8"/>
          <p:cNvSpPr/>
          <p:nvPr/>
        </p:nvSpPr>
        <p:spPr>
          <a:xfrm>
            <a:off x="109728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Entra a Cartera → pestaña "🌎 Todos".</a:t>
            </a:r>
            <a:endParaRPr lang="en-US" sz="1000" dirty="0"/>
          </a:p>
        </p:txBody>
      </p:sp>
      <p:sp>
        <p:nvSpPr>
          <p:cNvPr id="11" name="Shape 9"/>
          <p:cNvSpPr/>
          <p:nvPr/>
        </p:nvSpPr>
        <p:spPr>
          <a:xfrm>
            <a:off x="804672" y="2340864"/>
            <a:ext cx="219456" cy="219456"/>
          </a:xfrm>
          <a:prstGeom prst="ellipse">
            <a:avLst/>
          </a:prstGeom>
          <a:solidFill>
            <a:srgbClr val="0284C7"/>
          </a:solidFill>
          <a:ln/>
        </p:spPr>
      </p:sp>
      <p:sp>
        <p:nvSpPr>
          <p:cNvPr id="12" name="Text 10"/>
          <p:cNvSpPr/>
          <p:nvPr/>
        </p:nvSpPr>
        <p:spPr>
          <a:xfrm>
            <a:off x="80467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3" name="Text 11"/>
          <p:cNvSpPr/>
          <p:nvPr/>
        </p:nvSpPr>
        <p:spPr>
          <a:xfrm>
            <a:off x="1097280" y="230428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En el buscador escribe la placa (ej. RLZ93H) y toca la tarjeta del cliente para abrir su detalle.</a:t>
            </a:r>
            <a:endParaRPr lang="en-US" sz="1000" dirty="0"/>
          </a:p>
        </p:txBody>
      </p:sp>
      <p:sp>
        <p:nvSpPr>
          <p:cNvPr id="14" name="Shape 12"/>
          <p:cNvSpPr/>
          <p:nvPr/>
        </p:nvSpPr>
        <p:spPr>
          <a:xfrm>
            <a:off x="804672" y="2706624"/>
            <a:ext cx="219456" cy="219456"/>
          </a:xfrm>
          <a:prstGeom prst="ellipse">
            <a:avLst/>
          </a:prstGeom>
          <a:solidFill>
            <a:srgbClr val="0284C7"/>
          </a:solidFill>
          <a:ln/>
        </p:spPr>
      </p:sp>
      <p:sp>
        <p:nvSpPr>
          <p:cNvPr id="15" name="Text 13"/>
          <p:cNvSpPr/>
          <p:nvPr/>
        </p:nvSpPr>
        <p:spPr>
          <a:xfrm>
            <a:off x="804672" y="270662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1097280" y="267004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Dentro del detalle, baja hasta la pestaña "Historial": ahí salen TODOS los pagos del contrato con fecha, método y monto.</a:t>
            </a:r>
            <a:endParaRPr lang="en-US" sz="1000" dirty="0"/>
          </a:p>
        </p:txBody>
      </p:sp>
      <p:sp>
        <p:nvSpPr>
          <p:cNvPr id="17" name="Shape 15"/>
          <p:cNvSpPr/>
          <p:nvPr/>
        </p:nvSpPr>
        <p:spPr>
          <a:xfrm>
            <a:off x="804672" y="3218688"/>
            <a:ext cx="219456" cy="219456"/>
          </a:xfrm>
          <a:prstGeom prst="ellipse">
            <a:avLst/>
          </a:prstGeom>
          <a:solidFill>
            <a:srgbClr val="0284C7"/>
          </a:solidFill>
          <a:ln/>
        </p:spPr>
      </p:sp>
      <p:sp>
        <p:nvSpPr>
          <p:cNvPr id="18" name="Text 16"/>
          <p:cNvSpPr/>
          <p:nvPr/>
        </p:nvSpPr>
        <p:spPr>
          <a:xfrm>
            <a:off x="804672" y="32186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9" name="Text 17"/>
          <p:cNvSpPr/>
          <p:nvPr/>
        </p:nvSpPr>
        <p:spPr>
          <a:xfrm>
            <a:off x="1097280" y="3182112"/>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Si el pago aparece con el sello amarillo "Pendiente": el pago SÍ está registrado, solo falta que la secretaria lo confirme.</a:t>
            </a:r>
            <a:endParaRPr lang="en-US" sz="1000" dirty="0"/>
          </a:p>
        </p:txBody>
      </p:sp>
      <p:sp>
        <p:nvSpPr>
          <p:cNvPr id="20" name="Shape 18"/>
          <p:cNvSpPr/>
          <p:nvPr/>
        </p:nvSpPr>
        <p:spPr>
          <a:xfrm>
            <a:off x="804672" y="3730752"/>
            <a:ext cx="219456" cy="219456"/>
          </a:xfrm>
          <a:prstGeom prst="ellipse">
            <a:avLst/>
          </a:prstGeom>
          <a:solidFill>
            <a:srgbClr val="0284C7"/>
          </a:solidFill>
          <a:ln/>
        </p:spPr>
      </p:sp>
      <p:sp>
        <p:nvSpPr>
          <p:cNvPr id="21" name="Text 19"/>
          <p:cNvSpPr/>
          <p:nvPr/>
        </p:nvSpPr>
        <p:spPr>
          <a:xfrm>
            <a:off x="804672" y="3730752"/>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2" name="Text 20"/>
          <p:cNvSpPr/>
          <p:nvPr/>
        </p:nvSpPr>
        <p:spPr>
          <a:xfrm>
            <a:off x="1097280" y="3694176"/>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Si no aparece nada, pídele la foto del comprobante y mira la fecha. Si fue transferencia, ve a Cartera → pestaña "⏳ Por confirmar" → bloque…</a:t>
            </a:r>
            <a:endParaRPr lang="en-US" sz="1000" dirty="0"/>
          </a:p>
        </p:txBody>
      </p:sp>
      <p:sp>
        <p:nvSpPr>
          <p:cNvPr id="23" name="Shape 21"/>
          <p:cNvSpPr/>
          <p:nvPr/>
        </p:nvSpPr>
        <p:spPr>
          <a:xfrm>
            <a:off x="804672" y="4242816"/>
            <a:ext cx="219456" cy="219456"/>
          </a:xfrm>
          <a:prstGeom prst="ellipse">
            <a:avLst/>
          </a:prstGeom>
          <a:solidFill>
            <a:srgbClr val="0284C7"/>
          </a:solidFill>
          <a:ln/>
        </p:spPr>
      </p:sp>
      <p:sp>
        <p:nvSpPr>
          <p:cNvPr id="24" name="Text 22"/>
          <p:cNvSpPr/>
          <p:nvPr/>
        </p:nvSpPr>
        <p:spPr>
          <a:xfrm>
            <a:off x="804672" y="4242816"/>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25" name="Text 23"/>
          <p:cNvSpPr/>
          <p:nvPr/>
        </p:nvSpPr>
        <p:spPr>
          <a:xfrm>
            <a:off x="1097280" y="4206240"/>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Si tampoco está en ningún lado, el pago nunca se registró: regístralo con la FECHA REAL en que pagó (no la de hoy) y adjunta la foto del comprobante.</a:t>
            </a:r>
            <a:endParaRPr lang="en-US" sz="1000" dirty="0"/>
          </a:p>
        </p:txBody>
      </p:sp>
      <p:sp>
        <p:nvSpPr>
          <p:cNvPr id="26" name="Text 24"/>
          <p:cNvSpPr/>
          <p:nvPr/>
        </p:nvSpPr>
        <p:spPr>
          <a:xfrm>
            <a:off x="80467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NUNCA registres un segundo pago "por si acaso". Si lo haces, el sistema le abona dos semanas y el cliente queda al día debiendo plata.</a:t>
            </a:r>
            <a:endParaRPr lang="en-US" sz="950" dirty="0"/>
          </a:p>
        </p:txBody>
      </p:sp>
      <p:sp>
        <p:nvSpPr>
          <p:cNvPr id="27" name="Shape 25"/>
          <p:cNvSpPr/>
          <p:nvPr/>
        </p:nvSpPr>
        <p:spPr>
          <a:xfrm>
            <a:off x="640080" y="5138928"/>
            <a:ext cx="5394960" cy="1097280"/>
          </a:xfrm>
          <a:prstGeom prst="roundRect">
            <a:avLst>
              <a:gd name="adj" fmla="val 6667"/>
            </a:avLst>
          </a:prstGeom>
          <a:solidFill>
            <a:srgbClr val="DCFCE7"/>
          </a:solidFill>
          <a:ln w="12700">
            <a:solidFill>
              <a:srgbClr val="16A34A"/>
            </a:solidFill>
            <a:prstDash val="solid"/>
          </a:ln>
        </p:spPr>
      </p:sp>
      <p:sp>
        <p:nvSpPr>
          <p:cNvPr id="28" name="Text 26"/>
          <p:cNvSpPr/>
          <p:nvPr/>
        </p:nvSpPr>
        <p:spPr>
          <a:xfrm>
            <a:off x="78638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29" name="Text 27"/>
          <p:cNvSpPr/>
          <p:nvPr/>
        </p:nvSpPr>
        <p:spPr>
          <a:xfrm>
            <a:off x="78638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ANDRY BREA (RLZ93H) llega diciendo que pagó $202.000 el lunes. En Historial aparece un pago de $202.000 del lunes en estado "Pendiente": EMIRO se lo cobró en la calle y todavía no le ha entregado el efectivo a ANGELA.</a:t>
            </a:r>
            <a:endParaRPr lang="en-US" sz="1150" dirty="0"/>
          </a:p>
        </p:txBody>
      </p:sp>
      <p:sp>
        <p:nvSpPr>
          <p:cNvPr id="30" name="Shape 28"/>
          <p:cNvSpPr/>
          <p:nvPr/>
        </p:nvSpPr>
        <p:spPr>
          <a:xfrm>
            <a:off x="640080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31" name="Shape 29"/>
          <p:cNvSpPr/>
          <p:nvPr/>
        </p:nvSpPr>
        <p:spPr>
          <a:xfrm>
            <a:off x="6400800" y="1371600"/>
            <a:ext cx="5394960" cy="475488"/>
          </a:xfrm>
          <a:prstGeom prst="roundRect">
            <a:avLst>
              <a:gd name="adj" fmla="val 19231"/>
            </a:avLst>
          </a:prstGeom>
          <a:solidFill>
            <a:srgbClr val="0F172A"/>
          </a:solidFill>
          <a:ln/>
        </p:spPr>
      </p:sp>
      <p:sp>
        <p:nvSpPr>
          <p:cNvPr id="32" name="Shape 30"/>
          <p:cNvSpPr/>
          <p:nvPr/>
        </p:nvSpPr>
        <p:spPr>
          <a:xfrm>
            <a:off x="6400800" y="1664208"/>
            <a:ext cx="5394960" cy="182880"/>
          </a:xfrm>
          <a:prstGeom prst="rect">
            <a:avLst/>
          </a:prstGeom>
          <a:solidFill>
            <a:srgbClr val="0F172A"/>
          </a:solidFill>
          <a:ln/>
        </p:spPr>
      </p:sp>
      <p:sp>
        <p:nvSpPr>
          <p:cNvPr id="33" name="Text 31"/>
          <p:cNvSpPr/>
          <p:nvPr/>
        </p:nvSpPr>
        <p:spPr>
          <a:xfrm>
            <a:off x="654710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 trae menos de lo que le toca — ¿le recibo?</a:t>
            </a:r>
            <a:endParaRPr lang="en-US" sz="1150" dirty="0"/>
          </a:p>
        </p:txBody>
      </p:sp>
      <p:sp>
        <p:nvSpPr>
          <p:cNvPr id="34" name="Shape 32"/>
          <p:cNvSpPr/>
          <p:nvPr/>
        </p:nvSpPr>
        <p:spPr>
          <a:xfrm>
            <a:off x="6565392" y="1975104"/>
            <a:ext cx="219456" cy="219456"/>
          </a:xfrm>
          <a:prstGeom prst="ellipse">
            <a:avLst/>
          </a:prstGeom>
          <a:solidFill>
            <a:srgbClr val="0284C7"/>
          </a:solidFill>
          <a:ln/>
        </p:spPr>
      </p:sp>
      <p:sp>
        <p:nvSpPr>
          <p:cNvPr id="35" name="Text 33"/>
          <p:cNvSpPr/>
          <p:nvPr/>
        </p:nvSpPr>
        <p:spPr>
          <a:xfrm>
            <a:off x="656539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6" name="Text 34"/>
          <p:cNvSpPr/>
          <p:nvPr/>
        </p:nvSpPr>
        <p:spPr>
          <a:xfrm>
            <a:off x="685800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Sí se le recibe: todo peso que entre es bueno. Nunca lo devuelvas.</a:t>
            </a:r>
            <a:endParaRPr lang="en-US" sz="1000" dirty="0"/>
          </a:p>
        </p:txBody>
      </p:sp>
      <p:sp>
        <p:nvSpPr>
          <p:cNvPr id="37" name="Shape 35"/>
          <p:cNvSpPr/>
          <p:nvPr/>
        </p:nvSpPr>
        <p:spPr>
          <a:xfrm>
            <a:off x="6565392" y="2340864"/>
            <a:ext cx="219456" cy="219456"/>
          </a:xfrm>
          <a:prstGeom prst="ellipse">
            <a:avLst/>
          </a:prstGeom>
          <a:solidFill>
            <a:srgbClr val="0284C7"/>
          </a:solidFill>
          <a:ln/>
        </p:spPr>
      </p:sp>
      <p:sp>
        <p:nvSpPr>
          <p:cNvPr id="38" name="Text 36"/>
          <p:cNvSpPr/>
          <p:nvPr/>
        </p:nvSpPr>
        <p:spPr>
          <a:xfrm>
            <a:off x="656539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9" name="Text 37"/>
          <p:cNvSpPr/>
          <p:nvPr/>
        </p:nvSpPr>
        <p:spPr>
          <a:xfrm>
            <a:off x="6858000" y="230428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Cartera → "🌎 Todos" → busca la placa → abre el detalle → botón "Registrar pago" (ahí solo entra efectivo, a propósito).</a:t>
            </a:r>
            <a:endParaRPr lang="en-US" sz="1000" dirty="0"/>
          </a:p>
        </p:txBody>
      </p:sp>
      <p:sp>
        <p:nvSpPr>
          <p:cNvPr id="40" name="Shape 38"/>
          <p:cNvSpPr/>
          <p:nvPr/>
        </p:nvSpPr>
        <p:spPr>
          <a:xfrm>
            <a:off x="6565392" y="2852928"/>
            <a:ext cx="219456" cy="219456"/>
          </a:xfrm>
          <a:prstGeom prst="ellipse">
            <a:avLst/>
          </a:prstGeom>
          <a:solidFill>
            <a:srgbClr val="0284C7"/>
          </a:solidFill>
          <a:ln/>
        </p:spPr>
      </p:sp>
      <p:sp>
        <p:nvSpPr>
          <p:cNvPr id="41" name="Text 39"/>
          <p:cNvSpPr/>
          <p:nvPr/>
        </p:nvSpPr>
        <p:spPr>
          <a:xfrm>
            <a:off x="6565392" y="285292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42" name="Text 40"/>
          <p:cNvSpPr/>
          <p:nvPr/>
        </p:nvSpPr>
        <p:spPr>
          <a:xfrm>
            <a:off x="6858000" y="2816352"/>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Escribe el monto EXACTO que te entregó, sin redondear.</a:t>
            </a:r>
            <a:endParaRPr lang="en-US" sz="1000" dirty="0"/>
          </a:p>
        </p:txBody>
      </p:sp>
      <p:sp>
        <p:nvSpPr>
          <p:cNvPr id="43" name="Shape 41"/>
          <p:cNvSpPr/>
          <p:nvPr/>
        </p:nvSpPr>
        <p:spPr>
          <a:xfrm>
            <a:off x="6565392" y="3218688"/>
            <a:ext cx="219456" cy="219456"/>
          </a:xfrm>
          <a:prstGeom prst="ellipse">
            <a:avLst/>
          </a:prstGeom>
          <a:solidFill>
            <a:srgbClr val="0284C7"/>
          </a:solidFill>
          <a:ln/>
        </p:spPr>
      </p:sp>
      <p:sp>
        <p:nvSpPr>
          <p:cNvPr id="44" name="Text 42"/>
          <p:cNvSpPr/>
          <p:nvPr/>
        </p:nvSpPr>
        <p:spPr>
          <a:xfrm>
            <a:off x="6565392" y="32186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45" name="Text 43"/>
          <p:cNvSpPr/>
          <p:nvPr/>
        </p:nvSpPr>
        <p:spPr>
          <a:xfrm>
            <a:off x="6858000" y="3182112"/>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Sale la ventana de confirmación con el nombre, la placa y el monto: verifica que sea el cliente correcto y confirma.</a:t>
            </a:r>
            <a:endParaRPr lang="en-US" sz="1000" dirty="0"/>
          </a:p>
        </p:txBody>
      </p:sp>
      <p:sp>
        <p:nvSpPr>
          <p:cNvPr id="46" name="Shape 44"/>
          <p:cNvSpPr/>
          <p:nvPr/>
        </p:nvSpPr>
        <p:spPr>
          <a:xfrm>
            <a:off x="6565392" y="3730752"/>
            <a:ext cx="219456" cy="219456"/>
          </a:xfrm>
          <a:prstGeom prst="ellipse">
            <a:avLst/>
          </a:prstGeom>
          <a:solidFill>
            <a:srgbClr val="0284C7"/>
          </a:solidFill>
          <a:ln/>
        </p:spPr>
      </p:sp>
      <p:sp>
        <p:nvSpPr>
          <p:cNvPr id="47" name="Text 45"/>
          <p:cNvSpPr/>
          <p:nvPr/>
        </p:nvSpPr>
        <p:spPr>
          <a:xfrm>
            <a:off x="6565392" y="3730752"/>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48" name="Text 46"/>
          <p:cNvSpPr/>
          <p:nvPr/>
        </p:nvSpPr>
        <p:spPr>
          <a:xfrm>
            <a:off x="6858000" y="3694176"/>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Después del pago, mira en el detalle cuánto sigue debiendo y díselo en voz alta al cliente para que no se vaya creyendo que quedó al día.</a:t>
            </a:r>
            <a:endParaRPr lang="en-US" sz="1000" dirty="0"/>
          </a:p>
        </p:txBody>
      </p:sp>
      <p:sp>
        <p:nvSpPr>
          <p:cNvPr id="49" name="Text 47"/>
          <p:cNvSpPr/>
          <p:nvPr/>
        </p:nvSpPr>
        <p:spPr>
          <a:xfrm>
            <a:off x="656539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Un abono NO saca de la mora ni de la lista de recolección. Si le dices "quedaste al día", mañana el cobrador llega a buscar la moto y…</a:t>
            </a:r>
            <a:endParaRPr lang="en-US" sz="950" dirty="0"/>
          </a:p>
        </p:txBody>
      </p:sp>
      <p:sp>
        <p:nvSpPr>
          <p:cNvPr id="50" name="Shape 48"/>
          <p:cNvSpPr/>
          <p:nvPr/>
        </p:nvSpPr>
        <p:spPr>
          <a:xfrm>
            <a:off x="6400800" y="5138928"/>
            <a:ext cx="5394960" cy="1097280"/>
          </a:xfrm>
          <a:prstGeom prst="roundRect">
            <a:avLst>
              <a:gd name="adj" fmla="val 6667"/>
            </a:avLst>
          </a:prstGeom>
          <a:solidFill>
            <a:srgbClr val="DCFCE7"/>
          </a:solidFill>
          <a:ln w="12700">
            <a:solidFill>
              <a:srgbClr val="16A34A"/>
            </a:solidFill>
            <a:prstDash val="solid"/>
          </a:ln>
        </p:spPr>
      </p:sp>
      <p:sp>
        <p:nvSpPr>
          <p:cNvPr id="51" name="Text 49"/>
          <p:cNvSpPr/>
          <p:nvPr/>
        </p:nvSpPr>
        <p:spPr>
          <a:xfrm>
            <a:off x="654710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52" name="Text 50"/>
          <p:cNvSpPr/>
          <p:nvPr/>
        </p:nvSpPr>
        <p:spPr>
          <a:xfrm>
            <a:off x="654710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MARTHA ALVAREZ (RLT68H) tiene cuota semanal de $202.000 y solo trae $120.000. Se le reciben los $120.000. Como de esa semana primero se paga la parte de la empresa ($176.000), esos $120.000 no le suman NADA de ahorro todavía, y la…</a:t>
            </a:r>
            <a:endParaRPr lang="en-US" sz="1150" dirty="0"/>
          </a:p>
        </p:txBody>
      </p:sp>
      <p:sp>
        <p:nvSpPr>
          <p:cNvPr id="53" name="Text 51"/>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4" name="Text 52"/>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CONSULTA RÁPIDA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¿Qué hago si…?</a:t>
            </a:r>
            <a:endParaRPr lang="en-US" sz="2700" dirty="0"/>
          </a:p>
        </p:txBody>
      </p:sp>
      <p:sp>
        <p:nvSpPr>
          <p:cNvPr id="4" name="Shape 2"/>
          <p:cNvSpPr/>
          <p:nvPr/>
        </p:nvSpPr>
        <p:spPr>
          <a:xfrm>
            <a:off x="64008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5" name="Shape 3"/>
          <p:cNvSpPr/>
          <p:nvPr/>
        </p:nvSpPr>
        <p:spPr>
          <a:xfrm>
            <a:off x="640080" y="1371600"/>
            <a:ext cx="5394960" cy="475488"/>
          </a:xfrm>
          <a:prstGeom prst="roundRect">
            <a:avLst>
              <a:gd name="adj" fmla="val 19231"/>
            </a:avLst>
          </a:prstGeom>
          <a:solidFill>
            <a:srgbClr val="0F172A"/>
          </a:solidFill>
          <a:ln/>
        </p:spPr>
      </p:sp>
      <p:sp>
        <p:nvSpPr>
          <p:cNvPr id="6" name="Shape 4"/>
          <p:cNvSpPr/>
          <p:nvPr/>
        </p:nvSpPr>
        <p:spPr>
          <a:xfrm>
            <a:off x="640080" y="1664208"/>
            <a:ext cx="5394960" cy="182880"/>
          </a:xfrm>
          <a:prstGeom prst="rect">
            <a:avLst/>
          </a:prstGeom>
          <a:solidFill>
            <a:srgbClr val="0F172A"/>
          </a:solidFill>
          <a:ln/>
        </p:spPr>
      </p:sp>
      <p:sp>
        <p:nvSpPr>
          <p:cNvPr id="7" name="Text 5"/>
          <p:cNvSpPr/>
          <p:nvPr/>
        </p:nvSpPr>
        <p:spPr>
          <a:xfrm>
            <a:off x="78638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Perdí la llave de la moto, necesito una copia</a:t>
            </a:r>
            <a:endParaRPr lang="en-US" sz="1150" dirty="0"/>
          </a:p>
        </p:txBody>
      </p:sp>
      <p:sp>
        <p:nvSpPr>
          <p:cNvPr id="8" name="Shape 6"/>
          <p:cNvSpPr/>
          <p:nvPr/>
        </p:nvSpPr>
        <p:spPr>
          <a:xfrm>
            <a:off x="804672" y="1975104"/>
            <a:ext cx="219456" cy="219456"/>
          </a:xfrm>
          <a:prstGeom prst="ellipse">
            <a:avLst/>
          </a:prstGeom>
          <a:solidFill>
            <a:srgbClr val="0284C7"/>
          </a:solidFill>
          <a:ln/>
        </p:spPr>
      </p:sp>
      <p:sp>
        <p:nvSpPr>
          <p:cNvPr id="9" name="Text 7"/>
          <p:cNvSpPr/>
          <p:nvPr/>
        </p:nvSpPr>
        <p:spPr>
          <a:xfrm>
            <a:off x="80467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Text 8"/>
          <p:cNvSpPr/>
          <p:nvPr/>
        </p:nvSpPr>
        <p:spPr>
          <a:xfrm>
            <a:off x="109728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Menú "☰ Más" → "Tarjetas y Llaves".</a:t>
            </a:r>
            <a:endParaRPr lang="en-US" sz="1000" dirty="0"/>
          </a:p>
        </p:txBody>
      </p:sp>
      <p:sp>
        <p:nvSpPr>
          <p:cNvPr id="11" name="Shape 9"/>
          <p:cNvSpPr/>
          <p:nvPr/>
        </p:nvSpPr>
        <p:spPr>
          <a:xfrm>
            <a:off x="804672" y="2340864"/>
            <a:ext cx="219456" cy="219456"/>
          </a:xfrm>
          <a:prstGeom prst="ellipse">
            <a:avLst/>
          </a:prstGeom>
          <a:solidFill>
            <a:srgbClr val="0284C7"/>
          </a:solidFill>
          <a:ln/>
        </p:spPr>
      </p:sp>
      <p:sp>
        <p:nvSpPr>
          <p:cNvPr id="12" name="Text 10"/>
          <p:cNvSpPr/>
          <p:nvPr/>
        </p:nvSpPr>
        <p:spPr>
          <a:xfrm>
            <a:off x="80467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3" name="Text 11"/>
          <p:cNvSpPr/>
          <p:nvPr/>
        </p:nvSpPr>
        <p:spPr>
          <a:xfrm>
            <a:off x="1097280" y="230428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Botón "📤 Prestar" (arriba a la derecha).</a:t>
            </a:r>
            <a:endParaRPr lang="en-US" sz="1000" dirty="0"/>
          </a:p>
        </p:txBody>
      </p:sp>
      <p:sp>
        <p:nvSpPr>
          <p:cNvPr id="14" name="Shape 12"/>
          <p:cNvSpPr/>
          <p:nvPr/>
        </p:nvSpPr>
        <p:spPr>
          <a:xfrm>
            <a:off x="804672" y="2706624"/>
            <a:ext cx="219456" cy="219456"/>
          </a:xfrm>
          <a:prstGeom prst="ellipse">
            <a:avLst/>
          </a:prstGeom>
          <a:solidFill>
            <a:srgbClr val="0284C7"/>
          </a:solidFill>
          <a:ln/>
        </p:spPr>
      </p:sp>
      <p:sp>
        <p:nvSpPr>
          <p:cNvPr id="15" name="Text 13"/>
          <p:cNvSpPr/>
          <p:nvPr/>
        </p:nvSpPr>
        <p:spPr>
          <a:xfrm>
            <a:off x="804672" y="270662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1097280" y="267004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En "Moto" escribe la placa y tócala en la lista — el nombre del cliente se llena SOLO con el del contrato.</a:t>
            </a:r>
            <a:endParaRPr lang="en-US" sz="1000" dirty="0"/>
          </a:p>
        </p:txBody>
      </p:sp>
      <p:sp>
        <p:nvSpPr>
          <p:cNvPr id="17" name="Shape 15"/>
          <p:cNvSpPr/>
          <p:nvPr/>
        </p:nvSpPr>
        <p:spPr>
          <a:xfrm>
            <a:off x="804672" y="3072384"/>
            <a:ext cx="219456" cy="219456"/>
          </a:xfrm>
          <a:prstGeom prst="ellipse">
            <a:avLst/>
          </a:prstGeom>
          <a:solidFill>
            <a:srgbClr val="0284C7"/>
          </a:solidFill>
          <a:ln/>
        </p:spPr>
      </p:sp>
      <p:sp>
        <p:nvSpPr>
          <p:cNvPr id="18" name="Text 16"/>
          <p:cNvSpPr/>
          <p:nvPr/>
        </p:nvSpPr>
        <p:spPr>
          <a:xfrm>
            <a:off x="804672" y="307238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9" name="Text 17"/>
          <p:cNvSpPr/>
          <p:nvPr/>
        </p:nvSpPr>
        <p:spPr>
          <a:xfrm>
            <a:off x="1097280" y="303580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En "¿Qué se presta?" elige "🔑 Llave".</a:t>
            </a:r>
            <a:endParaRPr lang="en-US" sz="1000" dirty="0"/>
          </a:p>
        </p:txBody>
      </p:sp>
      <p:sp>
        <p:nvSpPr>
          <p:cNvPr id="20" name="Shape 18"/>
          <p:cNvSpPr/>
          <p:nvPr/>
        </p:nvSpPr>
        <p:spPr>
          <a:xfrm>
            <a:off x="804672" y="3438144"/>
            <a:ext cx="219456" cy="219456"/>
          </a:xfrm>
          <a:prstGeom prst="ellipse">
            <a:avLst/>
          </a:prstGeom>
          <a:solidFill>
            <a:srgbClr val="0284C7"/>
          </a:solidFill>
          <a:ln/>
        </p:spPr>
      </p:sp>
      <p:sp>
        <p:nvSpPr>
          <p:cNvPr id="21" name="Text 19"/>
          <p:cNvSpPr/>
          <p:nvPr/>
        </p:nvSpPr>
        <p:spPr>
          <a:xfrm>
            <a:off x="804672" y="343814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2" name="Text 20"/>
          <p:cNvSpPr/>
          <p:nvPr/>
        </p:nvSpPr>
        <p:spPr>
          <a:xfrm>
            <a:off x="1097280" y="340156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Motivo: "Copia de llave (perdió la suya)".</a:t>
            </a:r>
            <a:endParaRPr lang="en-US" sz="1000" dirty="0"/>
          </a:p>
        </p:txBody>
      </p:sp>
      <p:sp>
        <p:nvSpPr>
          <p:cNvPr id="23" name="Shape 21"/>
          <p:cNvSpPr/>
          <p:nvPr/>
        </p:nvSpPr>
        <p:spPr>
          <a:xfrm>
            <a:off x="804672" y="3803904"/>
            <a:ext cx="219456" cy="219456"/>
          </a:xfrm>
          <a:prstGeom prst="ellipse">
            <a:avLst/>
          </a:prstGeom>
          <a:solidFill>
            <a:srgbClr val="0284C7"/>
          </a:solidFill>
          <a:ln/>
        </p:spPr>
      </p:sp>
      <p:sp>
        <p:nvSpPr>
          <p:cNvPr id="24" name="Text 22"/>
          <p:cNvSpPr/>
          <p:nvPr/>
        </p:nvSpPr>
        <p:spPr>
          <a:xfrm>
            <a:off x="804672" y="38039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25" name="Text 23"/>
          <p:cNvSpPr/>
          <p:nvPr/>
        </p:nvSpPr>
        <p:spPr>
          <a:xfrm>
            <a:off x="1097280" y="376732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En "¿Qué día debe devolverla?" pon la fecha real de compromiso — es obligatorio, sin eso el sistema no deja guardar.</a:t>
            </a:r>
            <a:endParaRPr lang="en-US" sz="1000" dirty="0"/>
          </a:p>
        </p:txBody>
      </p:sp>
      <p:sp>
        <p:nvSpPr>
          <p:cNvPr id="26" name="Text 24"/>
          <p:cNvSpPr/>
          <p:nvPr/>
        </p:nvSpPr>
        <p:spPr>
          <a:xfrm>
            <a:off x="80467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El error clásico es anotarlo en un cuaderno o "me acuerdo yo". Si no queda en la app, en dos semanas nadie sabe quién tiene esa llave…</a:t>
            </a:r>
            <a:endParaRPr lang="en-US" sz="950" dirty="0"/>
          </a:p>
        </p:txBody>
      </p:sp>
      <p:sp>
        <p:nvSpPr>
          <p:cNvPr id="27" name="Shape 25"/>
          <p:cNvSpPr/>
          <p:nvPr/>
        </p:nvSpPr>
        <p:spPr>
          <a:xfrm>
            <a:off x="640080" y="5138928"/>
            <a:ext cx="5394960" cy="1097280"/>
          </a:xfrm>
          <a:prstGeom prst="roundRect">
            <a:avLst>
              <a:gd name="adj" fmla="val 6667"/>
            </a:avLst>
          </a:prstGeom>
          <a:solidFill>
            <a:srgbClr val="DCFCE7"/>
          </a:solidFill>
          <a:ln w="12700">
            <a:solidFill>
              <a:srgbClr val="16A34A"/>
            </a:solidFill>
            <a:prstDash val="solid"/>
          </a:ln>
        </p:spPr>
      </p:sp>
      <p:sp>
        <p:nvSpPr>
          <p:cNvPr id="28" name="Text 26"/>
          <p:cNvSpPr/>
          <p:nvPr/>
        </p:nvSpPr>
        <p:spPr>
          <a:xfrm>
            <a:off x="78638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29" name="Text 27"/>
          <p:cNvSpPr/>
          <p:nvPr/>
        </p:nvSpPr>
        <p:spPr>
          <a:xfrm>
            <a:off x="78638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ANDRY BREA (RLZ93H) perdió su llave. El jueves se le entrega la copia con devolución el sábado. Si llega el sábado y no la trajo, su tarjeta se pone en rojo con el texto "⚠️ Debía devolverla el 25/07 — pedírsela", y así nadie tiene…</a:t>
            </a:r>
            <a:endParaRPr lang="en-US" sz="1150" dirty="0"/>
          </a:p>
        </p:txBody>
      </p:sp>
      <p:sp>
        <p:nvSpPr>
          <p:cNvPr id="30" name="Shape 28"/>
          <p:cNvSpPr/>
          <p:nvPr/>
        </p:nvSpPr>
        <p:spPr>
          <a:xfrm>
            <a:off x="640080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31" name="Shape 29"/>
          <p:cNvSpPr/>
          <p:nvPr/>
        </p:nvSpPr>
        <p:spPr>
          <a:xfrm>
            <a:off x="6400800" y="1371600"/>
            <a:ext cx="5394960" cy="475488"/>
          </a:xfrm>
          <a:prstGeom prst="roundRect">
            <a:avLst>
              <a:gd name="adj" fmla="val 19231"/>
            </a:avLst>
          </a:prstGeom>
          <a:solidFill>
            <a:srgbClr val="0F172A"/>
          </a:solidFill>
          <a:ln/>
        </p:spPr>
      </p:sp>
      <p:sp>
        <p:nvSpPr>
          <p:cNvPr id="32" name="Shape 30"/>
          <p:cNvSpPr/>
          <p:nvPr/>
        </p:nvSpPr>
        <p:spPr>
          <a:xfrm>
            <a:off x="6400800" y="1664208"/>
            <a:ext cx="5394960" cy="182880"/>
          </a:xfrm>
          <a:prstGeom prst="rect">
            <a:avLst/>
          </a:prstGeom>
          <a:solidFill>
            <a:srgbClr val="0F172A"/>
          </a:solidFill>
          <a:ln/>
        </p:spPr>
      </p:sp>
      <p:sp>
        <p:nvSpPr>
          <p:cNvPr id="33" name="Text 31"/>
          <p:cNvSpPr/>
          <p:nvPr/>
        </p:nvSpPr>
        <p:spPr>
          <a:xfrm>
            <a:off x="654710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 piden la tarjeta de propiedad para un trámite</a:t>
            </a:r>
            <a:endParaRPr lang="en-US" sz="1150" dirty="0"/>
          </a:p>
        </p:txBody>
      </p:sp>
      <p:sp>
        <p:nvSpPr>
          <p:cNvPr id="34" name="Shape 32"/>
          <p:cNvSpPr/>
          <p:nvPr/>
        </p:nvSpPr>
        <p:spPr>
          <a:xfrm>
            <a:off x="6565392" y="1975104"/>
            <a:ext cx="219456" cy="219456"/>
          </a:xfrm>
          <a:prstGeom prst="ellipse">
            <a:avLst/>
          </a:prstGeom>
          <a:solidFill>
            <a:srgbClr val="0284C7"/>
          </a:solidFill>
          <a:ln/>
        </p:spPr>
      </p:sp>
      <p:sp>
        <p:nvSpPr>
          <p:cNvPr id="35" name="Text 33"/>
          <p:cNvSpPr/>
          <p:nvPr/>
        </p:nvSpPr>
        <p:spPr>
          <a:xfrm>
            <a:off x="656539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6" name="Text 34"/>
          <p:cNvSpPr/>
          <p:nvPr/>
        </p:nvSpPr>
        <p:spPr>
          <a:xfrm>
            <a:off x="685800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Menú "☰ Más" → "Tarjetas y Llaves" → botón "📤 Prestar".</a:t>
            </a:r>
            <a:endParaRPr lang="en-US" sz="1000" dirty="0"/>
          </a:p>
        </p:txBody>
      </p:sp>
      <p:sp>
        <p:nvSpPr>
          <p:cNvPr id="37" name="Shape 35"/>
          <p:cNvSpPr/>
          <p:nvPr/>
        </p:nvSpPr>
        <p:spPr>
          <a:xfrm>
            <a:off x="6565392" y="2340864"/>
            <a:ext cx="219456" cy="219456"/>
          </a:xfrm>
          <a:prstGeom prst="ellipse">
            <a:avLst/>
          </a:prstGeom>
          <a:solidFill>
            <a:srgbClr val="0284C7"/>
          </a:solidFill>
          <a:ln/>
        </p:spPr>
      </p:sp>
      <p:sp>
        <p:nvSpPr>
          <p:cNvPr id="38" name="Text 36"/>
          <p:cNvSpPr/>
          <p:nvPr/>
        </p:nvSpPr>
        <p:spPr>
          <a:xfrm>
            <a:off x="656539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9" name="Text 37"/>
          <p:cNvSpPr/>
          <p:nvPr/>
        </p:nvSpPr>
        <p:spPr>
          <a:xfrm>
            <a:off x="6858000" y="230428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Busca la placa y tócala: verifica que el nombre que aparece en "Se le presta al cliente" sea la persona que tienes al frente.</a:t>
            </a:r>
            <a:endParaRPr lang="en-US" sz="1000" dirty="0"/>
          </a:p>
        </p:txBody>
      </p:sp>
      <p:sp>
        <p:nvSpPr>
          <p:cNvPr id="40" name="Shape 38"/>
          <p:cNvSpPr/>
          <p:nvPr/>
        </p:nvSpPr>
        <p:spPr>
          <a:xfrm>
            <a:off x="6565392" y="2852928"/>
            <a:ext cx="219456" cy="219456"/>
          </a:xfrm>
          <a:prstGeom prst="ellipse">
            <a:avLst/>
          </a:prstGeom>
          <a:solidFill>
            <a:srgbClr val="0284C7"/>
          </a:solidFill>
          <a:ln/>
        </p:spPr>
      </p:sp>
      <p:sp>
        <p:nvSpPr>
          <p:cNvPr id="41" name="Text 39"/>
          <p:cNvSpPr/>
          <p:nvPr/>
        </p:nvSpPr>
        <p:spPr>
          <a:xfrm>
            <a:off x="6565392" y="285292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42" name="Text 40"/>
          <p:cNvSpPr/>
          <p:nvPr/>
        </p:nvSpPr>
        <p:spPr>
          <a:xfrm>
            <a:off x="6858000" y="2816352"/>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En "¿Qué se presta?" elige "🪪 Tarjeta de propiedad".</a:t>
            </a:r>
            <a:endParaRPr lang="en-US" sz="1000" dirty="0"/>
          </a:p>
        </p:txBody>
      </p:sp>
      <p:sp>
        <p:nvSpPr>
          <p:cNvPr id="43" name="Shape 41"/>
          <p:cNvSpPr/>
          <p:nvPr/>
        </p:nvSpPr>
        <p:spPr>
          <a:xfrm>
            <a:off x="6565392" y="3218688"/>
            <a:ext cx="219456" cy="219456"/>
          </a:xfrm>
          <a:prstGeom prst="ellipse">
            <a:avLst/>
          </a:prstGeom>
          <a:solidFill>
            <a:srgbClr val="0284C7"/>
          </a:solidFill>
          <a:ln/>
        </p:spPr>
      </p:sp>
      <p:sp>
        <p:nvSpPr>
          <p:cNvPr id="44" name="Text 42"/>
          <p:cNvSpPr/>
          <p:nvPr/>
        </p:nvSpPr>
        <p:spPr>
          <a:xfrm>
            <a:off x="6565392" y="32186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45" name="Text 43"/>
          <p:cNvSpPr/>
          <p:nvPr/>
        </p:nvSpPr>
        <p:spPr>
          <a:xfrm>
            <a:off x="6858000" y="3182112"/>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Motivo: "Trámite legal". En "Detalles" escribe para qué (ej. "traspaso en Tránsito").</a:t>
            </a:r>
            <a:endParaRPr lang="en-US" sz="1000" dirty="0"/>
          </a:p>
        </p:txBody>
      </p:sp>
      <p:sp>
        <p:nvSpPr>
          <p:cNvPr id="46" name="Shape 44"/>
          <p:cNvSpPr/>
          <p:nvPr/>
        </p:nvSpPr>
        <p:spPr>
          <a:xfrm>
            <a:off x="6565392" y="3584448"/>
            <a:ext cx="219456" cy="219456"/>
          </a:xfrm>
          <a:prstGeom prst="ellipse">
            <a:avLst/>
          </a:prstGeom>
          <a:solidFill>
            <a:srgbClr val="0284C7"/>
          </a:solidFill>
          <a:ln/>
        </p:spPr>
      </p:sp>
      <p:sp>
        <p:nvSpPr>
          <p:cNvPr id="47" name="Text 45"/>
          <p:cNvSpPr/>
          <p:nvPr/>
        </p:nvSpPr>
        <p:spPr>
          <a:xfrm>
            <a:off x="6565392" y="358444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48" name="Text 46"/>
          <p:cNvSpPr/>
          <p:nvPr/>
        </p:nvSpPr>
        <p:spPr>
          <a:xfrm>
            <a:off x="6858000" y="3547872"/>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Pon la fecha exacta en que debe devolverla.</a:t>
            </a:r>
            <a:endParaRPr lang="en-US" sz="1000" dirty="0"/>
          </a:p>
        </p:txBody>
      </p:sp>
      <p:sp>
        <p:nvSpPr>
          <p:cNvPr id="49" name="Shape 47"/>
          <p:cNvSpPr/>
          <p:nvPr/>
        </p:nvSpPr>
        <p:spPr>
          <a:xfrm>
            <a:off x="6565392" y="3950208"/>
            <a:ext cx="219456" cy="219456"/>
          </a:xfrm>
          <a:prstGeom prst="ellipse">
            <a:avLst/>
          </a:prstGeom>
          <a:solidFill>
            <a:srgbClr val="0284C7"/>
          </a:solidFill>
          <a:ln/>
        </p:spPr>
      </p:sp>
      <p:sp>
        <p:nvSpPr>
          <p:cNvPr id="50" name="Text 48"/>
          <p:cNvSpPr/>
          <p:nvPr/>
        </p:nvSpPr>
        <p:spPr>
          <a:xfrm>
            <a:off x="6565392" y="395020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51" name="Text 49"/>
          <p:cNvSpPr/>
          <p:nvPr/>
        </p:nvSpPr>
        <p:spPr>
          <a:xfrm>
            <a:off x="6858000" y="3913632"/>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 Cámara": tómale foto a la tarjeta antes de entregarla — así queda constancia del estado y de que se entregó.</a:t>
            </a:r>
            <a:endParaRPr lang="en-US" sz="1000" dirty="0"/>
          </a:p>
        </p:txBody>
      </p:sp>
      <p:sp>
        <p:nvSpPr>
          <p:cNvPr id="52" name="Text 50"/>
          <p:cNvSpPr/>
          <p:nvPr/>
        </p:nvSpPr>
        <p:spPr>
          <a:xfrm>
            <a:off x="656539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La tarjeta es de la empresa (el propietario legal es FREDY MORA AVENDAÑO), no del cliente.</a:t>
            </a:r>
            <a:endParaRPr lang="en-US" sz="950" dirty="0"/>
          </a:p>
        </p:txBody>
      </p:sp>
      <p:sp>
        <p:nvSpPr>
          <p:cNvPr id="53" name="Shape 51"/>
          <p:cNvSpPr/>
          <p:nvPr/>
        </p:nvSpPr>
        <p:spPr>
          <a:xfrm>
            <a:off x="6400800" y="5138928"/>
            <a:ext cx="5394960" cy="1097280"/>
          </a:xfrm>
          <a:prstGeom prst="roundRect">
            <a:avLst>
              <a:gd name="adj" fmla="val 6667"/>
            </a:avLst>
          </a:prstGeom>
          <a:solidFill>
            <a:srgbClr val="DCFCE7"/>
          </a:solidFill>
          <a:ln w="12700">
            <a:solidFill>
              <a:srgbClr val="16A34A"/>
            </a:solidFill>
            <a:prstDash val="solid"/>
          </a:ln>
        </p:spPr>
      </p:sp>
      <p:sp>
        <p:nvSpPr>
          <p:cNvPr id="54" name="Text 52"/>
          <p:cNvSpPr/>
          <p:nvPr/>
        </p:nvSpPr>
        <p:spPr>
          <a:xfrm>
            <a:off x="654710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55" name="Text 53"/>
          <p:cNvSpPr/>
          <p:nvPr/>
        </p:nvSpPr>
        <p:spPr>
          <a:xfrm>
            <a:off x="654710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MARTHA ALVAREZ (RLT68H) necesita la tarjeta para un trámite en Tránsito. Se le presta el lunes con devolución el miércoles. Mientras no la devuelva, la moto queda marcada en la lista de prestadas y el miércoles el sistema la pone en…</a:t>
            </a:r>
            <a:endParaRPr lang="en-US" sz="1150" dirty="0"/>
          </a:p>
        </p:txBody>
      </p:sp>
      <p:sp>
        <p:nvSpPr>
          <p:cNvPr id="56" name="Text 54"/>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7" name="Text 55"/>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CONSULTA RÁPIDA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¿Qué hago si…?</a:t>
            </a:r>
            <a:endParaRPr lang="en-US" sz="2700" dirty="0"/>
          </a:p>
        </p:txBody>
      </p:sp>
      <p:sp>
        <p:nvSpPr>
          <p:cNvPr id="4" name="Shape 2"/>
          <p:cNvSpPr/>
          <p:nvPr/>
        </p:nvSpPr>
        <p:spPr>
          <a:xfrm>
            <a:off x="64008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5" name="Shape 3"/>
          <p:cNvSpPr/>
          <p:nvPr/>
        </p:nvSpPr>
        <p:spPr>
          <a:xfrm>
            <a:off x="640080" y="1371600"/>
            <a:ext cx="5394960" cy="475488"/>
          </a:xfrm>
          <a:prstGeom prst="roundRect">
            <a:avLst>
              <a:gd name="adj" fmla="val 19231"/>
            </a:avLst>
          </a:prstGeom>
          <a:solidFill>
            <a:srgbClr val="0F172A"/>
          </a:solidFill>
          <a:ln/>
        </p:spPr>
      </p:sp>
      <p:sp>
        <p:nvSpPr>
          <p:cNvPr id="6" name="Shape 4"/>
          <p:cNvSpPr/>
          <p:nvPr/>
        </p:nvSpPr>
        <p:spPr>
          <a:xfrm>
            <a:off x="640080" y="1664208"/>
            <a:ext cx="5394960" cy="182880"/>
          </a:xfrm>
          <a:prstGeom prst="rect">
            <a:avLst/>
          </a:prstGeom>
          <a:solidFill>
            <a:srgbClr val="0F172A"/>
          </a:solidFill>
          <a:ln/>
        </p:spPr>
      </p:sp>
      <p:sp>
        <p:nvSpPr>
          <p:cNvPr id="7" name="Text 5"/>
          <p:cNvSpPr/>
          <p:nvPr/>
        </p:nvSpPr>
        <p:spPr>
          <a:xfrm>
            <a:off x="78638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 le varó la moto / hay que meterla al taller</a:t>
            </a:r>
            <a:endParaRPr lang="en-US" sz="1150" dirty="0"/>
          </a:p>
        </p:txBody>
      </p:sp>
      <p:sp>
        <p:nvSpPr>
          <p:cNvPr id="8" name="Shape 6"/>
          <p:cNvSpPr/>
          <p:nvPr/>
        </p:nvSpPr>
        <p:spPr>
          <a:xfrm>
            <a:off x="804672" y="1975104"/>
            <a:ext cx="219456" cy="219456"/>
          </a:xfrm>
          <a:prstGeom prst="ellipse">
            <a:avLst/>
          </a:prstGeom>
          <a:solidFill>
            <a:srgbClr val="0284C7"/>
          </a:solidFill>
          <a:ln/>
        </p:spPr>
      </p:sp>
      <p:sp>
        <p:nvSpPr>
          <p:cNvPr id="9" name="Text 7"/>
          <p:cNvSpPr/>
          <p:nvPr/>
        </p:nvSpPr>
        <p:spPr>
          <a:xfrm>
            <a:off x="80467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Text 8"/>
          <p:cNvSpPr/>
          <p:nvPr/>
        </p:nvSpPr>
        <p:spPr>
          <a:xfrm>
            <a:off x="109728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Entra a "Taller" → botón "+ Nueva orden de taller".</a:t>
            </a:r>
            <a:endParaRPr lang="en-US" sz="1000" dirty="0"/>
          </a:p>
        </p:txBody>
      </p:sp>
      <p:sp>
        <p:nvSpPr>
          <p:cNvPr id="11" name="Shape 9"/>
          <p:cNvSpPr/>
          <p:nvPr/>
        </p:nvSpPr>
        <p:spPr>
          <a:xfrm>
            <a:off x="804672" y="2340864"/>
            <a:ext cx="219456" cy="219456"/>
          </a:xfrm>
          <a:prstGeom prst="ellipse">
            <a:avLst/>
          </a:prstGeom>
          <a:solidFill>
            <a:srgbClr val="0284C7"/>
          </a:solidFill>
          <a:ln/>
        </p:spPr>
      </p:sp>
      <p:sp>
        <p:nvSpPr>
          <p:cNvPr id="12" name="Text 10"/>
          <p:cNvSpPr/>
          <p:nvPr/>
        </p:nvSpPr>
        <p:spPr>
          <a:xfrm>
            <a:off x="80467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3" name="Text 11"/>
          <p:cNvSpPr/>
          <p:nvPr/>
        </p:nvSpPr>
        <p:spPr>
          <a:xfrm>
            <a:off x="1097280" y="230428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Elige la moto por placa, escribe la falla y toca "Registrar ingreso". La moto queda en estado Mantenimiento.</a:t>
            </a:r>
            <a:endParaRPr lang="en-US" sz="1000" dirty="0"/>
          </a:p>
        </p:txBody>
      </p:sp>
      <p:sp>
        <p:nvSpPr>
          <p:cNvPr id="14" name="Shape 12"/>
          <p:cNvSpPr/>
          <p:nvPr/>
        </p:nvSpPr>
        <p:spPr>
          <a:xfrm>
            <a:off x="804672" y="2706624"/>
            <a:ext cx="219456" cy="219456"/>
          </a:xfrm>
          <a:prstGeom prst="ellipse">
            <a:avLst/>
          </a:prstGeom>
          <a:solidFill>
            <a:srgbClr val="0284C7"/>
          </a:solidFill>
          <a:ln/>
        </p:spPr>
      </p:sp>
      <p:sp>
        <p:nvSpPr>
          <p:cNvPr id="15" name="Text 13"/>
          <p:cNvSpPr/>
          <p:nvPr/>
        </p:nvSpPr>
        <p:spPr>
          <a:xfrm>
            <a:off x="804672" y="270662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1097280" y="267004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Avísale al cliente ese mismo día para que no siga circulando y para que sepa que esos días quedan registrados.</a:t>
            </a:r>
            <a:endParaRPr lang="en-US" sz="1000" dirty="0"/>
          </a:p>
        </p:txBody>
      </p:sp>
      <p:sp>
        <p:nvSpPr>
          <p:cNvPr id="17" name="Shape 15"/>
          <p:cNvSpPr/>
          <p:nvPr/>
        </p:nvSpPr>
        <p:spPr>
          <a:xfrm>
            <a:off x="804672" y="3218688"/>
            <a:ext cx="219456" cy="219456"/>
          </a:xfrm>
          <a:prstGeom prst="ellipse">
            <a:avLst/>
          </a:prstGeom>
          <a:solidFill>
            <a:srgbClr val="0284C7"/>
          </a:solidFill>
          <a:ln/>
        </p:spPr>
      </p:sp>
      <p:sp>
        <p:nvSpPr>
          <p:cNvPr id="18" name="Text 16"/>
          <p:cNvSpPr/>
          <p:nvPr/>
        </p:nvSpPr>
        <p:spPr>
          <a:xfrm>
            <a:off x="804672" y="32186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9" name="Text 17"/>
          <p:cNvSpPr/>
          <p:nvPr/>
        </p:nvSpPr>
        <p:spPr>
          <a:xfrm>
            <a:off x="1097280" y="3182112"/>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Cuando la moto sale: Taller → abre la orden → finalizarla. La app pregunta sola qué hacer con el tiempo que estuvo parada: cobrar esos días (queda…</a:t>
            </a:r>
            <a:endParaRPr lang="en-US" sz="1000" dirty="0"/>
          </a:p>
        </p:txBody>
      </p:sp>
      <p:sp>
        <p:nvSpPr>
          <p:cNvPr id="20" name="Shape 18"/>
          <p:cNvSpPr/>
          <p:nvPr/>
        </p:nvSpPr>
        <p:spPr>
          <a:xfrm>
            <a:off x="804672" y="3730752"/>
            <a:ext cx="219456" cy="219456"/>
          </a:xfrm>
          <a:prstGeom prst="ellipse">
            <a:avLst/>
          </a:prstGeom>
          <a:solidFill>
            <a:srgbClr val="0284C7"/>
          </a:solidFill>
          <a:ln/>
        </p:spPr>
      </p:sp>
      <p:sp>
        <p:nvSpPr>
          <p:cNvPr id="21" name="Text 19"/>
          <p:cNvSpPr/>
          <p:nvPr/>
        </p:nvSpPr>
        <p:spPr>
          <a:xfrm>
            <a:off x="804672" y="3730752"/>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2" name="Text 20"/>
          <p:cNvSpPr/>
          <p:nvPr/>
        </p:nvSpPr>
        <p:spPr>
          <a:xfrm>
            <a:off x="1097280" y="3694176"/>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Si el cliente es de tiempo definido y va a quedar varios días sin moto: Inmovilizaciones → pestaña "🔒 Retenidas" → filtro "🔧 Taller" → botón "🔄…</a:t>
            </a:r>
            <a:endParaRPr lang="en-US" sz="1000" dirty="0"/>
          </a:p>
        </p:txBody>
      </p:sp>
      <p:sp>
        <p:nvSpPr>
          <p:cNvPr id="23" name="Text 21"/>
          <p:cNvSpPr/>
          <p:nvPr/>
        </p:nvSpPr>
        <p:spPr>
          <a:xfrm>
            <a:off x="80467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Este es el error que más plata y más peleas cuesta: si NADIE registra la entrada al taller, el sistema sigue cobrándole normal y lo…</a:t>
            </a:r>
            <a:endParaRPr lang="en-US" sz="950" dirty="0"/>
          </a:p>
        </p:txBody>
      </p:sp>
      <p:sp>
        <p:nvSpPr>
          <p:cNvPr id="24" name="Shape 22"/>
          <p:cNvSpPr/>
          <p:nvPr/>
        </p:nvSpPr>
        <p:spPr>
          <a:xfrm>
            <a:off x="640080" y="5138928"/>
            <a:ext cx="5394960" cy="1097280"/>
          </a:xfrm>
          <a:prstGeom prst="roundRect">
            <a:avLst>
              <a:gd name="adj" fmla="val 6667"/>
            </a:avLst>
          </a:prstGeom>
          <a:solidFill>
            <a:srgbClr val="DCFCE7"/>
          </a:solidFill>
          <a:ln w="12700">
            <a:solidFill>
              <a:srgbClr val="16A34A"/>
            </a:solidFill>
            <a:prstDash val="solid"/>
          </a:ln>
        </p:spPr>
      </p:sp>
      <p:sp>
        <p:nvSpPr>
          <p:cNvPr id="25" name="Text 23"/>
          <p:cNvSpPr/>
          <p:nvPr/>
        </p:nvSpPr>
        <p:spPr>
          <a:xfrm>
            <a:off x="78638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26" name="Text 24"/>
          <p:cNvSpPr/>
          <p:nvPr/>
        </p:nvSpPr>
        <p:spPr>
          <a:xfrm>
            <a:off x="78638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La moto de ALEJANDRO NIETO entra el martes y sale el viernes: 3 días parados × $27.000 = $81.000. SERGIO decide si se los cobra como deuda o si le corre el contrato 3 días. La prioridad de la empresa es cobrar; rodar es la excepción.</a:t>
            </a:r>
            <a:endParaRPr lang="en-US" sz="1150" dirty="0"/>
          </a:p>
        </p:txBody>
      </p:sp>
      <p:sp>
        <p:nvSpPr>
          <p:cNvPr id="27" name="Shape 25"/>
          <p:cNvSpPr/>
          <p:nvPr/>
        </p:nvSpPr>
        <p:spPr>
          <a:xfrm>
            <a:off x="640080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28" name="Shape 26"/>
          <p:cNvSpPr/>
          <p:nvPr/>
        </p:nvSpPr>
        <p:spPr>
          <a:xfrm>
            <a:off x="6400800" y="1371600"/>
            <a:ext cx="5394960" cy="475488"/>
          </a:xfrm>
          <a:prstGeom prst="roundRect">
            <a:avLst>
              <a:gd name="adj" fmla="val 19231"/>
            </a:avLst>
          </a:prstGeom>
          <a:solidFill>
            <a:srgbClr val="0F172A"/>
          </a:solidFill>
          <a:ln/>
        </p:spPr>
      </p:sp>
      <p:sp>
        <p:nvSpPr>
          <p:cNvPr id="29" name="Shape 27"/>
          <p:cNvSpPr/>
          <p:nvPr/>
        </p:nvSpPr>
        <p:spPr>
          <a:xfrm>
            <a:off x="6400800" y="1664208"/>
            <a:ext cx="5394960" cy="182880"/>
          </a:xfrm>
          <a:prstGeom prst="rect">
            <a:avLst/>
          </a:prstGeom>
          <a:solidFill>
            <a:srgbClr val="0F172A"/>
          </a:solidFill>
          <a:ln/>
        </p:spPr>
      </p:sp>
      <p:sp>
        <p:nvSpPr>
          <p:cNvPr id="30" name="Text 28"/>
          <p:cNvSpPr/>
          <p:nvPr/>
        </p:nvSpPr>
        <p:spPr>
          <a:xfrm>
            <a:off x="654710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No contesta el teléfono y no paga</a:t>
            </a:r>
            <a:endParaRPr lang="en-US" sz="1150" dirty="0"/>
          </a:p>
        </p:txBody>
      </p:sp>
      <p:sp>
        <p:nvSpPr>
          <p:cNvPr id="31" name="Shape 29"/>
          <p:cNvSpPr/>
          <p:nvPr/>
        </p:nvSpPr>
        <p:spPr>
          <a:xfrm>
            <a:off x="6565392" y="1975104"/>
            <a:ext cx="219456" cy="219456"/>
          </a:xfrm>
          <a:prstGeom prst="ellipse">
            <a:avLst/>
          </a:prstGeom>
          <a:solidFill>
            <a:srgbClr val="0284C7"/>
          </a:solidFill>
          <a:ln/>
        </p:spPr>
      </p:sp>
      <p:sp>
        <p:nvSpPr>
          <p:cNvPr id="32" name="Text 30"/>
          <p:cNvSpPr/>
          <p:nvPr/>
        </p:nvSpPr>
        <p:spPr>
          <a:xfrm>
            <a:off x="656539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3" name="Text 31"/>
          <p:cNvSpPr/>
          <p:nvPr/>
        </p:nvSpPr>
        <p:spPr>
          <a:xfrm>
            <a:off x="685800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Cartera → pestaña "📋 Para hacer hoy".</a:t>
            </a:r>
            <a:endParaRPr lang="en-US" sz="1000" dirty="0"/>
          </a:p>
        </p:txBody>
      </p:sp>
      <p:sp>
        <p:nvSpPr>
          <p:cNvPr id="34" name="Shape 32"/>
          <p:cNvSpPr/>
          <p:nvPr/>
        </p:nvSpPr>
        <p:spPr>
          <a:xfrm>
            <a:off x="6565392" y="2340864"/>
            <a:ext cx="219456" cy="219456"/>
          </a:xfrm>
          <a:prstGeom prst="ellipse">
            <a:avLst/>
          </a:prstGeom>
          <a:solidFill>
            <a:srgbClr val="0284C7"/>
          </a:solidFill>
          <a:ln/>
        </p:spPr>
      </p:sp>
      <p:sp>
        <p:nvSpPr>
          <p:cNvPr id="35" name="Text 33"/>
          <p:cNvSpPr/>
          <p:nvPr/>
        </p:nvSpPr>
        <p:spPr>
          <a:xfrm>
            <a:off x="656539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6" name="Text 34"/>
          <p:cNvSpPr/>
          <p:nvPr/>
        </p:nvSpPr>
        <p:spPr>
          <a:xfrm>
            <a:off x="6858000" y="230428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Busca la tarjeta del cliente (están ordenadas por urgencia: Recolección, Mora, Gabela, Pagan hoy).</a:t>
            </a:r>
            <a:endParaRPr lang="en-US" sz="1000" dirty="0"/>
          </a:p>
        </p:txBody>
      </p:sp>
      <p:sp>
        <p:nvSpPr>
          <p:cNvPr id="37" name="Shape 35"/>
          <p:cNvSpPr/>
          <p:nvPr/>
        </p:nvSpPr>
        <p:spPr>
          <a:xfrm>
            <a:off x="6565392" y="2706624"/>
            <a:ext cx="219456" cy="219456"/>
          </a:xfrm>
          <a:prstGeom prst="ellipse">
            <a:avLst/>
          </a:prstGeom>
          <a:solidFill>
            <a:srgbClr val="0284C7"/>
          </a:solidFill>
          <a:ln/>
        </p:spPr>
      </p:sp>
      <p:sp>
        <p:nvSpPr>
          <p:cNvPr id="38" name="Text 36"/>
          <p:cNvSpPr/>
          <p:nvPr/>
        </p:nvSpPr>
        <p:spPr>
          <a:xfrm>
            <a:off x="6565392" y="270662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9" name="Text 37"/>
          <p:cNvSpPr/>
          <p:nvPr/>
        </p:nvSpPr>
        <p:spPr>
          <a:xfrm>
            <a:off x="6858000" y="267004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Toca "Mensaje": abre WhatsApp con el texto ya escrito Y deja la gestión registrada sola.</a:t>
            </a:r>
            <a:endParaRPr lang="en-US" sz="1000" dirty="0"/>
          </a:p>
        </p:txBody>
      </p:sp>
      <p:sp>
        <p:nvSpPr>
          <p:cNvPr id="40" name="Shape 38"/>
          <p:cNvSpPr/>
          <p:nvPr/>
        </p:nvSpPr>
        <p:spPr>
          <a:xfrm>
            <a:off x="6565392" y="3072384"/>
            <a:ext cx="219456" cy="219456"/>
          </a:xfrm>
          <a:prstGeom prst="ellipse">
            <a:avLst/>
          </a:prstGeom>
          <a:solidFill>
            <a:srgbClr val="0284C7"/>
          </a:solidFill>
          <a:ln/>
        </p:spPr>
      </p:sp>
      <p:sp>
        <p:nvSpPr>
          <p:cNvPr id="41" name="Text 39"/>
          <p:cNvSpPr/>
          <p:nvPr/>
        </p:nvSpPr>
        <p:spPr>
          <a:xfrm>
            <a:off x="6565392" y="307238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42" name="Text 40"/>
          <p:cNvSpPr/>
          <p:nvPr/>
        </p:nvSpPr>
        <p:spPr>
          <a:xfrm>
            <a:off x="6858000" y="303580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Si no responde, toca "Llamar": marca el número y registra la llamada.</a:t>
            </a:r>
            <a:endParaRPr lang="en-US" sz="1000" dirty="0"/>
          </a:p>
        </p:txBody>
      </p:sp>
      <p:sp>
        <p:nvSpPr>
          <p:cNvPr id="43" name="Shape 41"/>
          <p:cNvSpPr/>
          <p:nvPr/>
        </p:nvSpPr>
        <p:spPr>
          <a:xfrm>
            <a:off x="6565392" y="3438144"/>
            <a:ext cx="219456" cy="219456"/>
          </a:xfrm>
          <a:prstGeom prst="ellipse">
            <a:avLst/>
          </a:prstGeom>
          <a:solidFill>
            <a:srgbClr val="0284C7"/>
          </a:solidFill>
          <a:ln/>
        </p:spPr>
      </p:sp>
      <p:sp>
        <p:nvSpPr>
          <p:cNvPr id="44" name="Text 42"/>
          <p:cNvSpPr/>
          <p:nvPr/>
        </p:nvSpPr>
        <p:spPr>
          <a:xfrm>
            <a:off x="6565392" y="343814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45" name="Text 43"/>
          <p:cNvSpPr/>
          <p:nvPr/>
        </p:nvSpPr>
        <p:spPr>
          <a:xfrm>
            <a:off x="6858000" y="340156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Si sigue sin responder, toca "Sirena" (solo con la moto detenida, 3 segundos).</a:t>
            </a:r>
            <a:endParaRPr lang="en-US" sz="1000" dirty="0"/>
          </a:p>
        </p:txBody>
      </p:sp>
      <p:sp>
        <p:nvSpPr>
          <p:cNvPr id="46" name="Shape 44"/>
          <p:cNvSpPr/>
          <p:nvPr/>
        </p:nvSpPr>
        <p:spPr>
          <a:xfrm>
            <a:off x="6565392" y="3803904"/>
            <a:ext cx="219456" cy="219456"/>
          </a:xfrm>
          <a:prstGeom prst="ellipse">
            <a:avLst/>
          </a:prstGeom>
          <a:solidFill>
            <a:srgbClr val="0284C7"/>
          </a:solidFill>
          <a:ln/>
        </p:spPr>
      </p:sp>
      <p:sp>
        <p:nvSpPr>
          <p:cNvPr id="47" name="Text 45"/>
          <p:cNvSpPr/>
          <p:nvPr/>
        </p:nvSpPr>
        <p:spPr>
          <a:xfrm>
            <a:off x="6565392" y="38039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48" name="Text 46"/>
          <p:cNvSpPr/>
          <p:nvPr/>
        </p:nvSpPr>
        <p:spPr>
          <a:xfrm>
            <a:off x="6858000" y="376732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Cuando los 3 pasos quedaron registrados, aparece el botón "Recolección". Ese botón abre el formulario con las 6 fotos, el kilometraje y los daños.</a:t>
            </a:r>
            <a:endParaRPr lang="en-US" sz="1000" dirty="0"/>
          </a:p>
        </p:txBody>
      </p:sp>
      <p:sp>
        <p:nvSpPr>
          <p:cNvPr id="49" name="Text 47"/>
          <p:cNvSpPr/>
          <p:nvPr/>
        </p:nvSpPr>
        <p:spPr>
          <a:xfrm>
            <a:off x="656539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Los 3 pasos pueden hacerse el mismo día, no hay que esperar días entre uno y otro.</a:t>
            </a:r>
            <a:endParaRPr lang="en-US" sz="950" dirty="0"/>
          </a:p>
        </p:txBody>
      </p:sp>
      <p:sp>
        <p:nvSpPr>
          <p:cNvPr id="50" name="Shape 48"/>
          <p:cNvSpPr/>
          <p:nvPr/>
        </p:nvSpPr>
        <p:spPr>
          <a:xfrm>
            <a:off x="6400800" y="5138928"/>
            <a:ext cx="5394960" cy="1097280"/>
          </a:xfrm>
          <a:prstGeom prst="roundRect">
            <a:avLst>
              <a:gd name="adj" fmla="val 6667"/>
            </a:avLst>
          </a:prstGeom>
          <a:solidFill>
            <a:srgbClr val="DCFCE7"/>
          </a:solidFill>
          <a:ln w="12700">
            <a:solidFill>
              <a:srgbClr val="16A34A"/>
            </a:solidFill>
            <a:prstDash val="solid"/>
          </a:ln>
        </p:spPr>
      </p:sp>
      <p:sp>
        <p:nvSpPr>
          <p:cNvPr id="51" name="Text 49"/>
          <p:cNvSpPr/>
          <p:nvPr/>
        </p:nvSpPr>
        <p:spPr>
          <a:xfrm>
            <a:off x="654710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52" name="Text 50"/>
          <p:cNvSpPr/>
          <p:nvPr/>
        </p:nvSpPr>
        <p:spPr>
          <a:xfrm>
            <a:off x="654710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ANDRY BREA (RLZ93H) lleva 4 días sin pagar. EMIRO manda mensaje a las 8am, llama a las 11am y activa sirena a las 3pm — todo el mismo día. A las 4pm ya le aparece el botón Recolección habilitado.</a:t>
            </a:r>
            <a:endParaRPr lang="en-US" sz="1150" dirty="0"/>
          </a:p>
        </p:txBody>
      </p:sp>
      <p:sp>
        <p:nvSpPr>
          <p:cNvPr id="53" name="Text 51"/>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4" name="Text 52"/>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CONSULTA RÁPIDA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¿Qué hago si…?</a:t>
            </a:r>
            <a:endParaRPr lang="en-US" sz="2700" dirty="0"/>
          </a:p>
        </p:txBody>
      </p:sp>
      <p:sp>
        <p:nvSpPr>
          <p:cNvPr id="4" name="Shape 2"/>
          <p:cNvSpPr/>
          <p:nvPr/>
        </p:nvSpPr>
        <p:spPr>
          <a:xfrm>
            <a:off x="64008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5" name="Shape 3"/>
          <p:cNvSpPr/>
          <p:nvPr/>
        </p:nvSpPr>
        <p:spPr>
          <a:xfrm>
            <a:off x="640080" y="1371600"/>
            <a:ext cx="5394960" cy="475488"/>
          </a:xfrm>
          <a:prstGeom prst="roundRect">
            <a:avLst>
              <a:gd name="adj" fmla="val 19231"/>
            </a:avLst>
          </a:prstGeom>
          <a:solidFill>
            <a:srgbClr val="0F172A"/>
          </a:solidFill>
          <a:ln/>
        </p:spPr>
      </p:sp>
      <p:sp>
        <p:nvSpPr>
          <p:cNvPr id="6" name="Shape 4"/>
          <p:cNvSpPr/>
          <p:nvPr/>
        </p:nvSpPr>
        <p:spPr>
          <a:xfrm>
            <a:off x="640080" y="1664208"/>
            <a:ext cx="5394960" cy="182880"/>
          </a:xfrm>
          <a:prstGeom prst="rect">
            <a:avLst/>
          </a:prstGeom>
          <a:solidFill>
            <a:srgbClr val="0F172A"/>
          </a:solidFill>
          <a:ln/>
        </p:spPr>
      </p:sp>
      <p:sp>
        <p:nvSpPr>
          <p:cNvPr id="7" name="Text 5"/>
          <p:cNvSpPr/>
          <p:nvPr/>
        </p:nvSpPr>
        <p:spPr>
          <a:xfrm>
            <a:off x="78638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 pide unos días más, dice que el viernes sí paga</a:t>
            </a:r>
            <a:endParaRPr lang="en-US" sz="1150" dirty="0"/>
          </a:p>
        </p:txBody>
      </p:sp>
      <p:sp>
        <p:nvSpPr>
          <p:cNvPr id="8" name="Shape 6"/>
          <p:cNvSpPr/>
          <p:nvPr/>
        </p:nvSpPr>
        <p:spPr>
          <a:xfrm>
            <a:off x="804672" y="1975104"/>
            <a:ext cx="219456" cy="219456"/>
          </a:xfrm>
          <a:prstGeom prst="ellipse">
            <a:avLst/>
          </a:prstGeom>
          <a:solidFill>
            <a:srgbClr val="0284C7"/>
          </a:solidFill>
          <a:ln/>
        </p:spPr>
      </p:sp>
      <p:sp>
        <p:nvSpPr>
          <p:cNvPr id="9" name="Text 7"/>
          <p:cNvSpPr/>
          <p:nvPr/>
        </p:nvSpPr>
        <p:spPr>
          <a:xfrm>
            <a:off x="80467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Text 8"/>
          <p:cNvSpPr/>
          <p:nvPr/>
        </p:nvSpPr>
        <p:spPr>
          <a:xfrm>
            <a:off x="109728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Cartera → busca la placa → abre el detalle del contrato → pestaña "Gestiones".</a:t>
            </a:r>
            <a:endParaRPr lang="en-US" sz="1000" dirty="0"/>
          </a:p>
        </p:txBody>
      </p:sp>
      <p:sp>
        <p:nvSpPr>
          <p:cNvPr id="11" name="Shape 9"/>
          <p:cNvSpPr/>
          <p:nvPr/>
        </p:nvSpPr>
        <p:spPr>
          <a:xfrm>
            <a:off x="804672" y="2340864"/>
            <a:ext cx="219456" cy="219456"/>
          </a:xfrm>
          <a:prstGeom prst="ellipse">
            <a:avLst/>
          </a:prstGeom>
          <a:solidFill>
            <a:srgbClr val="0284C7"/>
          </a:solidFill>
          <a:ln/>
        </p:spPr>
      </p:sp>
      <p:sp>
        <p:nvSpPr>
          <p:cNvPr id="12" name="Text 10"/>
          <p:cNvSpPr/>
          <p:nvPr/>
        </p:nvSpPr>
        <p:spPr>
          <a:xfrm>
            <a:off x="80467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3" name="Text 11"/>
          <p:cNvSpPr/>
          <p:nvPr/>
        </p:nvSpPr>
        <p:spPr>
          <a:xfrm>
            <a:off x="1097280" y="230428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Registra una gestión nueva y en "Tipo de gestión" elige "⏳ Plazo extra".</a:t>
            </a:r>
            <a:endParaRPr lang="en-US" sz="1000" dirty="0"/>
          </a:p>
        </p:txBody>
      </p:sp>
      <p:sp>
        <p:nvSpPr>
          <p:cNvPr id="14" name="Shape 12"/>
          <p:cNvSpPr/>
          <p:nvPr/>
        </p:nvSpPr>
        <p:spPr>
          <a:xfrm>
            <a:off x="804672" y="2706624"/>
            <a:ext cx="219456" cy="219456"/>
          </a:xfrm>
          <a:prstGeom prst="ellipse">
            <a:avLst/>
          </a:prstGeom>
          <a:solidFill>
            <a:srgbClr val="0284C7"/>
          </a:solidFill>
          <a:ln/>
        </p:spPr>
      </p:sp>
      <p:sp>
        <p:nvSpPr>
          <p:cNvPr id="15" name="Text 13"/>
          <p:cNvSpPr/>
          <p:nvPr/>
        </p:nvSpPr>
        <p:spPr>
          <a:xfrm>
            <a:off x="804672" y="270662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1097280" y="267004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Escribe cuántos días (solo 1 o 2, es el máximo) y el MOTIVO — el motivo es obligatorio y queda con tu nombre.</a:t>
            </a:r>
            <a:endParaRPr lang="en-US" sz="1000" dirty="0"/>
          </a:p>
        </p:txBody>
      </p:sp>
      <p:sp>
        <p:nvSpPr>
          <p:cNvPr id="17" name="Shape 15"/>
          <p:cNvSpPr/>
          <p:nvPr/>
        </p:nvSpPr>
        <p:spPr>
          <a:xfrm>
            <a:off x="804672" y="3072384"/>
            <a:ext cx="219456" cy="219456"/>
          </a:xfrm>
          <a:prstGeom prst="ellipse">
            <a:avLst/>
          </a:prstGeom>
          <a:solidFill>
            <a:srgbClr val="0284C7"/>
          </a:solidFill>
          <a:ln/>
        </p:spPr>
      </p:sp>
      <p:sp>
        <p:nvSpPr>
          <p:cNvPr id="18" name="Text 16"/>
          <p:cNvSpPr/>
          <p:nvPr/>
        </p:nvSpPr>
        <p:spPr>
          <a:xfrm>
            <a:off x="804672" y="307238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9" name="Text 17"/>
          <p:cNvSpPr/>
          <p:nvPr/>
        </p:nvSpPr>
        <p:spPr>
          <a:xfrm>
            <a:off x="1097280" y="303580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Toca "Registrar gestión". Desde ese momento el contrato sale de la cola de Recolección hasta que venza el plazo, y al vencer vuelve a la cola solo.</a:t>
            </a:r>
            <a:endParaRPr lang="en-US" sz="1000" dirty="0"/>
          </a:p>
        </p:txBody>
      </p:sp>
      <p:sp>
        <p:nvSpPr>
          <p:cNvPr id="20" name="Shape 18"/>
          <p:cNvSpPr/>
          <p:nvPr/>
        </p:nvSpPr>
        <p:spPr>
          <a:xfrm>
            <a:off x="804672" y="3584448"/>
            <a:ext cx="219456" cy="219456"/>
          </a:xfrm>
          <a:prstGeom prst="ellipse">
            <a:avLst/>
          </a:prstGeom>
          <a:solidFill>
            <a:srgbClr val="0284C7"/>
          </a:solidFill>
          <a:ln/>
        </p:spPr>
      </p:sp>
      <p:sp>
        <p:nvSpPr>
          <p:cNvPr id="21" name="Text 19"/>
          <p:cNvSpPr/>
          <p:nvPr/>
        </p:nvSpPr>
        <p:spPr>
          <a:xfrm>
            <a:off x="804672" y="358444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2" name="Text 20"/>
          <p:cNvSpPr/>
          <p:nvPr/>
        </p:nvSpPr>
        <p:spPr>
          <a:xfrm>
            <a:off x="1097280" y="3547872"/>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Si el cliente solo PROMETE pagar (no le estás dando un plazo formal): registra la gestión con Resultado "Promesa de pago" y pon la fecha en "¿Para…</a:t>
            </a:r>
            <a:endParaRPr lang="en-US" sz="1000" dirty="0"/>
          </a:p>
        </p:txBody>
      </p:sp>
      <p:sp>
        <p:nvSpPr>
          <p:cNvPr id="23" name="Text 21"/>
          <p:cNvSpPr/>
          <p:nvPr/>
        </p:nvSpPr>
        <p:spPr>
          <a:xfrm>
            <a:off x="80467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El plazo es máximo 2 días y lo dan ADMIN o el cobrador (SUBADMIN), no la secretaria.</a:t>
            </a:r>
            <a:endParaRPr lang="en-US" sz="950" dirty="0"/>
          </a:p>
        </p:txBody>
      </p:sp>
      <p:sp>
        <p:nvSpPr>
          <p:cNvPr id="24" name="Shape 22"/>
          <p:cNvSpPr/>
          <p:nvPr/>
        </p:nvSpPr>
        <p:spPr>
          <a:xfrm>
            <a:off x="640080" y="5138928"/>
            <a:ext cx="5394960" cy="1097280"/>
          </a:xfrm>
          <a:prstGeom prst="roundRect">
            <a:avLst>
              <a:gd name="adj" fmla="val 6667"/>
            </a:avLst>
          </a:prstGeom>
          <a:solidFill>
            <a:srgbClr val="DCFCE7"/>
          </a:solidFill>
          <a:ln w="12700">
            <a:solidFill>
              <a:srgbClr val="16A34A"/>
            </a:solidFill>
            <a:prstDash val="solid"/>
          </a:ln>
        </p:spPr>
      </p:sp>
      <p:sp>
        <p:nvSpPr>
          <p:cNvPr id="25" name="Text 23"/>
          <p:cNvSpPr/>
          <p:nvPr/>
        </p:nvSpPr>
        <p:spPr>
          <a:xfrm>
            <a:off x="78638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26" name="Text 24"/>
          <p:cNvSpPr/>
          <p:nvPr/>
        </p:nvSpPr>
        <p:spPr>
          <a:xfrm>
            <a:off x="78638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MARTHA ALVAREZ (RLT68H) pide hasta el viernes porque le pagan ese día. SERGIO registra plazo extra de 2 días con motivo "le pagan el viernes, cliente cumplidor".</a:t>
            </a:r>
            <a:endParaRPr lang="en-US" sz="1150" dirty="0"/>
          </a:p>
        </p:txBody>
      </p:sp>
      <p:sp>
        <p:nvSpPr>
          <p:cNvPr id="27" name="Shape 25"/>
          <p:cNvSpPr/>
          <p:nvPr/>
        </p:nvSpPr>
        <p:spPr>
          <a:xfrm>
            <a:off x="640080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28" name="Shape 26"/>
          <p:cNvSpPr/>
          <p:nvPr/>
        </p:nvSpPr>
        <p:spPr>
          <a:xfrm>
            <a:off x="6400800" y="1371600"/>
            <a:ext cx="5394960" cy="475488"/>
          </a:xfrm>
          <a:prstGeom prst="roundRect">
            <a:avLst>
              <a:gd name="adj" fmla="val 19231"/>
            </a:avLst>
          </a:prstGeom>
          <a:solidFill>
            <a:srgbClr val="0F172A"/>
          </a:solidFill>
          <a:ln/>
        </p:spPr>
      </p:sp>
      <p:sp>
        <p:nvSpPr>
          <p:cNvPr id="29" name="Shape 27"/>
          <p:cNvSpPr/>
          <p:nvPr/>
        </p:nvSpPr>
        <p:spPr>
          <a:xfrm>
            <a:off x="6400800" y="1664208"/>
            <a:ext cx="5394960" cy="182880"/>
          </a:xfrm>
          <a:prstGeom prst="rect">
            <a:avLst/>
          </a:prstGeom>
          <a:solidFill>
            <a:srgbClr val="0F172A"/>
          </a:solidFill>
          <a:ln/>
        </p:spPr>
      </p:sp>
      <p:sp>
        <p:nvSpPr>
          <p:cNvPr id="30" name="Text 28"/>
          <p:cNvSpPr/>
          <p:nvPr/>
        </p:nvSpPr>
        <p:spPr>
          <a:xfrm>
            <a:off x="654710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Quiere hacer un acuerdo para ponerse al día</a:t>
            </a:r>
            <a:endParaRPr lang="en-US" sz="1150" dirty="0"/>
          </a:p>
        </p:txBody>
      </p:sp>
      <p:sp>
        <p:nvSpPr>
          <p:cNvPr id="31" name="Shape 29"/>
          <p:cNvSpPr/>
          <p:nvPr/>
        </p:nvSpPr>
        <p:spPr>
          <a:xfrm>
            <a:off x="6565392" y="1975104"/>
            <a:ext cx="219456" cy="219456"/>
          </a:xfrm>
          <a:prstGeom prst="ellipse">
            <a:avLst/>
          </a:prstGeom>
          <a:solidFill>
            <a:srgbClr val="0284C7"/>
          </a:solidFill>
          <a:ln/>
        </p:spPr>
      </p:sp>
      <p:sp>
        <p:nvSpPr>
          <p:cNvPr id="32" name="Text 30"/>
          <p:cNvSpPr/>
          <p:nvPr/>
        </p:nvSpPr>
        <p:spPr>
          <a:xfrm>
            <a:off x="656539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3" name="Text 31"/>
          <p:cNvSpPr/>
          <p:nvPr/>
        </p:nvSpPr>
        <p:spPr>
          <a:xfrm>
            <a:off x="685800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Cartera → busca la placa → abre el detalle → pestaña "Convenio".</a:t>
            </a:r>
            <a:endParaRPr lang="en-US" sz="1000" dirty="0"/>
          </a:p>
        </p:txBody>
      </p:sp>
      <p:sp>
        <p:nvSpPr>
          <p:cNvPr id="34" name="Shape 32"/>
          <p:cNvSpPr/>
          <p:nvPr/>
        </p:nvSpPr>
        <p:spPr>
          <a:xfrm>
            <a:off x="6565392" y="2340864"/>
            <a:ext cx="219456" cy="219456"/>
          </a:xfrm>
          <a:prstGeom prst="ellipse">
            <a:avLst/>
          </a:prstGeom>
          <a:solidFill>
            <a:srgbClr val="0284C7"/>
          </a:solidFill>
          <a:ln/>
        </p:spPr>
      </p:sp>
      <p:sp>
        <p:nvSpPr>
          <p:cNvPr id="35" name="Text 33"/>
          <p:cNvSpPr/>
          <p:nvPr/>
        </p:nvSpPr>
        <p:spPr>
          <a:xfrm>
            <a:off x="656539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6" name="Text 34"/>
          <p:cNvSpPr/>
          <p:nvPr/>
        </p:nvSpPr>
        <p:spPr>
          <a:xfrm>
            <a:off x="6858000" y="230428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La META viene precargada con lo que debe registrado. Verifícala con el cliente antes de seguir.</a:t>
            </a:r>
            <a:endParaRPr lang="en-US" sz="1000" dirty="0"/>
          </a:p>
        </p:txBody>
      </p:sp>
      <p:sp>
        <p:nvSpPr>
          <p:cNvPr id="37" name="Shape 35"/>
          <p:cNvSpPr/>
          <p:nvPr/>
        </p:nvSpPr>
        <p:spPr>
          <a:xfrm>
            <a:off x="6565392" y="2706624"/>
            <a:ext cx="219456" cy="219456"/>
          </a:xfrm>
          <a:prstGeom prst="ellipse">
            <a:avLst/>
          </a:prstGeom>
          <a:solidFill>
            <a:srgbClr val="0284C7"/>
          </a:solidFill>
          <a:ln/>
        </p:spPr>
      </p:sp>
      <p:sp>
        <p:nvSpPr>
          <p:cNvPr id="38" name="Text 36"/>
          <p:cNvSpPr/>
          <p:nvPr/>
        </p:nvSpPr>
        <p:spPr>
          <a:xfrm>
            <a:off x="6565392" y="270662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9" name="Text 37"/>
          <p:cNvSpPr/>
          <p:nvPr/>
        </p:nvSpPr>
        <p:spPr>
          <a:xfrm>
            <a:off x="6858000" y="267004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Elige cómo fijarlo: por número de cuotas ("lo pago en 13 semanas") o por valor de cuota ("puedo dar $60.000 semanales").</a:t>
            </a:r>
            <a:endParaRPr lang="en-US" sz="1000" dirty="0"/>
          </a:p>
        </p:txBody>
      </p:sp>
      <p:sp>
        <p:nvSpPr>
          <p:cNvPr id="40" name="Shape 38"/>
          <p:cNvSpPr/>
          <p:nvPr/>
        </p:nvSpPr>
        <p:spPr>
          <a:xfrm>
            <a:off x="6565392" y="3218688"/>
            <a:ext cx="219456" cy="219456"/>
          </a:xfrm>
          <a:prstGeom prst="ellipse">
            <a:avLst/>
          </a:prstGeom>
          <a:solidFill>
            <a:srgbClr val="0284C7"/>
          </a:solidFill>
          <a:ln/>
        </p:spPr>
      </p:sp>
      <p:sp>
        <p:nvSpPr>
          <p:cNvPr id="41" name="Text 39"/>
          <p:cNvSpPr/>
          <p:nvPr/>
        </p:nvSpPr>
        <p:spPr>
          <a:xfrm>
            <a:off x="6565392" y="32186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42" name="Text 40"/>
          <p:cNvSpPr/>
          <p:nvPr/>
        </p:nvSpPr>
        <p:spPr>
          <a:xfrm>
            <a:off x="6858000" y="3182112"/>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Captura la FIRMA del cliente en la pantalla — sin firma no se puede crear el convenio.</a:t>
            </a:r>
            <a:endParaRPr lang="en-US" sz="1000" dirty="0"/>
          </a:p>
        </p:txBody>
      </p:sp>
      <p:sp>
        <p:nvSpPr>
          <p:cNvPr id="43" name="Shape 41"/>
          <p:cNvSpPr/>
          <p:nvPr/>
        </p:nvSpPr>
        <p:spPr>
          <a:xfrm>
            <a:off x="6565392" y="3584448"/>
            <a:ext cx="219456" cy="219456"/>
          </a:xfrm>
          <a:prstGeom prst="ellipse">
            <a:avLst/>
          </a:prstGeom>
          <a:solidFill>
            <a:srgbClr val="0284C7"/>
          </a:solidFill>
          <a:ln/>
        </p:spPr>
      </p:sp>
      <p:sp>
        <p:nvSpPr>
          <p:cNvPr id="44" name="Text 42"/>
          <p:cNvSpPr/>
          <p:nvPr/>
        </p:nvSpPr>
        <p:spPr>
          <a:xfrm>
            <a:off x="6565392" y="358444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45" name="Text 43"/>
          <p:cNvSpPr/>
          <p:nvPr/>
        </p:nvSpPr>
        <p:spPr>
          <a:xfrm>
            <a:off x="6858000" y="3547872"/>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Botón "Crear convenio". Desde ahí, cada semana el cliente debe la cuota normal MÁS la cuota del convenio.</a:t>
            </a:r>
            <a:endParaRPr lang="en-US" sz="1000" dirty="0"/>
          </a:p>
        </p:txBody>
      </p:sp>
      <p:sp>
        <p:nvSpPr>
          <p:cNvPr id="46" name="Text 44"/>
          <p:cNvSpPr/>
          <p:nvPr/>
        </p:nvSpPr>
        <p:spPr>
          <a:xfrm>
            <a:off x="656539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El convenio NUNCA reemplaza la cuota de la semana, va POR ENCIMA — si el cliente entiende que ahora solo paga $60.000, el convenio…</a:t>
            </a:r>
            <a:endParaRPr lang="en-US" sz="950" dirty="0"/>
          </a:p>
        </p:txBody>
      </p:sp>
      <p:sp>
        <p:nvSpPr>
          <p:cNvPr id="47" name="Shape 45"/>
          <p:cNvSpPr/>
          <p:nvPr/>
        </p:nvSpPr>
        <p:spPr>
          <a:xfrm>
            <a:off x="6400800" y="5138928"/>
            <a:ext cx="5394960" cy="1097280"/>
          </a:xfrm>
          <a:prstGeom prst="roundRect">
            <a:avLst>
              <a:gd name="adj" fmla="val 6667"/>
            </a:avLst>
          </a:prstGeom>
          <a:solidFill>
            <a:srgbClr val="DCFCE7"/>
          </a:solidFill>
          <a:ln w="12700">
            <a:solidFill>
              <a:srgbClr val="16A34A"/>
            </a:solidFill>
            <a:prstDash val="solid"/>
          </a:ln>
        </p:spPr>
      </p:sp>
      <p:sp>
        <p:nvSpPr>
          <p:cNvPr id="48" name="Text 46"/>
          <p:cNvSpPr/>
          <p:nvPr/>
        </p:nvSpPr>
        <p:spPr>
          <a:xfrm>
            <a:off x="654710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9" name="Text 47"/>
          <p:cNvSpPr/>
          <p:nvPr/>
        </p:nvSpPr>
        <p:spPr>
          <a:xfrm>
            <a:off x="654710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ALEJANDRO NIETO debe $780.000 atrasados. Se pactan 13 cuotas de $60.000 encima de su cuota semanal de $202.000: durante 13 semanas paga $262.000 por semana. En el Panel Hoy su tarjeta le muestra al cobrador "cuota $202.000 + conv.</a:t>
            </a:r>
            <a:endParaRPr lang="en-US" sz="1150" dirty="0"/>
          </a:p>
        </p:txBody>
      </p:sp>
      <p:sp>
        <p:nvSpPr>
          <p:cNvPr id="50" name="Text 48"/>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1" name="Text 49"/>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CONSULTA RÁPIDA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¿Qué hago si…?</a:t>
            </a:r>
            <a:endParaRPr lang="en-US" sz="2700" dirty="0"/>
          </a:p>
        </p:txBody>
      </p:sp>
      <p:sp>
        <p:nvSpPr>
          <p:cNvPr id="4" name="Shape 2"/>
          <p:cNvSpPr/>
          <p:nvPr/>
        </p:nvSpPr>
        <p:spPr>
          <a:xfrm>
            <a:off x="64008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5" name="Shape 3"/>
          <p:cNvSpPr/>
          <p:nvPr/>
        </p:nvSpPr>
        <p:spPr>
          <a:xfrm>
            <a:off x="640080" y="1371600"/>
            <a:ext cx="5394960" cy="475488"/>
          </a:xfrm>
          <a:prstGeom prst="roundRect">
            <a:avLst>
              <a:gd name="adj" fmla="val 19231"/>
            </a:avLst>
          </a:prstGeom>
          <a:solidFill>
            <a:srgbClr val="0F172A"/>
          </a:solidFill>
          <a:ln/>
        </p:spPr>
      </p:sp>
      <p:sp>
        <p:nvSpPr>
          <p:cNvPr id="6" name="Shape 4"/>
          <p:cNvSpPr/>
          <p:nvPr/>
        </p:nvSpPr>
        <p:spPr>
          <a:xfrm>
            <a:off x="640080" y="1664208"/>
            <a:ext cx="5394960" cy="182880"/>
          </a:xfrm>
          <a:prstGeom prst="rect">
            <a:avLst/>
          </a:prstGeom>
          <a:solidFill>
            <a:srgbClr val="0F172A"/>
          </a:solidFill>
          <a:ln/>
        </p:spPr>
      </p:sp>
      <p:sp>
        <p:nvSpPr>
          <p:cNvPr id="7" name="Text 5"/>
          <p:cNvSpPr/>
          <p:nvPr/>
        </p:nvSpPr>
        <p:spPr>
          <a:xfrm>
            <a:off x="78638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 le recogió la moto y ahora viene a recuperarla</a:t>
            </a:r>
            <a:endParaRPr lang="en-US" sz="1150" dirty="0"/>
          </a:p>
        </p:txBody>
      </p:sp>
      <p:sp>
        <p:nvSpPr>
          <p:cNvPr id="8" name="Shape 6"/>
          <p:cNvSpPr/>
          <p:nvPr/>
        </p:nvSpPr>
        <p:spPr>
          <a:xfrm>
            <a:off x="804672" y="1975104"/>
            <a:ext cx="219456" cy="219456"/>
          </a:xfrm>
          <a:prstGeom prst="ellipse">
            <a:avLst/>
          </a:prstGeom>
          <a:solidFill>
            <a:srgbClr val="0284C7"/>
          </a:solidFill>
          <a:ln/>
        </p:spPr>
      </p:sp>
      <p:sp>
        <p:nvSpPr>
          <p:cNvPr id="9" name="Text 7"/>
          <p:cNvSpPr/>
          <p:nvPr/>
        </p:nvSpPr>
        <p:spPr>
          <a:xfrm>
            <a:off x="80467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Text 8"/>
          <p:cNvSpPr/>
          <p:nvPr/>
        </p:nvSpPr>
        <p:spPr>
          <a:xfrm>
            <a:off x="1097280" y="193852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Entra a "Inmovilizaciones" → pestaña "🔒 Retenidas" → filtro "🔴 Mora" → busca la placa. Ahí sale exactamente cuánto falta para poder entregarla.</a:t>
            </a:r>
            <a:endParaRPr lang="en-US" sz="1000" dirty="0"/>
          </a:p>
        </p:txBody>
      </p:sp>
      <p:sp>
        <p:nvSpPr>
          <p:cNvPr id="11" name="Shape 9"/>
          <p:cNvSpPr/>
          <p:nvPr/>
        </p:nvSpPr>
        <p:spPr>
          <a:xfrm>
            <a:off x="804672" y="2487168"/>
            <a:ext cx="219456" cy="219456"/>
          </a:xfrm>
          <a:prstGeom prst="ellipse">
            <a:avLst/>
          </a:prstGeom>
          <a:solidFill>
            <a:srgbClr val="0284C7"/>
          </a:solidFill>
          <a:ln/>
        </p:spPr>
      </p:sp>
      <p:sp>
        <p:nvSpPr>
          <p:cNvPr id="12" name="Text 10"/>
          <p:cNvSpPr/>
          <p:nvPr/>
        </p:nvSpPr>
        <p:spPr>
          <a:xfrm>
            <a:off x="804672" y="248716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3" name="Text 11"/>
          <p:cNvSpPr/>
          <p:nvPr/>
        </p:nvSpPr>
        <p:spPr>
          <a:xfrm>
            <a:off x="1097280" y="2450592"/>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Botón "💵 Cobrar": el pago cubre PRIMERO la multa y las deudas (ese es el mínimo para llevarse la moto) y después lo atrasado.</a:t>
            </a:r>
            <a:endParaRPr lang="en-US" sz="1000" dirty="0"/>
          </a:p>
        </p:txBody>
      </p:sp>
      <p:sp>
        <p:nvSpPr>
          <p:cNvPr id="14" name="Shape 12"/>
          <p:cNvSpPr/>
          <p:nvPr/>
        </p:nvSpPr>
        <p:spPr>
          <a:xfrm>
            <a:off x="804672" y="2999232"/>
            <a:ext cx="219456" cy="219456"/>
          </a:xfrm>
          <a:prstGeom prst="ellipse">
            <a:avLst/>
          </a:prstGeom>
          <a:solidFill>
            <a:srgbClr val="0284C7"/>
          </a:solidFill>
          <a:ln/>
        </p:spPr>
      </p:sp>
      <p:sp>
        <p:nvSpPr>
          <p:cNvPr id="15" name="Text 13"/>
          <p:cNvSpPr/>
          <p:nvPr/>
        </p:nvSpPr>
        <p:spPr>
          <a:xfrm>
            <a:off x="804672" y="2999232"/>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1097280" y="2962656"/>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Lo atrasado que no pueda pagar hoy: botón "📝 Convenio" — se pacta y se firma ahí mismo.</a:t>
            </a:r>
            <a:endParaRPr lang="en-US" sz="1000" dirty="0"/>
          </a:p>
        </p:txBody>
      </p:sp>
      <p:sp>
        <p:nvSpPr>
          <p:cNvPr id="17" name="Shape 15"/>
          <p:cNvSpPr/>
          <p:nvPr/>
        </p:nvSpPr>
        <p:spPr>
          <a:xfrm>
            <a:off x="804672" y="3364992"/>
            <a:ext cx="219456" cy="219456"/>
          </a:xfrm>
          <a:prstGeom prst="ellipse">
            <a:avLst/>
          </a:prstGeom>
          <a:solidFill>
            <a:srgbClr val="0284C7"/>
          </a:solidFill>
          <a:ln/>
        </p:spPr>
      </p:sp>
      <p:sp>
        <p:nvSpPr>
          <p:cNvPr id="18" name="Text 16"/>
          <p:cNvSpPr/>
          <p:nvPr/>
        </p:nvSpPr>
        <p:spPr>
          <a:xfrm>
            <a:off x="804672" y="3364992"/>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9" name="Text 17"/>
          <p:cNvSpPr/>
          <p:nvPr/>
        </p:nvSpPr>
        <p:spPr>
          <a:xfrm>
            <a:off x="1097280" y="3328416"/>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Cuando ya no falta nada (multa pagada y atrasos pagados o en convenio) se habilita el botón "✓ Entregar moto".</a:t>
            </a:r>
            <a:endParaRPr lang="en-US" sz="1000" dirty="0"/>
          </a:p>
        </p:txBody>
      </p:sp>
      <p:sp>
        <p:nvSpPr>
          <p:cNvPr id="20" name="Shape 18"/>
          <p:cNvSpPr/>
          <p:nvPr/>
        </p:nvSpPr>
        <p:spPr>
          <a:xfrm>
            <a:off x="804672" y="3877056"/>
            <a:ext cx="219456" cy="219456"/>
          </a:xfrm>
          <a:prstGeom prst="ellipse">
            <a:avLst/>
          </a:prstGeom>
          <a:solidFill>
            <a:srgbClr val="0284C7"/>
          </a:solidFill>
          <a:ln/>
        </p:spPr>
      </p:sp>
      <p:sp>
        <p:nvSpPr>
          <p:cNvPr id="21" name="Text 19"/>
          <p:cNvSpPr/>
          <p:nvPr/>
        </p:nvSpPr>
        <p:spPr>
          <a:xfrm>
            <a:off x="804672" y="3877056"/>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2" name="Text 20"/>
          <p:cNvSpPr/>
          <p:nvPr/>
        </p:nvSpPr>
        <p:spPr>
          <a:xfrm>
            <a:off x="1097280" y="3840480"/>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Ese botón pide las 6 fotos (incluida la de la persona al lado de la moto) y el kilometraje.</a:t>
            </a:r>
            <a:endParaRPr lang="en-US" sz="1000" dirty="0"/>
          </a:p>
        </p:txBody>
      </p:sp>
      <p:sp>
        <p:nvSpPr>
          <p:cNvPr id="23" name="Text 21"/>
          <p:cNvSpPr/>
          <p:nvPr/>
        </p:nvSpPr>
        <p:spPr>
          <a:xfrm>
            <a:off x="80467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El mínimo innegociable es la MULTA de $20.000; el resto puede quedar en convenio, pero pídele lo MÁXIMO que pueda dar hoy.</a:t>
            </a:r>
            <a:endParaRPr lang="en-US" sz="950" dirty="0"/>
          </a:p>
        </p:txBody>
      </p:sp>
      <p:sp>
        <p:nvSpPr>
          <p:cNvPr id="24" name="Shape 22"/>
          <p:cNvSpPr/>
          <p:nvPr/>
        </p:nvSpPr>
        <p:spPr>
          <a:xfrm>
            <a:off x="640080" y="5138928"/>
            <a:ext cx="5394960" cy="1097280"/>
          </a:xfrm>
          <a:prstGeom prst="roundRect">
            <a:avLst>
              <a:gd name="adj" fmla="val 6667"/>
            </a:avLst>
          </a:prstGeom>
          <a:solidFill>
            <a:srgbClr val="DCFCE7"/>
          </a:solidFill>
          <a:ln w="12700">
            <a:solidFill>
              <a:srgbClr val="16A34A"/>
            </a:solidFill>
            <a:prstDash val="solid"/>
          </a:ln>
        </p:spPr>
      </p:sp>
      <p:sp>
        <p:nvSpPr>
          <p:cNvPr id="25" name="Text 23"/>
          <p:cNvSpPr/>
          <p:nvPr/>
        </p:nvSpPr>
        <p:spPr>
          <a:xfrm>
            <a:off x="78638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26" name="Text 24"/>
          <p:cNvSpPr/>
          <p:nvPr/>
        </p:nvSpPr>
        <p:spPr>
          <a:xfrm>
            <a:off x="78638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ANDRY BREA (RLZ93H) fue recogido el lunes: multa $20.000 + 2 semanas atrasadas $404.000. Llega con $150.000. Se le cobran: primero los $20.000 de multa, y los $130.000 restantes bajan lo atrasado.</a:t>
            </a:r>
            <a:endParaRPr lang="en-US" sz="1150" dirty="0"/>
          </a:p>
        </p:txBody>
      </p:sp>
      <p:sp>
        <p:nvSpPr>
          <p:cNvPr id="27" name="Shape 25"/>
          <p:cNvSpPr/>
          <p:nvPr/>
        </p:nvSpPr>
        <p:spPr>
          <a:xfrm>
            <a:off x="640080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28" name="Shape 26"/>
          <p:cNvSpPr/>
          <p:nvPr/>
        </p:nvSpPr>
        <p:spPr>
          <a:xfrm>
            <a:off x="6400800" y="1371600"/>
            <a:ext cx="5394960" cy="475488"/>
          </a:xfrm>
          <a:prstGeom prst="roundRect">
            <a:avLst>
              <a:gd name="adj" fmla="val 19231"/>
            </a:avLst>
          </a:prstGeom>
          <a:solidFill>
            <a:srgbClr val="0F172A"/>
          </a:solidFill>
          <a:ln/>
        </p:spPr>
      </p:sp>
      <p:sp>
        <p:nvSpPr>
          <p:cNvPr id="29" name="Shape 27"/>
          <p:cNvSpPr/>
          <p:nvPr/>
        </p:nvSpPr>
        <p:spPr>
          <a:xfrm>
            <a:off x="6400800" y="1664208"/>
            <a:ext cx="5394960" cy="182880"/>
          </a:xfrm>
          <a:prstGeom prst="rect">
            <a:avLst/>
          </a:prstGeom>
          <a:solidFill>
            <a:srgbClr val="0F172A"/>
          </a:solidFill>
          <a:ln/>
        </p:spPr>
      </p:sp>
      <p:sp>
        <p:nvSpPr>
          <p:cNvPr id="30" name="Text 28"/>
          <p:cNvSpPr/>
          <p:nvPr/>
        </p:nvSpPr>
        <p:spPr>
          <a:xfrm>
            <a:off x="654710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Está incapacitado y viene a entregar la moto por unos días</a:t>
            </a:r>
            <a:endParaRPr lang="en-US" sz="1150" dirty="0"/>
          </a:p>
        </p:txBody>
      </p:sp>
      <p:sp>
        <p:nvSpPr>
          <p:cNvPr id="31" name="Shape 29"/>
          <p:cNvSpPr/>
          <p:nvPr/>
        </p:nvSpPr>
        <p:spPr>
          <a:xfrm>
            <a:off x="6565392" y="1975104"/>
            <a:ext cx="219456" cy="219456"/>
          </a:xfrm>
          <a:prstGeom prst="ellipse">
            <a:avLst/>
          </a:prstGeom>
          <a:solidFill>
            <a:srgbClr val="0284C7"/>
          </a:solidFill>
          <a:ln/>
        </p:spPr>
      </p:sp>
      <p:sp>
        <p:nvSpPr>
          <p:cNvPr id="32" name="Text 30"/>
          <p:cNvSpPr/>
          <p:nvPr/>
        </p:nvSpPr>
        <p:spPr>
          <a:xfrm>
            <a:off x="656539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3" name="Text 31"/>
          <p:cNvSpPr/>
          <p:nvPr/>
        </p:nvSpPr>
        <p:spPr>
          <a:xfrm>
            <a:off x="685800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Entra a "Motos" → busca la placa → botón "🏍️ Registrar novedad".</a:t>
            </a:r>
            <a:endParaRPr lang="en-US" sz="1000" dirty="0"/>
          </a:p>
        </p:txBody>
      </p:sp>
      <p:sp>
        <p:nvSpPr>
          <p:cNvPr id="34" name="Shape 32"/>
          <p:cNvSpPr/>
          <p:nvPr/>
        </p:nvSpPr>
        <p:spPr>
          <a:xfrm>
            <a:off x="6565392" y="2340864"/>
            <a:ext cx="219456" cy="219456"/>
          </a:xfrm>
          <a:prstGeom prst="ellipse">
            <a:avLst/>
          </a:prstGeom>
          <a:solidFill>
            <a:srgbClr val="0284C7"/>
          </a:solidFill>
          <a:ln/>
        </p:spPr>
      </p:sp>
      <p:sp>
        <p:nvSpPr>
          <p:cNvPr id="35" name="Text 33"/>
          <p:cNvSpPr/>
          <p:nvPr/>
        </p:nvSpPr>
        <p:spPr>
          <a:xfrm>
            <a:off x="656539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6" name="Text 34"/>
          <p:cNvSpPr/>
          <p:nvPr/>
        </p:nvSpPr>
        <p:spPr>
          <a:xfrm>
            <a:off x="6858000" y="230428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Elige la opción "🤝 Entrega voluntaria del cliente".</a:t>
            </a:r>
            <a:endParaRPr lang="en-US" sz="1000" dirty="0"/>
          </a:p>
        </p:txBody>
      </p:sp>
      <p:sp>
        <p:nvSpPr>
          <p:cNvPr id="37" name="Shape 35"/>
          <p:cNvSpPr/>
          <p:nvPr/>
        </p:nvSpPr>
        <p:spPr>
          <a:xfrm>
            <a:off x="6565392" y="2706624"/>
            <a:ext cx="219456" cy="219456"/>
          </a:xfrm>
          <a:prstGeom prst="ellipse">
            <a:avLst/>
          </a:prstGeom>
          <a:solidFill>
            <a:srgbClr val="0284C7"/>
          </a:solidFill>
          <a:ln/>
        </p:spPr>
      </p:sp>
      <p:sp>
        <p:nvSpPr>
          <p:cNvPr id="38" name="Text 36"/>
          <p:cNvSpPr/>
          <p:nvPr/>
        </p:nvSpPr>
        <p:spPr>
          <a:xfrm>
            <a:off x="6565392" y="270662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9" name="Text 37"/>
          <p:cNvSpPr/>
          <p:nvPr/>
        </p:nvSpPr>
        <p:spPr>
          <a:xfrm>
            <a:off x="6858000" y="267004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Indica cómo llegó la moto: la trajo el cliente (sin costo) o hubo que ir a buscarla (ahí sí se cobran $20.000).</a:t>
            </a:r>
            <a:endParaRPr lang="en-US" sz="1000" dirty="0"/>
          </a:p>
        </p:txBody>
      </p:sp>
      <p:sp>
        <p:nvSpPr>
          <p:cNvPr id="40" name="Shape 38"/>
          <p:cNvSpPr/>
          <p:nvPr/>
        </p:nvSpPr>
        <p:spPr>
          <a:xfrm>
            <a:off x="6565392" y="3218688"/>
            <a:ext cx="219456" cy="219456"/>
          </a:xfrm>
          <a:prstGeom prst="ellipse">
            <a:avLst/>
          </a:prstGeom>
          <a:solidFill>
            <a:srgbClr val="0284C7"/>
          </a:solidFill>
          <a:ln/>
        </p:spPr>
      </p:sp>
      <p:sp>
        <p:nvSpPr>
          <p:cNvPr id="41" name="Text 39"/>
          <p:cNvSpPr/>
          <p:nvPr/>
        </p:nvSpPr>
        <p:spPr>
          <a:xfrm>
            <a:off x="6565392" y="32186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42" name="Text 40"/>
          <p:cNvSpPr/>
          <p:nvPr/>
        </p:nvSpPr>
        <p:spPr>
          <a:xfrm>
            <a:off x="6858000" y="3182112"/>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Toma las 6 fotos y registra el kilometraje. Al guardar, el contrato queda suspendido.</a:t>
            </a:r>
            <a:endParaRPr lang="en-US" sz="1000" dirty="0"/>
          </a:p>
        </p:txBody>
      </p:sp>
      <p:sp>
        <p:nvSpPr>
          <p:cNvPr id="43" name="Shape 41"/>
          <p:cNvSpPr/>
          <p:nvPr/>
        </p:nvSpPr>
        <p:spPr>
          <a:xfrm>
            <a:off x="6565392" y="3584448"/>
            <a:ext cx="219456" cy="219456"/>
          </a:xfrm>
          <a:prstGeom prst="ellipse">
            <a:avLst/>
          </a:prstGeom>
          <a:solidFill>
            <a:srgbClr val="0284C7"/>
          </a:solidFill>
          <a:ln/>
        </p:spPr>
      </p:sp>
      <p:sp>
        <p:nvSpPr>
          <p:cNvPr id="44" name="Text 42"/>
          <p:cNvSpPr/>
          <p:nvPr/>
        </p:nvSpPr>
        <p:spPr>
          <a:xfrm>
            <a:off x="6565392" y="358444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45" name="Text 43"/>
          <p:cNvSpPr/>
          <p:nvPr/>
        </p:nvSpPr>
        <p:spPr>
          <a:xfrm>
            <a:off x="6858000" y="3547872"/>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La moto aparece en Inmovilizaciones → "🔒 Retenidas" → filtro "🅿️ Temporal" (NO en el filtro de mora).</a:t>
            </a:r>
            <a:endParaRPr lang="en-US" sz="1000" dirty="0"/>
          </a:p>
        </p:txBody>
      </p:sp>
      <p:sp>
        <p:nvSpPr>
          <p:cNvPr id="46" name="Shape 44"/>
          <p:cNvSpPr/>
          <p:nvPr/>
        </p:nvSpPr>
        <p:spPr>
          <a:xfrm>
            <a:off x="6565392" y="3950208"/>
            <a:ext cx="219456" cy="219456"/>
          </a:xfrm>
          <a:prstGeom prst="ellipse">
            <a:avLst/>
          </a:prstGeom>
          <a:solidFill>
            <a:srgbClr val="0284C7"/>
          </a:solidFill>
          <a:ln/>
        </p:spPr>
      </p:sp>
      <p:sp>
        <p:nvSpPr>
          <p:cNvPr id="47" name="Text 45"/>
          <p:cNvSpPr/>
          <p:nvPr/>
        </p:nvSpPr>
        <p:spPr>
          <a:xfrm>
            <a:off x="6565392" y="395020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48" name="Text 46"/>
          <p:cNvSpPr/>
          <p:nvPr/>
        </p:nvSpPr>
        <p:spPr>
          <a:xfrm>
            <a:off x="6858000" y="3913632"/>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Cuando el cliente vuelve: mismo filtro "🅿️ Temporal" → botón "✓ Reactivar / entregar" → fotos de entrega → y la app pregunta qué se hace con los…</a:t>
            </a:r>
            <a:endParaRPr lang="en-US" sz="1000" dirty="0"/>
          </a:p>
        </p:txBody>
      </p:sp>
      <p:sp>
        <p:nvSpPr>
          <p:cNvPr id="49" name="Text 47"/>
          <p:cNvSpPr/>
          <p:nvPr/>
        </p:nvSpPr>
        <p:spPr>
          <a:xfrm>
            <a:off x="656539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NO es lo mismo que una recolección por mora. Si lo registras como recolección le metes $20.000 de multa que no le corresponden y lo…</a:t>
            </a:r>
            <a:endParaRPr lang="en-US" sz="950" dirty="0"/>
          </a:p>
        </p:txBody>
      </p:sp>
      <p:sp>
        <p:nvSpPr>
          <p:cNvPr id="50" name="Shape 48"/>
          <p:cNvSpPr/>
          <p:nvPr/>
        </p:nvSpPr>
        <p:spPr>
          <a:xfrm>
            <a:off x="6400800" y="5138928"/>
            <a:ext cx="5394960" cy="1097280"/>
          </a:xfrm>
          <a:prstGeom prst="roundRect">
            <a:avLst>
              <a:gd name="adj" fmla="val 6667"/>
            </a:avLst>
          </a:prstGeom>
          <a:solidFill>
            <a:srgbClr val="DCFCE7"/>
          </a:solidFill>
          <a:ln w="12700">
            <a:solidFill>
              <a:srgbClr val="16A34A"/>
            </a:solidFill>
            <a:prstDash val="solid"/>
          </a:ln>
        </p:spPr>
      </p:sp>
      <p:sp>
        <p:nvSpPr>
          <p:cNvPr id="51" name="Text 49"/>
          <p:cNvSpPr/>
          <p:nvPr/>
        </p:nvSpPr>
        <p:spPr>
          <a:xfrm>
            <a:off x="654710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52" name="Text 50"/>
          <p:cNvSpPr/>
          <p:nvPr/>
        </p:nvSpPr>
        <p:spPr>
          <a:xfrm>
            <a:off x="654710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MARTHA ALVAREZ (RLT68H) se accidenta y entrega la moto el día 5. Vuelve el día 12: son 7 días × $27.000 = $189.000. SERGIO decide en ese momento si se los cobra como deuda o si le corre el fin del contrato 7 días (con documento…</a:t>
            </a:r>
            <a:endParaRPr lang="en-US" sz="1150" dirty="0"/>
          </a:p>
        </p:txBody>
      </p:sp>
      <p:sp>
        <p:nvSpPr>
          <p:cNvPr id="53" name="Text 51"/>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4" name="Text 52"/>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CONSULTA RÁPIDA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¿Qué hago si…?</a:t>
            </a:r>
            <a:endParaRPr lang="en-US" sz="2700" dirty="0"/>
          </a:p>
        </p:txBody>
      </p:sp>
      <p:sp>
        <p:nvSpPr>
          <p:cNvPr id="4" name="Shape 2"/>
          <p:cNvSpPr/>
          <p:nvPr/>
        </p:nvSpPr>
        <p:spPr>
          <a:xfrm>
            <a:off x="64008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5" name="Shape 3"/>
          <p:cNvSpPr/>
          <p:nvPr/>
        </p:nvSpPr>
        <p:spPr>
          <a:xfrm>
            <a:off x="640080" y="1371600"/>
            <a:ext cx="5394960" cy="475488"/>
          </a:xfrm>
          <a:prstGeom prst="roundRect">
            <a:avLst>
              <a:gd name="adj" fmla="val 19231"/>
            </a:avLst>
          </a:prstGeom>
          <a:solidFill>
            <a:srgbClr val="0F172A"/>
          </a:solidFill>
          <a:ln/>
        </p:spPr>
      </p:sp>
      <p:sp>
        <p:nvSpPr>
          <p:cNvPr id="6" name="Shape 4"/>
          <p:cNvSpPr/>
          <p:nvPr/>
        </p:nvSpPr>
        <p:spPr>
          <a:xfrm>
            <a:off x="640080" y="1664208"/>
            <a:ext cx="5394960" cy="182880"/>
          </a:xfrm>
          <a:prstGeom prst="rect">
            <a:avLst/>
          </a:prstGeom>
          <a:solidFill>
            <a:srgbClr val="0F172A"/>
          </a:solidFill>
          <a:ln/>
        </p:spPr>
      </p:sp>
      <p:sp>
        <p:nvSpPr>
          <p:cNvPr id="7" name="Text 5"/>
          <p:cNvSpPr/>
          <p:nvPr/>
        </p:nvSpPr>
        <p:spPr>
          <a:xfrm>
            <a:off x="78638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Registré un pago que estaba equivocado (cliente o monto)</a:t>
            </a:r>
            <a:endParaRPr lang="en-US" sz="1150" dirty="0"/>
          </a:p>
        </p:txBody>
      </p:sp>
      <p:sp>
        <p:nvSpPr>
          <p:cNvPr id="8" name="Shape 6"/>
          <p:cNvSpPr/>
          <p:nvPr/>
        </p:nvSpPr>
        <p:spPr>
          <a:xfrm>
            <a:off x="804672" y="1975104"/>
            <a:ext cx="219456" cy="219456"/>
          </a:xfrm>
          <a:prstGeom prst="ellipse">
            <a:avLst/>
          </a:prstGeom>
          <a:solidFill>
            <a:srgbClr val="0284C7"/>
          </a:solidFill>
          <a:ln/>
        </p:spPr>
      </p:sp>
      <p:sp>
        <p:nvSpPr>
          <p:cNvPr id="9" name="Text 7"/>
          <p:cNvSpPr/>
          <p:nvPr/>
        </p:nvSpPr>
        <p:spPr>
          <a:xfrm>
            <a:off x="80467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Text 8"/>
          <p:cNvSpPr/>
          <p:nvPr/>
        </p:nvSpPr>
        <p:spPr>
          <a:xfrm>
            <a:off x="109728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Primero mira el estado del pago: Cartera → detalle del contrato → pestaña "Historial".</a:t>
            </a:r>
            <a:endParaRPr lang="en-US" sz="1000" dirty="0"/>
          </a:p>
        </p:txBody>
      </p:sp>
      <p:sp>
        <p:nvSpPr>
          <p:cNvPr id="11" name="Shape 9"/>
          <p:cNvSpPr/>
          <p:nvPr/>
        </p:nvSpPr>
        <p:spPr>
          <a:xfrm>
            <a:off x="804672" y="2340864"/>
            <a:ext cx="219456" cy="219456"/>
          </a:xfrm>
          <a:prstGeom prst="ellipse">
            <a:avLst/>
          </a:prstGeom>
          <a:solidFill>
            <a:srgbClr val="0284C7"/>
          </a:solidFill>
          <a:ln/>
        </p:spPr>
      </p:sp>
      <p:sp>
        <p:nvSpPr>
          <p:cNvPr id="12" name="Text 10"/>
          <p:cNvSpPr/>
          <p:nvPr/>
        </p:nvSpPr>
        <p:spPr>
          <a:xfrm>
            <a:off x="80467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3" name="Text 11"/>
          <p:cNvSpPr/>
          <p:nvPr/>
        </p:nvSpPr>
        <p:spPr>
          <a:xfrm>
            <a:off x="1097280" y="230428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SI ESTÁ "PENDIENTE" (transferencia o efectivo de campo sin confirmar): Cartera → pestaña "⏳ Por confirmar" → busca el pago → botón "Rechazar".</a:t>
            </a:r>
            <a:endParaRPr lang="en-US" sz="1000" dirty="0"/>
          </a:p>
        </p:txBody>
      </p:sp>
      <p:sp>
        <p:nvSpPr>
          <p:cNvPr id="14" name="Shape 12"/>
          <p:cNvSpPr/>
          <p:nvPr/>
        </p:nvSpPr>
        <p:spPr>
          <a:xfrm>
            <a:off x="804672" y="2852928"/>
            <a:ext cx="219456" cy="219456"/>
          </a:xfrm>
          <a:prstGeom prst="ellipse">
            <a:avLst/>
          </a:prstGeom>
          <a:solidFill>
            <a:srgbClr val="0284C7"/>
          </a:solidFill>
          <a:ln/>
        </p:spPr>
      </p:sp>
      <p:sp>
        <p:nvSpPr>
          <p:cNvPr id="15" name="Text 13"/>
          <p:cNvSpPr/>
          <p:nvPr/>
        </p:nvSpPr>
        <p:spPr>
          <a:xfrm>
            <a:off x="804672" y="285292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1097280" y="2816352"/>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SI YA ESTÁ "CONFIRMADO": solo FREDY (admin principal) puede eliminarlo. Cartera → detalle del contrato → pestaña "Historial" → botón 🗑️ en ese pago…</a:t>
            </a:r>
            <a:endParaRPr lang="en-US" sz="1000" dirty="0"/>
          </a:p>
        </p:txBody>
      </p:sp>
      <p:sp>
        <p:nvSpPr>
          <p:cNvPr id="17" name="Shape 15"/>
          <p:cNvSpPr/>
          <p:nvPr/>
        </p:nvSpPr>
        <p:spPr>
          <a:xfrm>
            <a:off x="804672" y="3364992"/>
            <a:ext cx="219456" cy="219456"/>
          </a:xfrm>
          <a:prstGeom prst="ellipse">
            <a:avLst/>
          </a:prstGeom>
          <a:solidFill>
            <a:srgbClr val="0284C7"/>
          </a:solidFill>
          <a:ln/>
        </p:spPr>
      </p:sp>
      <p:sp>
        <p:nvSpPr>
          <p:cNvPr id="18" name="Text 16"/>
          <p:cNvSpPr/>
          <p:nvPr/>
        </p:nvSpPr>
        <p:spPr>
          <a:xfrm>
            <a:off x="804672" y="3364992"/>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9" name="Text 17"/>
          <p:cNvSpPr/>
          <p:nvPr/>
        </p:nvSpPr>
        <p:spPr>
          <a:xfrm>
            <a:off x="1097280" y="3328416"/>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Después de eliminarlo, registra el pago otra vez en el contrato correcto y con la FECHA REAL en que el cliente pagó.</a:t>
            </a:r>
            <a:endParaRPr lang="en-US" sz="1000" dirty="0"/>
          </a:p>
        </p:txBody>
      </p:sp>
      <p:sp>
        <p:nvSpPr>
          <p:cNvPr id="20" name="Text 18"/>
          <p:cNvSpPr/>
          <p:nvPr/>
        </p:nvSpPr>
        <p:spPr>
          <a:xfrm>
            <a:off x="80467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Jamás "arregles" un error registrando un pago negativo, restándoselo a otro cliente o cobrando de menos la próxima vez.</a:t>
            </a:r>
            <a:endParaRPr lang="en-US" sz="950" dirty="0"/>
          </a:p>
        </p:txBody>
      </p:sp>
      <p:sp>
        <p:nvSpPr>
          <p:cNvPr id="21" name="Shape 19"/>
          <p:cNvSpPr/>
          <p:nvPr/>
        </p:nvSpPr>
        <p:spPr>
          <a:xfrm>
            <a:off x="640080" y="5138928"/>
            <a:ext cx="5394960" cy="1097280"/>
          </a:xfrm>
          <a:prstGeom prst="roundRect">
            <a:avLst>
              <a:gd name="adj" fmla="val 6667"/>
            </a:avLst>
          </a:prstGeom>
          <a:solidFill>
            <a:srgbClr val="DCFCE7"/>
          </a:solidFill>
          <a:ln w="12700">
            <a:solidFill>
              <a:srgbClr val="16A34A"/>
            </a:solidFill>
            <a:prstDash val="solid"/>
          </a:ln>
        </p:spPr>
      </p:sp>
      <p:sp>
        <p:nvSpPr>
          <p:cNvPr id="22" name="Text 20"/>
          <p:cNvSpPr/>
          <p:nvPr/>
        </p:nvSpPr>
        <p:spPr>
          <a:xfrm>
            <a:off x="78638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23" name="Text 21"/>
          <p:cNvSpPr/>
          <p:nvPr/>
        </p:nvSpPr>
        <p:spPr>
          <a:xfrm>
            <a:off x="78638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ANGELA registró $202.000 en el contrato de ANDRY BREA (RLZ93H) cuando en realidad eran de MARTHA ALVAREZ (RLT68H). FREDY elimina el pago del contrato de ANDRY y ANGELA lo vuelve a registrar en el de MARTHA con la fecha del día en que…</a:t>
            </a:r>
            <a:endParaRPr lang="en-US" sz="1150" dirty="0"/>
          </a:p>
        </p:txBody>
      </p:sp>
      <p:sp>
        <p:nvSpPr>
          <p:cNvPr id="24" name="Shape 22"/>
          <p:cNvSpPr/>
          <p:nvPr/>
        </p:nvSpPr>
        <p:spPr>
          <a:xfrm>
            <a:off x="640080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25" name="Shape 23"/>
          <p:cNvSpPr/>
          <p:nvPr/>
        </p:nvSpPr>
        <p:spPr>
          <a:xfrm>
            <a:off x="6400800" y="1371600"/>
            <a:ext cx="5394960" cy="475488"/>
          </a:xfrm>
          <a:prstGeom prst="roundRect">
            <a:avLst>
              <a:gd name="adj" fmla="val 19231"/>
            </a:avLst>
          </a:prstGeom>
          <a:solidFill>
            <a:srgbClr val="0F172A"/>
          </a:solidFill>
          <a:ln/>
        </p:spPr>
      </p:sp>
      <p:sp>
        <p:nvSpPr>
          <p:cNvPr id="26" name="Shape 24"/>
          <p:cNvSpPr/>
          <p:nvPr/>
        </p:nvSpPr>
        <p:spPr>
          <a:xfrm>
            <a:off x="6400800" y="1664208"/>
            <a:ext cx="5394960" cy="182880"/>
          </a:xfrm>
          <a:prstGeom prst="rect">
            <a:avLst/>
          </a:prstGeom>
          <a:solidFill>
            <a:srgbClr val="0F172A"/>
          </a:solidFill>
          <a:ln/>
        </p:spPr>
      </p:sp>
      <p:sp>
        <p:nvSpPr>
          <p:cNvPr id="27" name="Text 25"/>
          <p:cNvSpPr/>
          <p:nvPr/>
        </p:nvSpPr>
        <p:spPr>
          <a:xfrm>
            <a:off x="654710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¿Cuánto llevo ahorrado? ¿Cuánto me falta?</a:t>
            </a:r>
            <a:endParaRPr lang="en-US" sz="1150" dirty="0"/>
          </a:p>
        </p:txBody>
      </p:sp>
      <p:sp>
        <p:nvSpPr>
          <p:cNvPr id="28" name="Shape 26"/>
          <p:cNvSpPr/>
          <p:nvPr/>
        </p:nvSpPr>
        <p:spPr>
          <a:xfrm>
            <a:off x="6565392" y="1975104"/>
            <a:ext cx="219456" cy="219456"/>
          </a:xfrm>
          <a:prstGeom prst="ellipse">
            <a:avLst/>
          </a:prstGeom>
          <a:solidFill>
            <a:srgbClr val="0284C7"/>
          </a:solidFill>
          <a:ln/>
        </p:spPr>
      </p:sp>
      <p:sp>
        <p:nvSpPr>
          <p:cNvPr id="29" name="Text 27"/>
          <p:cNvSpPr/>
          <p:nvPr/>
        </p:nvSpPr>
        <p:spPr>
          <a:xfrm>
            <a:off x="656539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0" name="Text 28"/>
          <p:cNvSpPr/>
          <p:nvPr/>
        </p:nvSpPr>
        <p:spPr>
          <a:xfrm>
            <a:off x="685800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Cartera → "🌎 Todos" → busca la placa → abre el detalle del contrato.</a:t>
            </a:r>
            <a:endParaRPr lang="en-US" sz="1000" dirty="0"/>
          </a:p>
        </p:txBody>
      </p:sp>
      <p:sp>
        <p:nvSpPr>
          <p:cNvPr id="31" name="Shape 29"/>
          <p:cNvSpPr/>
          <p:nvPr/>
        </p:nvSpPr>
        <p:spPr>
          <a:xfrm>
            <a:off x="6565392" y="2340864"/>
            <a:ext cx="219456" cy="219456"/>
          </a:xfrm>
          <a:prstGeom prst="ellipse">
            <a:avLst/>
          </a:prstGeom>
          <a:solidFill>
            <a:srgbClr val="0284C7"/>
          </a:solidFill>
          <a:ln/>
        </p:spPr>
      </p:sp>
      <p:sp>
        <p:nvSpPr>
          <p:cNvPr id="32" name="Text 30"/>
          <p:cNvSpPr/>
          <p:nvPr/>
        </p:nvSpPr>
        <p:spPr>
          <a:xfrm>
            <a:off x="656539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3" name="Text 31"/>
          <p:cNvSpPr/>
          <p:nvPr/>
        </p:nvSpPr>
        <p:spPr>
          <a:xfrm>
            <a:off x="6858000" y="230428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Arriba está el recuadro "Ahorro": ese número ya suma lo que el cliente traía de antes más lo que ha ahorrado en el sistema.</a:t>
            </a:r>
            <a:endParaRPr lang="en-US" sz="1000" dirty="0"/>
          </a:p>
        </p:txBody>
      </p:sp>
      <p:sp>
        <p:nvSpPr>
          <p:cNvPr id="34" name="Shape 32"/>
          <p:cNvSpPr/>
          <p:nvPr/>
        </p:nvSpPr>
        <p:spPr>
          <a:xfrm>
            <a:off x="6565392" y="2852928"/>
            <a:ext cx="219456" cy="219456"/>
          </a:xfrm>
          <a:prstGeom prst="ellipse">
            <a:avLst/>
          </a:prstGeom>
          <a:solidFill>
            <a:srgbClr val="0284C7"/>
          </a:solidFill>
          <a:ln/>
        </p:spPr>
      </p:sp>
      <p:sp>
        <p:nvSpPr>
          <p:cNvPr id="35" name="Text 33"/>
          <p:cNvSpPr/>
          <p:nvPr/>
        </p:nvSpPr>
        <p:spPr>
          <a:xfrm>
            <a:off x="6565392" y="285292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6" name="Text 34"/>
          <p:cNvSpPr/>
          <p:nvPr/>
        </p:nvSpPr>
        <p:spPr>
          <a:xfrm>
            <a:off x="6858000" y="2816352"/>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Para que se lo lleve por escrito: botón "📄 Estado de cuenta" (lo imprime en la impresora del mostrador) o "📱 Enviar por WhatsApp".</a:t>
            </a:r>
            <a:endParaRPr lang="en-US" sz="1000" dirty="0"/>
          </a:p>
        </p:txBody>
      </p:sp>
      <p:sp>
        <p:nvSpPr>
          <p:cNvPr id="37" name="Shape 35"/>
          <p:cNvSpPr/>
          <p:nvPr/>
        </p:nvSpPr>
        <p:spPr>
          <a:xfrm>
            <a:off x="6565392" y="3364992"/>
            <a:ext cx="219456" cy="219456"/>
          </a:xfrm>
          <a:prstGeom prst="ellipse">
            <a:avLst/>
          </a:prstGeom>
          <a:solidFill>
            <a:srgbClr val="0284C7"/>
          </a:solidFill>
          <a:ln/>
        </p:spPr>
      </p:sp>
      <p:sp>
        <p:nvSpPr>
          <p:cNvPr id="38" name="Text 36"/>
          <p:cNvSpPr/>
          <p:nvPr/>
        </p:nvSpPr>
        <p:spPr>
          <a:xfrm>
            <a:off x="6565392" y="3364992"/>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9" name="Text 37"/>
          <p:cNvSpPr/>
          <p:nvPr/>
        </p:nvSpPr>
        <p:spPr>
          <a:xfrm>
            <a:off x="6858000" y="3328416"/>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Explícale con el papel en la mano: cuánto lleva, cuánto es la meta y cuánto le falta.</a:t>
            </a:r>
            <a:endParaRPr lang="en-US" sz="1000" dirty="0"/>
          </a:p>
        </p:txBody>
      </p:sp>
      <p:sp>
        <p:nvSpPr>
          <p:cNvPr id="40" name="Text 38"/>
          <p:cNvSpPr/>
          <p:nvPr/>
        </p:nvSpPr>
        <p:spPr>
          <a:xfrm>
            <a:off x="656539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El ahorro SOLO sube cuando la semana queda completa: de cada pago primero se cubre la parte de la empresa y lo último es el ahorro.</a:t>
            </a:r>
            <a:endParaRPr lang="en-US" sz="950" dirty="0"/>
          </a:p>
        </p:txBody>
      </p:sp>
      <p:sp>
        <p:nvSpPr>
          <p:cNvPr id="41" name="Shape 39"/>
          <p:cNvSpPr/>
          <p:nvPr/>
        </p:nvSpPr>
        <p:spPr>
          <a:xfrm>
            <a:off x="6400800" y="5138928"/>
            <a:ext cx="5394960" cy="1097280"/>
          </a:xfrm>
          <a:prstGeom prst="roundRect">
            <a:avLst>
              <a:gd name="adj" fmla="val 6667"/>
            </a:avLst>
          </a:prstGeom>
          <a:solidFill>
            <a:srgbClr val="DCFCE7"/>
          </a:solidFill>
          <a:ln w="12700">
            <a:solidFill>
              <a:srgbClr val="16A34A"/>
            </a:solidFill>
            <a:prstDash val="solid"/>
          </a:ln>
        </p:spPr>
      </p:sp>
      <p:sp>
        <p:nvSpPr>
          <p:cNvPr id="42" name="Text 40"/>
          <p:cNvSpPr/>
          <p:nvPr/>
        </p:nvSpPr>
        <p:spPr>
          <a:xfrm>
            <a:off x="654710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43" name="Text 41"/>
          <p:cNvSpPr/>
          <p:nvPr/>
        </p:nvSpPr>
        <p:spPr>
          <a:xfrm>
            <a:off x="654710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ANDRY BREA (RLZ93H) lleva $412.000 ahorrados. La base completa es $510.000, así que le faltan $98.000. Como ahorra $4.000 de lunes a sábado y $2.000 el domingo ($26.000 por semana si paga completo), le faltan unas 4 semanas pagando…</a:t>
            </a:r>
            <a:endParaRPr lang="en-US" sz="1150" dirty="0"/>
          </a:p>
        </p:txBody>
      </p:sp>
      <p:sp>
        <p:nvSpPr>
          <p:cNvPr id="44" name="Text 42"/>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45" name="Text 43"/>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CONSULTA RÁPIDA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¿Qué hago si…?</a:t>
            </a:r>
            <a:endParaRPr lang="en-US" sz="2700" dirty="0"/>
          </a:p>
        </p:txBody>
      </p:sp>
      <p:sp>
        <p:nvSpPr>
          <p:cNvPr id="4" name="Shape 2"/>
          <p:cNvSpPr/>
          <p:nvPr/>
        </p:nvSpPr>
        <p:spPr>
          <a:xfrm>
            <a:off x="64008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5" name="Shape 3"/>
          <p:cNvSpPr/>
          <p:nvPr/>
        </p:nvSpPr>
        <p:spPr>
          <a:xfrm>
            <a:off x="640080" y="1371600"/>
            <a:ext cx="5394960" cy="475488"/>
          </a:xfrm>
          <a:prstGeom prst="roundRect">
            <a:avLst>
              <a:gd name="adj" fmla="val 19231"/>
            </a:avLst>
          </a:prstGeom>
          <a:solidFill>
            <a:srgbClr val="0F172A"/>
          </a:solidFill>
          <a:ln/>
        </p:spPr>
      </p:sp>
      <p:sp>
        <p:nvSpPr>
          <p:cNvPr id="6" name="Shape 4"/>
          <p:cNvSpPr/>
          <p:nvPr/>
        </p:nvSpPr>
        <p:spPr>
          <a:xfrm>
            <a:off x="640080" y="1664208"/>
            <a:ext cx="5394960" cy="182880"/>
          </a:xfrm>
          <a:prstGeom prst="rect">
            <a:avLst/>
          </a:prstGeom>
          <a:solidFill>
            <a:srgbClr val="0F172A"/>
          </a:solidFill>
          <a:ln/>
        </p:spPr>
      </p:sp>
      <p:sp>
        <p:nvSpPr>
          <p:cNvPr id="7" name="Text 5"/>
          <p:cNvSpPr/>
          <p:nvPr/>
        </p:nvSpPr>
        <p:spPr>
          <a:xfrm>
            <a:off x="78638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Reclama que le estamos cobrando de más</a:t>
            </a:r>
            <a:endParaRPr lang="en-US" sz="1150" dirty="0"/>
          </a:p>
        </p:txBody>
      </p:sp>
      <p:sp>
        <p:nvSpPr>
          <p:cNvPr id="8" name="Shape 6"/>
          <p:cNvSpPr/>
          <p:nvPr/>
        </p:nvSpPr>
        <p:spPr>
          <a:xfrm>
            <a:off x="804672" y="1975104"/>
            <a:ext cx="219456" cy="219456"/>
          </a:xfrm>
          <a:prstGeom prst="ellipse">
            <a:avLst/>
          </a:prstGeom>
          <a:solidFill>
            <a:srgbClr val="0284C7"/>
          </a:solidFill>
          <a:ln/>
        </p:spPr>
      </p:sp>
      <p:sp>
        <p:nvSpPr>
          <p:cNvPr id="9" name="Text 7"/>
          <p:cNvSpPr/>
          <p:nvPr/>
        </p:nvSpPr>
        <p:spPr>
          <a:xfrm>
            <a:off x="80467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Text 8"/>
          <p:cNvSpPr/>
          <p:nvPr/>
        </p:nvSpPr>
        <p:spPr>
          <a:xfrm>
            <a:off x="109728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Entra a "Clientes" → busca al cliente → botón "Ver ficha completa".</a:t>
            </a:r>
            <a:endParaRPr lang="en-US" sz="1000" dirty="0"/>
          </a:p>
        </p:txBody>
      </p:sp>
      <p:sp>
        <p:nvSpPr>
          <p:cNvPr id="11" name="Shape 9"/>
          <p:cNvSpPr/>
          <p:nvPr/>
        </p:nvSpPr>
        <p:spPr>
          <a:xfrm>
            <a:off x="804672" y="2340864"/>
            <a:ext cx="219456" cy="219456"/>
          </a:xfrm>
          <a:prstGeom prst="ellipse">
            <a:avLst/>
          </a:prstGeom>
          <a:solidFill>
            <a:srgbClr val="0284C7"/>
          </a:solidFill>
          <a:ln/>
        </p:spPr>
      </p:sp>
      <p:sp>
        <p:nvSpPr>
          <p:cNvPr id="12" name="Text 10"/>
          <p:cNvSpPr/>
          <p:nvPr/>
        </p:nvSpPr>
        <p:spPr>
          <a:xfrm>
            <a:off x="80467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3" name="Text 11"/>
          <p:cNvSpPr/>
          <p:nvPr/>
        </p:nvSpPr>
        <p:spPr>
          <a:xfrm>
            <a:off x="1097280" y="230428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Toca la pestaña "🕘 Historial": es la línea de tiempo, todo en orden de fecha (pagos, cuotas, deudas, entrada al taller, recolecciones, convenios).</a:t>
            </a:r>
            <a:endParaRPr lang="en-US" sz="1000" dirty="0"/>
          </a:p>
        </p:txBody>
      </p:sp>
      <p:sp>
        <p:nvSpPr>
          <p:cNvPr id="14" name="Shape 12"/>
          <p:cNvSpPr/>
          <p:nvPr/>
        </p:nvSpPr>
        <p:spPr>
          <a:xfrm>
            <a:off x="804672" y="2852928"/>
            <a:ext cx="219456" cy="219456"/>
          </a:xfrm>
          <a:prstGeom prst="ellipse">
            <a:avLst/>
          </a:prstGeom>
          <a:solidFill>
            <a:srgbClr val="0284C7"/>
          </a:solidFill>
          <a:ln/>
        </p:spPr>
      </p:sp>
      <p:sp>
        <p:nvSpPr>
          <p:cNvPr id="15" name="Text 13"/>
          <p:cNvSpPr/>
          <p:nvPr/>
        </p:nvSpPr>
        <p:spPr>
          <a:xfrm>
            <a:off x="804672" y="285292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1097280" y="2816352"/>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Usa los chips para enfocar: "💵 Pagos" si el reclamo es de plata, "🏍️ Moto" si es por días que estuvo parada, "📄 Contrato" si es por el plazo.</a:t>
            </a:r>
            <a:endParaRPr lang="en-US" sz="1000" dirty="0"/>
          </a:p>
        </p:txBody>
      </p:sp>
      <p:sp>
        <p:nvSpPr>
          <p:cNvPr id="17" name="Shape 15"/>
          <p:cNvSpPr/>
          <p:nvPr/>
        </p:nvSpPr>
        <p:spPr>
          <a:xfrm>
            <a:off x="804672" y="3364992"/>
            <a:ext cx="219456" cy="219456"/>
          </a:xfrm>
          <a:prstGeom prst="ellipse">
            <a:avLst/>
          </a:prstGeom>
          <a:solidFill>
            <a:srgbClr val="0284C7"/>
          </a:solidFill>
          <a:ln/>
        </p:spPr>
      </p:sp>
      <p:sp>
        <p:nvSpPr>
          <p:cNvPr id="18" name="Text 16"/>
          <p:cNvSpPr/>
          <p:nvPr/>
        </p:nvSpPr>
        <p:spPr>
          <a:xfrm>
            <a:off x="804672" y="3364992"/>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9" name="Text 17"/>
          <p:cNvSpPr/>
          <p:nvPr/>
        </p:nvSpPr>
        <p:spPr>
          <a:xfrm>
            <a:off x="1097280" y="3328416"/>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Recórrela CON el cliente al lado, señalando la fecha y el monto de cada movimiento.</a:t>
            </a:r>
            <a:endParaRPr lang="en-US" sz="1000" dirty="0"/>
          </a:p>
        </p:txBody>
      </p:sp>
      <p:sp>
        <p:nvSpPr>
          <p:cNvPr id="20" name="Shape 18"/>
          <p:cNvSpPr/>
          <p:nvPr/>
        </p:nvSpPr>
        <p:spPr>
          <a:xfrm>
            <a:off x="804672" y="3730752"/>
            <a:ext cx="219456" cy="219456"/>
          </a:xfrm>
          <a:prstGeom prst="ellipse">
            <a:avLst/>
          </a:prstGeom>
          <a:solidFill>
            <a:srgbClr val="0284C7"/>
          </a:solidFill>
          <a:ln/>
        </p:spPr>
      </p:sp>
      <p:sp>
        <p:nvSpPr>
          <p:cNvPr id="21" name="Text 19"/>
          <p:cNvSpPr/>
          <p:nvPr/>
        </p:nvSpPr>
        <p:spPr>
          <a:xfrm>
            <a:off x="804672" y="3730752"/>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2" name="Text 20"/>
          <p:cNvSpPr/>
          <p:nvPr/>
        </p:nvSpPr>
        <p:spPr>
          <a:xfrm>
            <a:off x="1097280" y="3694176"/>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Imprímele la línea de tiempo desde esa misma pantalla — la versión que sale para el cliente va depurada, sin las notas internas de cobranza.</a:t>
            </a:r>
            <a:endParaRPr lang="en-US" sz="1000" dirty="0"/>
          </a:p>
        </p:txBody>
      </p:sp>
      <p:sp>
        <p:nvSpPr>
          <p:cNvPr id="23" name="Shape 21"/>
          <p:cNvSpPr/>
          <p:nvPr/>
        </p:nvSpPr>
        <p:spPr>
          <a:xfrm>
            <a:off x="804672" y="4242816"/>
            <a:ext cx="219456" cy="219456"/>
          </a:xfrm>
          <a:prstGeom prst="ellipse">
            <a:avLst/>
          </a:prstGeom>
          <a:solidFill>
            <a:srgbClr val="0284C7"/>
          </a:solidFill>
          <a:ln/>
        </p:spPr>
      </p:sp>
      <p:sp>
        <p:nvSpPr>
          <p:cNvPr id="24" name="Text 22"/>
          <p:cNvSpPr/>
          <p:nvPr/>
        </p:nvSpPr>
        <p:spPr>
          <a:xfrm>
            <a:off x="804672" y="4242816"/>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25" name="Text 23"/>
          <p:cNvSpPr/>
          <p:nvPr/>
        </p:nvSpPr>
        <p:spPr>
          <a:xfrm>
            <a:off x="1097280" y="4206240"/>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Si de verdad encontraron un error, no se arregla de palabra: se corrige el pago (ver el caso de pago equivocado) y se vuelve a imprimir.</a:t>
            </a:r>
            <a:endParaRPr lang="en-US" sz="1000" dirty="0"/>
          </a:p>
        </p:txBody>
      </p:sp>
      <p:sp>
        <p:nvSpPr>
          <p:cNvPr id="26" name="Text 24"/>
          <p:cNvSpPr/>
          <p:nvPr/>
        </p:nvSpPr>
        <p:spPr>
          <a:xfrm>
            <a:off x="80467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Nunca discutas de memoria ni digas "déjame revisar y te aviso". Eso alarga el conflicto y deja al cliente creyendo que hay algo raro.</a:t>
            </a:r>
            <a:endParaRPr lang="en-US" sz="950" dirty="0"/>
          </a:p>
        </p:txBody>
      </p:sp>
      <p:sp>
        <p:nvSpPr>
          <p:cNvPr id="27" name="Shape 25"/>
          <p:cNvSpPr/>
          <p:nvPr/>
        </p:nvSpPr>
        <p:spPr>
          <a:xfrm>
            <a:off x="640080" y="5138928"/>
            <a:ext cx="5394960" cy="1097280"/>
          </a:xfrm>
          <a:prstGeom prst="roundRect">
            <a:avLst>
              <a:gd name="adj" fmla="val 6667"/>
            </a:avLst>
          </a:prstGeom>
          <a:solidFill>
            <a:srgbClr val="DCFCE7"/>
          </a:solidFill>
          <a:ln w="12700">
            <a:solidFill>
              <a:srgbClr val="16A34A"/>
            </a:solidFill>
            <a:prstDash val="solid"/>
          </a:ln>
        </p:spPr>
      </p:sp>
      <p:sp>
        <p:nvSpPr>
          <p:cNvPr id="28" name="Text 26"/>
          <p:cNvSpPr/>
          <p:nvPr/>
        </p:nvSpPr>
        <p:spPr>
          <a:xfrm>
            <a:off x="78638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29" name="Text 27"/>
          <p:cNvSpPr/>
          <p:nvPr/>
        </p:nvSpPr>
        <p:spPr>
          <a:xfrm>
            <a:off x="78638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ALEJANDRO NIETO reclama que le están cobrando $262.000 cuando su cuota es $202.000. La línea de tiempo muestra el convenio que él mismo firmó el día 3 por 13 cuotas de $60.000: $202.000 de cuota + $60.000 del convenio = $262.000.</a:t>
            </a:r>
            <a:endParaRPr lang="en-US" sz="1150" dirty="0"/>
          </a:p>
        </p:txBody>
      </p:sp>
      <p:sp>
        <p:nvSpPr>
          <p:cNvPr id="30" name="Shape 28"/>
          <p:cNvSpPr/>
          <p:nvPr/>
        </p:nvSpPr>
        <p:spPr>
          <a:xfrm>
            <a:off x="640080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31" name="Shape 29"/>
          <p:cNvSpPr/>
          <p:nvPr/>
        </p:nvSpPr>
        <p:spPr>
          <a:xfrm>
            <a:off x="6400800" y="1371600"/>
            <a:ext cx="5394960" cy="475488"/>
          </a:xfrm>
          <a:prstGeom prst="roundRect">
            <a:avLst>
              <a:gd name="adj" fmla="val 19231"/>
            </a:avLst>
          </a:prstGeom>
          <a:solidFill>
            <a:srgbClr val="0F172A"/>
          </a:solidFill>
          <a:ln/>
        </p:spPr>
      </p:sp>
      <p:sp>
        <p:nvSpPr>
          <p:cNvPr id="32" name="Shape 30"/>
          <p:cNvSpPr/>
          <p:nvPr/>
        </p:nvSpPr>
        <p:spPr>
          <a:xfrm>
            <a:off x="6400800" y="1664208"/>
            <a:ext cx="5394960" cy="182880"/>
          </a:xfrm>
          <a:prstGeom prst="rect">
            <a:avLst/>
          </a:prstGeom>
          <a:solidFill>
            <a:srgbClr val="0F172A"/>
          </a:solidFill>
          <a:ln/>
        </p:spPr>
      </p:sp>
      <p:sp>
        <p:nvSpPr>
          <p:cNvPr id="33" name="Text 31"/>
          <p:cNvSpPr/>
          <p:nvPr/>
        </p:nvSpPr>
        <p:spPr>
          <a:xfrm>
            <a:off x="654710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 mandó el comprobante de la transferencia por WhatsApp</a:t>
            </a:r>
            <a:endParaRPr lang="en-US" sz="1150" dirty="0"/>
          </a:p>
        </p:txBody>
      </p:sp>
      <p:sp>
        <p:nvSpPr>
          <p:cNvPr id="34" name="Shape 32"/>
          <p:cNvSpPr/>
          <p:nvPr/>
        </p:nvSpPr>
        <p:spPr>
          <a:xfrm>
            <a:off x="6565392" y="1975104"/>
            <a:ext cx="219456" cy="219456"/>
          </a:xfrm>
          <a:prstGeom prst="ellipse">
            <a:avLst/>
          </a:prstGeom>
          <a:solidFill>
            <a:srgbClr val="0284C7"/>
          </a:solidFill>
          <a:ln/>
        </p:spPr>
      </p:sp>
      <p:sp>
        <p:nvSpPr>
          <p:cNvPr id="35" name="Text 33"/>
          <p:cNvSpPr/>
          <p:nvPr/>
        </p:nvSpPr>
        <p:spPr>
          <a:xfrm>
            <a:off x="656539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6" name="Text 34"/>
          <p:cNvSpPr/>
          <p:nvPr/>
        </p:nvSpPr>
        <p:spPr>
          <a:xfrm>
            <a:off x="6858000" y="193852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Guarda la imagen del comprobante en el celular o el PC.</a:t>
            </a:r>
            <a:endParaRPr lang="en-US" sz="1000" dirty="0"/>
          </a:p>
        </p:txBody>
      </p:sp>
      <p:sp>
        <p:nvSpPr>
          <p:cNvPr id="37" name="Shape 35"/>
          <p:cNvSpPr/>
          <p:nvPr/>
        </p:nvSpPr>
        <p:spPr>
          <a:xfrm>
            <a:off x="6565392" y="2340864"/>
            <a:ext cx="219456" cy="219456"/>
          </a:xfrm>
          <a:prstGeom prst="ellipse">
            <a:avLst/>
          </a:prstGeom>
          <a:solidFill>
            <a:srgbClr val="0284C7"/>
          </a:solidFill>
          <a:ln/>
        </p:spPr>
      </p:sp>
      <p:sp>
        <p:nvSpPr>
          <p:cNvPr id="38" name="Text 36"/>
          <p:cNvSpPr/>
          <p:nvPr/>
        </p:nvSpPr>
        <p:spPr>
          <a:xfrm>
            <a:off x="6565392" y="234086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9" name="Text 37"/>
          <p:cNvSpPr/>
          <p:nvPr/>
        </p:nvSpPr>
        <p:spPr>
          <a:xfrm>
            <a:off x="6858000" y="230428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Cartera → busca la placa → abre el detalle (o usa el botón "💵 Cobrar") → elige método Transferencia.</a:t>
            </a:r>
            <a:endParaRPr lang="en-US" sz="1000" dirty="0"/>
          </a:p>
        </p:txBody>
      </p:sp>
      <p:sp>
        <p:nvSpPr>
          <p:cNvPr id="40" name="Shape 38"/>
          <p:cNvSpPr/>
          <p:nvPr/>
        </p:nvSpPr>
        <p:spPr>
          <a:xfrm>
            <a:off x="6565392" y="2706624"/>
            <a:ext cx="219456" cy="219456"/>
          </a:xfrm>
          <a:prstGeom prst="ellipse">
            <a:avLst/>
          </a:prstGeom>
          <a:solidFill>
            <a:srgbClr val="0284C7"/>
          </a:solidFill>
          <a:ln/>
        </p:spPr>
      </p:sp>
      <p:sp>
        <p:nvSpPr>
          <p:cNvPr id="41" name="Text 39"/>
          <p:cNvSpPr/>
          <p:nvPr/>
        </p:nvSpPr>
        <p:spPr>
          <a:xfrm>
            <a:off x="6565392" y="270662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42" name="Text 40"/>
          <p:cNvSpPr/>
          <p:nvPr/>
        </p:nvSpPr>
        <p:spPr>
          <a:xfrm>
            <a:off x="6858000" y="267004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Adjunta la FOTO del comprobante — sin foto no se registra.</a:t>
            </a:r>
            <a:endParaRPr lang="en-US" sz="1000" dirty="0"/>
          </a:p>
        </p:txBody>
      </p:sp>
      <p:sp>
        <p:nvSpPr>
          <p:cNvPr id="43" name="Shape 41"/>
          <p:cNvSpPr/>
          <p:nvPr/>
        </p:nvSpPr>
        <p:spPr>
          <a:xfrm>
            <a:off x="6565392" y="3072384"/>
            <a:ext cx="219456" cy="219456"/>
          </a:xfrm>
          <a:prstGeom prst="ellipse">
            <a:avLst/>
          </a:prstGeom>
          <a:solidFill>
            <a:srgbClr val="0284C7"/>
          </a:solidFill>
          <a:ln/>
        </p:spPr>
      </p:sp>
      <p:sp>
        <p:nvSpPr>
          <p:cNvPr id="44" name="Text 42"/>
          <p:cNvSpPr/>
          <p:nvPr/>
        </p:nvSpPr>
        <p:spPr>
          <a:xfrm>
            <a:off x="6565392" y="307238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45" name="Text 43"/>
          <p:cNvSpPr/>
          <p:nvPr/>
        </p:nvSpPr>
        <p:spPr>
          <a:xfrm>
            <a:off x="6858000" y="3035808"/>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Registra: el pago queda en estado "Pendiente".</a:t>
            </a:r>
            <a:endParaRPr lang="en-US" sz="1000" dirty="0"/>
          </a:p>
        </p:txBody>
      </p:sp>
      <p:sp>
        <p:nvSpPr>
          <p:cNvPr id="46" name="Shape 44"/>
          <p:cNvSpPr/>
          <p:nvPr/>
        </p:nvSpPr>
        <p:spPr>
          <a:xfrm>
            <a:off x="6565392" y="3438144"/>
            <a:ext cx="219456" cy="219456"/>
          </a:xfrm>
          <a:prstGeom prst="ellipse">
            <a:avLst/>
          </a:prstGeom>
          <a:solidFill>
            <a:srgbClr val="0284C7"/>
          </a:solidFill>
          <a:ln/>
        </p:spPr>
      </p:sp>
      <p:sp>
        <p:nvSpPr>
          <p:cNvPr id="47" name="Text 45"/>
          <p:cNvSpPr/>
          <p:nvPr/>
        </p:nvSpPr>
        <p:spPr>
          <a:xfrm>
            <a:off x="6565392" y="343814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48" name="Text 46"/>
          <p:cNvSpPr/>
          <p:nvPr/>
        </p:nvSpPr>
        <p:spPr>
          <a:xfrm>
            <a:off x="6858000" y="340156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ANGELA (secretaria) entra a Cartera → pestaña "⏳ Por confirmar" → bloque "Transferencias por confirmar" → abre la foto, la cruza con el movimiento…</a:t>
            </a:r>
            <a:endParaRPr lang="en-US" sz="1000" dirty="0"/>
          </a:p>
        </p:txBody>
      </p:sp>
      <p:sp>
        <p:nvSpPr>
          <p:cNvPr id="49" name="Text 47"/>
          <p:cNvSpPr/>
          <p:nvPr/>
        </p:nvSpPr>
        <p:spPr>
          <a:xfrm>
            <a:off x="656539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El sistema NO se comunica con el banco: la única verificación que existe es que ANGELA mire el comprobante y lo cruce con la cuenta.</a:t>
            </a:r>
            <a:endParaRPr lang="en-US" sz="950" dirty="0"/>
          </a:p>
        </p:txBody>
      </p:sp>
      <p:sp>
        <p:nvSpPr>
          <p:cNvPr id="50" name="Shape 48"/>
          <p:cNvSpPr/>
          <p:nvPr/>
        </p:nvSpPr>
        <p:spPr>
          <a:xfrm>
            <a:off x="6400800" y="5138928"/>
            <a:ext cx="5394960" cy="1097280"/>
          </a:xfrm>
          <a:prstGeom prst="roundRect">
            <a:avLst>
              <a:gd name="adj" fmla="val 6667"/>
            </a:avLst>
          </a:prstGeom>
          <a:solidFill>
            <a:srgbClr val="DCFCE7"/>
          </a:solidFill>
          <a:ln w="12700">
            <a:solidFill>
              <a:srgbClr val="16A34A"/>
            </a:solidFill>
            <a:prstDash val="solid"/>
          </a:ln>
        </p:spPr>
      </p:sp>
      <p:sp>
        <p:nvSpPr>
          <p:cNvPr id="51" name="Text 49"/>
          <p:cNvSpPr/>
          <p:nvPr/>
        </p:nvSpPr>
        <p:spPr>
          <a:xfrm>
            <a:off x="654710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52" name="Text 50"/>
          <p:cNvSpPr/>
          <p:nvPr/>
        </p:nvSpPr>
        <p:spPr>
          <a:xfrm>
            <a:off x="654710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MARTHA ALVAREZ (RLT68H) manda el comprobante de $202.000 el miércoles a las 7am. Queda registrado como Pendiente. ANGELA lo revisa contra la cuenta a las 10am y lo confirma: hasta ese momento el pago no cuenta en la caja del día.</a:t>
            </a:r>
            <a:endParaRPr lang="en-US" sz="1150" dirty="0"/>
          </a:p>
        </p:txBody>
      </p:sp>
      <p:sp>
        <p:nvSpPr>
          <p:cNvPr id="53" name="Text 51"/>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54" name="Text 52"/>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CONSULTA RÁPIDA</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¿Qué hago si…?</a:t>
            </a:r>
            <a:endParaRPr lang="en-US" sz="2700" dirty="0"/>
          </a:p>
        </p:txBody>
      </p:sp>
      <p:sp>
        <p:nvSpPr>
          <p:cNvPr id="4" name="Shape 2"/>
          <p:cNvSpPr/>
          <p:nvPr/>
        </p:nvSpPr>
        <p:spPr>
          <a:xfrm>
            <a:off x="640080" y="1371600"/>
            <a:ext cx="5394960" cy="3611880"/>
          </a:xfrm>
          <a:prstGeom prst="roundRect">
            <a:avLst>
              <a:gd name="adj" fmla="val 2532"/>
            </a:avLst>
          </a:prstGeom>
          <a:solidFill>
            <a:srgbClr val="FFFFFF"/>
          </a:solidFill>
          <a:ln w="12700">
            <a:solidFill>
              <a:srgbClr val="E2E8F0"/>
            </a:solidFill>
            <a:prstDash val="solid"/>
          </a:ln>
          <a:effectLst>
            <a:outerShdw sx="100000" sy="100000" kx="0" ky="0" algn="bl" rotWithShape="0" blurRad="63500" dist="25400" dir="5400000">
              <a:srgbClr val="94A3B8">
                <a:alpha val="22000"/>
              </a:srgbClr>
            </a:outerShdw>
          </a:effectLst>
        </p:spPr>
      </p:sp>
      <p:sp>
        <p:nvSpPr>
          <p:cNvPr id="5" name="Shape 3"/>
          <p:cNvSpPr/>
          <p:nvPr/>
        </p:nvSpPr>
        <p:spPr>
          <a:xfrm>
            <a:off x="640080" y="1371600"/>
            <a:ext cx="5394960" cy="475488"/>
          </a:xfrm>
          <a:prstGeom prst="roundRect">
            <a:avLst>
              <a:gd name="adj" fmla="val 19231"/>
            </a:avLst>
          </a:prstGeom>
          <a:solidFill>
            <a:srgbClr val="0F172A"/>
          </a:solidFill>
          <a:ln/>
        </p:spPr>
      </p:sp>
      <p:sp>
        <p:nvSpPr>
          <p:cNvPr id="6" name="Shape 4"/>
          <p:cNvSpPr/>
          <p:nvPr/>
        </p:nvSpPr>
        <p:spPr>
          <a:xfrm>
            <a:off x="640080" y="1664208"/>
            <a:ext cx="5394960" cy="182880"/>
          </a:xfrm>
          <a:prstGeom prst="rect">
            <a:avLst/>
          </a:prstGeom>
          <a:solidFill>
            <a:srgbClr val="0F172A"/>
          </a:solidFill>
          <a:ln/>
        </p:spPr>
      </p:sp>
      <p:sp>
        <p:nvSpPr>
          <p:cNvPr id="7" name="Text 5"/>
          <p:cNvSpPr/>
          <p:nvPr/>
        </p:nvSpPr>
        <p:spPr>
          <a:xfrm>
            <a:off x="786384" y="1371600"/>
            <a:ext cx="5102352"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Recogí plata en la calle, ¿ahora qué hago con ella?</a:t>
            </a:r>
            <a:endParaRPr lang="en-US" sz="1150" dirty="0"/>
          </a:p>
        </p:txBody>
      </p:sp>
      <p:sp>
        <p:nvSpPr>
          <p:cNvPr id="8" name="Shape 6"/>
          <p:cNvSpPr/>
          <p:nvPr/>
        </p:nvSpPr>
        <p:spPr>
          <a:xfrm>
            <a:off x="804672" y="1975104"/>
            <a:ext cx="219456" cy="219456"/>
          </a:xfrm>
          <a:prstGeom prst="ellipse">
            <a:avLst/>
          </a:prstGeom>
          <a:solidFill>
            <a:srgbClr val="0284C7"/>
          </a:solidFill>
          <a:ln/>
        </p:spPr>
      </p:sp>
      <p:sp>
        <p:nvSpPr>
          <p:cNvPr id="9" name="Text 7"/>
          <p:cNvSpPr/>
          <p:nvPr/>
        </p:nvSpPr>
        <p:spPr>
          <a:xfrm>
            <a:off x="804672" y="1975104"/>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Text 8"/>
          <p:cNvSpPr/>
          <p:nvPr/>
        </p:nvSpPr>
        <p:spPr>
          <a:xfrm>
            <a:off x="1097280" y="1938528"/>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Al cobrar en la calle usas el botón "💵 Cobrar" de la tarjeta del cliente en "📋 Para hacer hoy": la app toma el GPS, deja la foto opcional y manda…</a:t>
            </a:r>
            <a:endParaRPr lang="en-US" sz="1000" dirty="0"/>
          </a:p>
        </p:txBody>
      </p:sp>
      <p:sp>
        <p:nvSpPr>
          <p:cNvPr id="11" name="Shape 9"/>
          <p:cNvSpPr/>
          <p:nvPr/>
        </p:nvSpPr>
        <p:spPr>
          <a:xfrm>
            <a:off x="804672" y="2487168"/>
            <a:ext cx="219456" cy="219456"/>
          </a:xfrm>
          <a:prstGeom prst="ellipse">
            <a:avLst/>
          </a:prstGeom>
          <a:solidFill>
            <a:srgbClr val="0284C7"/>
          </a:solidFill>
          <a:ln/>
        </p:spPr>
      </p:sp>
      <p:sp>
        <p:nvSpPr>
          <p:cNvPr id="12" name="Text 10"/>
          <p:cNvSpPr/>
          <p:nvPr/>
        </p:nvSpPr>
        <p:spPr>
          <a:xfrm>
            <a:off x="804672" y="248716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3" name="Text 11"/>
          <p:cNvSpPr/>
          <p:nvPr/>
        </p:nvSpPr>
        <p:spPr>
          <a:xfrm>
            <a:off x="1097280" y="2450592"/>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Ese pago queda en estado "Pendiente" a propósito — todavía no cuenta en la caja.</a:t>
            </a:r>
            <a:endParaRPr lang="en-US" sz="1000" dirty="0"/>
          </a:p>
        </p:txBody>
      </p:sp>
      <p:sp>
        <p:nvSpPr>
          <p:cNvPr id="14" name="Shape 12"/>
          <p:cNvSpPr/>
          <p:nvPr/>
        </p:nvSpPr>
        <p:spPr>
          <a:xfrm>
            <a:off x="804672" y="2852928"/>
            <a:ext cx="219456" cy="219456"/>
          </a:xfrm>
          <a:prstGeom prst="ellipse">
            <a:avLst/>
          </a:prstGeom>
          <a:solidFill>
            <a:srgbClr val="0284C7"/>
          </a:solidFill>
          <a:ln/>
        </p:spPr>
      </p:sp>
      <p:sp>
        <p:nvSpPr>
          <p:cNvPr id="15" name="Text 13"/>
          <p:cNvSpPr/>
          <p:nvPr/>
        </p:nvSpPr>
        <p:spPr>
          <a:xfrm>
            <a:off x="804672" y="285292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1097280" y="2816352"/>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En el panel "📋 Para hacer hoy" ves el resumen "Recogiste hoy $X" y cuánto tienes pendiente de entregar.</a:t>
            </a:r>
            <a:endParaRPr lang="en-US" sz="1000" dirty="0"/>
          </a:p>
        </p:txBody>
      </p:sp>
      <p:sp>
        <p:nvSpPr>
          <p:cNvPr id="17" name="Shape 15"/>
          <p:cNvSpPr/>
          <p:nvPr/>
        </p:nvSpPr>
        <p:spPr>
          <a:xfrm>
            <a:off x="804672" y="3218688"/>
            <a:ext cx="219456" cy="219456"/>
          </a:xfrm>
          <a:prstGeom prst="ellipse">
            <a:avLst/>
          </a:prstGeom>
          <a:solidFill>
            <a:srgbClr val="0284C7"/>
          </a:solidFill>
          <a:ln/>
        </p:spPr>
      </p:sp>
      <p:sp>
        <p:nvSpPr>
          <p:cNvPr id="18" name="Text 16"/>
          <p:cNvSpPr/>
          <p:nvPr/>
        </p:nvSpPr>
        <p:spPr>
          <a:xfrm>
            <a:off x="804672" y="321868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9" name="Text 17"/>
          <p:cNvSpPr/>
          <p:nvPr/>
        </p:nvSpPr>
        <p:spPr>
          <a:xfrm>
            <a:off x="1097280" y="3182112"/>
            <a:ext cx="4773168" cy="329184"/>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Cuando le entregas el efectivo a ANGELA, marca "entregué a secretaria" en cada pago.</a:t>
            </a:r>
            <a:endParaRPr lang="en-US" sz="1000" dirty="0"/>
          </a:p>
        </p:txBody>
      </p:sp>
      <p:sp>
        <p:nvSpPr>
          <p:cNvPr id="20" name="Shape 18"/>
          <p:cNvSpPr/>
          <p:nvPr/>
        </p:nvSpPr>
        <p:spPr>
          <a:xfrm>
            <a:off x="804672" y="3584448"/>
            <a:ext cx="219456" cy="219456"/>
          </a:xfrm>
          <a:prstGeom prst="ellipse">
            <a:avLst/>
          </a:prstGeom>
          <a:solidFill>
            <a:srgbClr val="0284C7"/>
          </a:solidFill>
          <a:ln/>
        </p:spPr>
      </p:sp>
      <p:sp>
        <p:nvSpPr>
          <p:cNvPr id="21" name="Text 19"/>
          <p:cNvSpPr/>
          <p:nvPr/>
        </p:nvSpPr>
        <p:spPr>
          <a:xfrm>
            <a:off x="804672" y="3584448"/>
            <a:ext cx="219456"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2" name="Text 20"/>
          <p:cNvSpPr/>
          <p:nvPr/>
        </p:nvSpPr>
        <p:spPr>
          <a:xfrm>
            <a:off x="1097280" y="3547872"/>
            <a:ext cx="4773168" cy="475488"/>
          </a:xfrm>
          <a:prstGeom prst="rect">
            <a:avLst/>
          </a:prstGeom>
          <a:noFill/>
          <a:ln/>
        </p:spPr>
        <p:txBody>
          <a:bodyPr wrap="square" lIns="0" tIns="0" rIns="0" bIns="0" rtlCol="0" anchor="t"/>
          <a:lstStyle/>
          <a:p>
            <a:pPr indent="0" marL="0">
              <a:lnSpc>
                <a:spcPct val="94000"/>
              </a:lnSpc>
              <a:buNone/>
            </a:pPr>
            <a:r>
              <a:rPr lang="en-US" sz="1000" dirty="0">
                <a:solidFill>
                  <a:srgbClr val="0F172A"/>
                </a:solidFill>
                <a:latin typeface="Calibri" pitchFamily="34" charset="0"/>
                <a:ea typeface="Calibri" pitchFamily="34" charset="-122"/>
                <a:cs typeface="Calibri" pitchFamily="34" charset="-120"/>
              </a:rPr>
              <a:t>ANGELA lo confirma en Caja Diaria (o en Cartera → "⏳ Por confirmar" → bloque "Efectivo de campo por confirmar"). Ahí sí entra a la caja del día.</a:t>
            </a:r>
            <a:endParaRPr lang="en-US" sz="1000" dirty="0"/>
          </a:p>
        </p:txBody>
      </p:sp>
      <p:sp>
        <p:nvSpPr>
          <p:cNvPr id="23" name="Text 21"/>
          <p:cNvSpPr/>
          <p:nvPr/>
        </p:nvSpPr>
        <p:spPr>
          <a:xfrm>
            <a:off x="804672" y="4599432"/>
            <a:ext cx="5065776" cy="310896"/>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 El resumen del cobrador solo mira lo de HOY: si te quedaste con efectivo de ayer sin entregar, NADIE te lo va a recordar.</a:t>
            </a:r>
            <a:endParaRPr lang="en-US" sz="950" dirty="0"/>
          </a:p>
        </p:txBody>
      </p:sp>
      <p:sp>
        <p:nvSpPr>
          <p:cNvPr id="24" name="Shape 22"/>
          <p:cNvSpPr/>
          <p:nvPr/>
        </p:nvSpPr>
        <p:spPr>
          <a:xfrm>
            <a:off x="640080" y="5138928"/>
            <a:ext cx="5394960" cy="1097280"/>
          </a:xfrm>
          <a:prstGeom prst="roundRect">
            <a:avLst>
              <a:gd name="adj" fmla="val 6667"/>
            </a:avLst>
          </a:prstGeom>
          <a:solidFill>
            <a:srgbClr val="DCFCE7"/>
          </a:solidFill>
          <a:ln w="12700">
            <a:solidFill>
              <a:srgbClr val="16A34A"/>
            </a:solidFill>
            <a:prstDash val="solid"/>
          </a:ln>
        </p:spPr>
      </p:sp>
      <p:sp>
        <p:nvSpPr>
          <p:cNvPr id="25" name="Text 23"/>
          <p:cNvSpPr/>
          <p:nvPr/>
        </p:nvSpPr>
        <p:spPr>
          <a:xfrm>
            <a:off x="786384" y="5212080"/>
            <a:ext cx="5102352" cy="219456"/>
          </a:xfrm>
          <a:prstGeom prst="rect">
            <a:avLst/>
          </a:prstGeom>
          <a:noFill/>
          <a:ln/>
        </p:spPr>
        <p:txBody>
          <a:bodyPr wrap="square" lIns="0" tIns="0" rIns="0" bIns="0" rtlCol="0" anchor="ctr"/>
          <a:lstStyle/>
          <a:p>
            <a:pPr indent="0" marL="0">
              <a:buNone/>
            </a:pPr>
            <a:r>
              <a:rPr lang="en-US" sz="900" b="1" spc="150" kern="0" dirty="0">
                <a:solidFill>
                  <a:srgbClr val="16A34A"/>
                </a:solidFill>
                <a:latin typeface="Calibri" pitchFamily="34" charset="0"/>
                <a:ea typeface="Calibri" pitchFamily="34" charset="-122"/>
                <a:cs typeface="Calibri" pitchFamily="34" charset="-120"/>
              </a:rPr>
              <a:t>EJEMPLO REAL</a:t>
            </a:r>
            <a:endParaRPr lang="en-US" sz="900" dirty="0"/>
          </a:p>
        </p:txBody>
      </p:sp>
      <p:sp>
        <p:nvSpPr>
          <p:cNvPr id="26" name="Text 24"/>
          <p:cNvSpPr/>
          <p:nvPr/>
        </p:nvSpPr>
        <p:spPr>
          <a:xfrm>
            <a:off x="786384" y="5431536"/>
            <a:ext cx="5102352" cy="713232"/>
          </a:xfrm>
          <a:prstGeom prst="rect">
            <a:avLst/>
          </a:prstGeom>
          <a:noFill/>
          <a:ln/>
        </p:spPr>
        <p:txBody>
          <a:bodyPr wrap="square" lIns="0" tIns="0" rIns="0" bIns="0" rtlCol="0" anchor="t"/>
          <a:lstStyle/>
          <a:p>
            <a:pPr indent="0" marL="0">
              <a:lnSpc>
                <a:spcPct val="105000"/>
              </a:lnSpc>
              <a:buNone/>
            </a:pPr>
            <a:r>
              <a:rPr lang="en-US" sz="1150" dirty="0">
                <a:solidFill>
                  <a:srgbClr val="0F172A"/>
                </a:solidFill>
                <a:latin typeface="Calibri" pitchFamily="34" charset="0"/>
                <a:ea typeface="Calibri" pitchFamily="34" charset="-122"/>
                <a:cs typeface="Calibri" pitchFamily="34" charset="-120"/>
              </a:rPr>
              <a:t>EMIRO recoge $202.000 de ANDRY BREA (RLZ93H) y $150.000 de otro cliente: su resumen del día dice "Recogiste hoy $352.000". Hasta que ANGELA no confirme esos dos pagos, ese dinero no aparece en la caja de COSTA.</a:t>
            </a:r>
            <a:endParaRPr lang="en-US" sz="1150" dirty="0"/>
          </a:p>
        </p:txBody>
      </p:sp>
      <p:sp>
        <p:nvSpPr>
          <p:cNvPr id="27" name="Text 25"/>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28" name="Text 26"/>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50" b="1" spc="200" kern="0" dirty="0">
                <a:solidFill>
                  <a:srgbClr val="0284C7"/>
                </a:solidFill>
                <a:latin typeface="Calibri" pitchFamily="34" charset="0"/>
                <a:ea typeface="Calibri" pitchFamily="34" charset="-122"/>
                <a:cs typeface="Calibri" pitchFamily="34" charset="-120"/>
              </a:rPr>
              <a:t>PARA CERRAR</a:t>
            </a:r>
            <a:endParaRPr lang="en-US" sz="1150" dirty="0"/>
          </a:p>
        </p:txBody>
      </p:sp>
      <p:sp>
        <p:nvSpPr>
          <p:cNvPr id="3" name="Text 1"/>
          <p:cNvSpPr/>
          <p:nvPr/>
        </p:nvSpPr>
        <p:spPr>
          <a:xfrm>
            <a:off x="548640" y="585216"/>
            <a:ext cx="11064240" cy="566928"/>
          </a:xfrm>
          <a:prstGeom prst="rect">
            <a:avLst/>
          </a:prstGeom>
          <a:noFill/>
          <a:ln/>
        </p:spPr>
        <p:txBody>
          <a:bodyPr wrap="square" lIns="0" tIns="0" rIns="0" bIns="0" rtlCol="0" anchor="ctr"/>
          <a:lstStyle/>
          <a:p>
            <a:pPr indent="0" marL="0">
              <a:buNone/>
            </a:pPr>
            <a:r>
              <a:rPr lang="en-US" sz="2700" b="1" dirty="0">
                <a:solidFill>
                  <a:srgbClr val="0F172A"/>
                </a:solidFill>
                <a:latin typeface="Calibri" pitchFamily="34" charset="0"/>
                <a:ea typeface="Calibri" pitchFamily="34" charset="-122"/>
                <a:cs typeface="Calibri" pitchFamily="34" charset="-120"/>
              </a:rPr>
              <a:t>Las 6 reglas de oro</a:t>
            </a:r>
            <a:endParaRPr lang="en-US" sz="2700" dirty="0"/>
          </a:p>
        </p:txBody>
      </p:sp>
      <p:sp>
        <p:nvSpPr>
          <p:cNvPr id="4" name="Shape 2"/>
          <p:cNvSpPr/>
          <p:nvPr/>
        </p:nvSpPr>
        <p:spPr>
          <a:xfrm>
            <a:off x="640080" y="1463040"/>
            <a:ext cx="5394960" cy="1371600"/>
          </a:xfrm>
          <a:prstGeom prst="roundRect">
            <a:avLst>
              <a:gd name="adj" fmla="val 6667"/>
            </a:avLst>
          </a:prstGeom>
          <a:solidFill>
            <a:srgbClr val="F8FAFC"/>
          </a:solidFill>
          <a:ln w="12700">
            <a:solidFill>
              <a:srgbClr val="E2E8F0"/>
            </a:solidFill>
            <a:prstDash val="solid"/>
          </a:ln>
        </p:spPr>
      </p:sp>
      <p:sp>
        <p:nvSpPr>
          <p:cNvPr id="5" name="Shape 3"/>
          <p:cNvSpPr/>
          <p:nvPr/>
        </p:nvSpPr>
        <p:spPr>
          <a:xfrm>
            <a:off x="859536" y="1719072"/>
            <a:ext cx="457200" cy="457200"/>
          </a:xfrm>
          <a:prstGeom prst="ellipse">
            <a:avLst/>
          </a:prstGeom>
          <a:solidFill>
            <a:srgbClr val="FFD100"/>
          </a:solidFill>
          <a:ln w="12700">
            <a:solidFill>
              <a:srgbClr val="0F172A"/>
            </a:solidFill>
            <a:prstDash val="solid"/>
          </a:ln>
        </p:spPr>
      </p:sp>
      <p:sp>
        <p:nvSpPr>
          <p:cNvPr id="6" name="Text 4"/>
          <p:cNvSpPr/>
          <p:nvPr/>
        </p:nvSpPr>
        <p:spPr>
          <a:xfrm>
            <a:off x="859536" y="1719072"/>
            <a:ext cx="4572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81328" y="1645920"/>
            <a:ext cx="4389120"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Registra en el momento</a:t>
            </a:r>
            <a:endParaRPr lang="en-US" sz="1400" dirty="0"/>
          </a:p>
        </p:txBody>
      </p:sp>
      <p:sp>
        <p:nvSpPr>
          <p:cNvPr id="8" name="Text 6"/>
          <p:cNvSpPr/>
          <p:nvPr/>
        </p:nvSpPr>
        <p:spPr>
          <a:xfrm>
            <a:off x="1481328" y="2029968"/>
            <a:ext cx="4389120" cy="640080"/>
          </a:xfrm>
          <a:prstGeom prst="rect">
            <a:avLst/>
          </a:prstGeom>
          <a:noFill/>
          <a:ln/>
        </p:spPr>
        <p:txBody>
          <a:bodyPr wrap="square" lIns="0" tIns="0" rIns="0" bIns="0" rtlCol="0" anchor="ctr"/>
          <a:lstStyle/>
          <a:p>
            <a:pPr indent="0" marL="0">
              <a:lnSpc>
                <a:spcPct val="102000"/>
              </a:lnSpc>
              <a:buNone/>
            </a:pPr>
            <a:r>
              <a:rPr lang="en-US" sz="1150" dirty="0">
                <a:solidFill>
                  <a:srgbClr val="64748B"/>
                </a:solidFill>
                <a:latin typeface="Calibri" pitchFamily="34" charset="0"/>
                <a:ea typeface="Calibri" pitchFamily="34" charset="-122"/>
                <a:cs typeface="Calibri" pitchFamily="34" charset="-120"/>
              </a:rPr>
              <a:t>Nunca anotes en papel para pasarlo después. Lo que no está en el sistema, no existe.</a:t>
            </a:r>
            <a:endParaRPr lang="en-US" sz="1150" dirty="0"/>
          </a:p>
        </p:txBody>
      </p:sp>
      <p:sp>
        <p:nvSpPr>
          <p:cNvPr id="9" name="Shape 7"/>
          <p:cNvSpPr/>
          <p:nvPr/>
        </p:nvSpPr>
        <p:spPr>
          <a:xfrm>
            <a:off x="6400800" y="1463040"/>
            <a:ext cx="5394960" cy="1371600"/>
          </a:xfrm>
          <a:prstGeom prst="roundRect">
            <a:avLst>
              <a:gd name="adj" fmla="val 6667"/>
            </a:avLst>
          </a:prstGeom>
          <a:solidFill>
            <a:srgbClr val="F8FAFC"/>
          </a:solidFill>
          <a:ln w="12700">
            <a:solidFill>
              <a:srgbClr val="E2E8F0"/>
            </a:solidFill>
            <a:prstDash val="solid"/>
          </a:ln>
        </p:spPr>
      </p:sp>
      <p:sp>
        <p:nvSpPr>
          <p:cNvPr id="10" name="Shape 8"/>
          <p:cNvSpPr/>
          <p:nvPr/>
        </p:nvSpPr>
        <p:spPr>
          <a:xfrm>
            <a:off x="6620256" y="1719072"/>
            <a:ext cx="457200" cy="457200"/>
          </a:xfrm>
          <a:prstGeom prst="ellipse">
            <a:avLst/>
          </a:prstGeom>
          <a:solidFill>
            <a:srgbClr val="FFD100"/>
          </a:solidFill>
          <a:ln w="12700">
            <a:solidFill>
              <a:srgbClr val="0F172A"/>
            </a:solidFill>
            <a:prstDash val="solid"/>
          </a:ln>
        </p:spPr>
      </p:sp>
      <p:sp>
        <p:nvSpPr>
          <p:cNvPr id="11" name="Text 9"/>
          <p:cNvSpPr/>
          <p:nvPr/>
        </p:nvSpPr>
        <p:spPr>
          <a:xfrm>
            <a:off x="6620256" y="1719072"/>
            <a:ext cx="4572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7242048" y="1645920"/>
            <a:ext cx="4389120"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Antes de cobrar, revisa el Historial</a:t>
            </a:r>
            <a:endParaRPr lang="en-US" sz="1400" dirty="0"/>
          </a:p>
        </p:txBody>
      </p:sp>
      <p:sp>
        <p:nvSpPr>
          <p:cNvPr id="13" name="Text 11"/>
          <p:cNvSpPr/>
          <p:nvPr/>
        </p:nvSpPr>
        <p:spPr>
          <a:xfrm>
            <a:off x="7242048" y="2029968"/>
            <a:ext cx="4389120" cy="640080"/>
          </a:xfrm>
          <a:prstGeom prst="rect">
            <a:avLst/>
          </a:prstGeom>
          <a:noFill/>
          <a:ln/>
        </p:spPr>
        <p:txBody>
          <a:bodyPr wrap="square" lIns="0" tIns="0" rIns="0" bIns="0" rtlCol="0" anchor="ctr"/>
          <a:lstStyle/>
          <a:p>
            <a:pPr indent="0" marL="0">
              <a:lnSpc>
                <a:spcPct val="102000"/>
              </a:lnSpc>
              <a:buNone/>
            </a:pPr>
            <a:r>
              <a:rPr lang="en-US" sz="1150" dirty="0">
                <a:solidFill>
                  <a:srgbClr val="64748B"/>
                </a:solidFill>
                <a:latin typeface="Calibri" pitchFamily="34" charset="0"/>
                <a:ea typeface="Calibri" pitchFamily="34" charset="-122"/>
                <a:cs typeface="Calibri" pitchFamily="34" charset="-120"/>
              </a:rPr>
              <a:t>Si el cliente dice que ya pagó, míralo ahí antes de discutir o volver a cobrar.</a:t>
            </a:r>
            <a:endParaRPr lang="en-US" sz="1150" dirty="0"/>
          </a:p>
        </p:txBody>
      </p:sp>
      <p:sp>
        <p:nvSpPr>
          <p:cNvPr id="14" name="Shape 12"/>
          <p:cNvSpPr/>
          <p:nvPr/>
        </p:nvSpPr>
        <p:spPr>
          <a:xfrm>
            <a:off x="640080" y="3035808"/>
            <a:ext cx="5394960" cy="1371600"/>
          </a:xfrm>
          <a:prstGeom prst="roundRect">
            <a:avLst>
              <a:gd name="adj" fmla="val 6667"/>
            </a:avLst>
          </a:prstGeom>
          <a:solidFill>
            <a:srgbClr val="F8FAFC"/>
          </a:solidFill>
          <a:ln w="12700">
            <a:solidFill>
              <a:srgbClr val="E2E8F0"/>
            </a:solidFill>
            <a:prstDash val="solid"/>
          </a:ln>
        </p:spPr>
      </p:sp>
      <p:sp>
        <p:nvSpPr>
          <p:cNvPr id="15" name="Shape 13"/>
          <p:cNvSpPr/>
          <p:nvPr/>
        </p:nvSpPr>
        <p:spPr>
          <a:xfrm>
            <a:off x="859536" y="3291840"/>
            <a:ext cx="457200" cy="457200"/>
          </a:xfrm>
          <a:prstGeom prst="ellipse">
            <a:avLst/>
          </a:prstGeom>
          <a:solidFill>
            <a:srgbClr val="FFD100"/>
          </a:solidFill>
          <a:ln w="12700">
            <a:solidFill>
              <a:srgbClr val="0F172A"/>
            </a:solidFill>
            <a:prstDash val="solid"/>
          </a:ln>
        </p:spPr>
      </p:sp>
      <p:sp>
        <p:nvSpPr>
          <p:cNvPr id="16" name="Text 14"/>
          <p:cNvSpPr/>
          <p:nvPr/>
        </p:nvSpPr>
        <p:spPr>
          <a:xfrm>
            <a:off x="859536" y="3291840"/>
            <a:ext cx="4572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481328" y="3218688"/>
            <a:ext cx="4389120"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Nunca registres un pago dos veces</a:t>
            </a:r>
            <a:endParaRPr lang="en-US" sz="1400" dirty="0"/>
          </a:p>
        </p:txBody>
      </p:sp>
      <p:sp>
        <p:nvSpPr>
          <p:cNvPr id="18" name="Text 16"/>
          <p:cNvSpPr/>
          <p:nvPr/>
        </p:nvSpPr>
        <p:spPr>
          <a:xfrm>
            <a:off x="1481328" y="3602736"/>
            <a:ext cx="4389120" cy="640080"/>
          </a:xfrm>
          <a:prstGeom prst="rect">
            <a:avLst/>
          </a:prstGeom>
          <a:noFill/>
          <a:ln/>
        </p:spPr>
        <p:txBody>
          <a:bodyPr wrap="square" lIns="0" tIns="0" rIns="0" bIns="0" rtlCol="0" anchor="ctr"/>
          <a:lstStyle/>
          <a:p>
            <a:pPr indent="0" marL="0">
              <a:lnSpc>
                <a:spcPct val="102000"/>
              </a:lnSpc>
              <a:buNone/>
            </a:pPr>
            <a:r>
              <a:rPr lang="en-US" sz="1150" dirty="0">
                <a:solidFill>
                  <a:srgbClr val="64748B"/>
                </a:solidFill>
                <a:latin typeface="Calibri" pitchFamily="34" charset="0"/>
                <a:ea typeface="Calibri" pitchFamily="34" charset="-122"/>
                <a:cs typeface="Calibri" pitchFamily="34" charset="-120"/>
              </a:rPr>
              <a:t>Si sale el aviso amarillo de pago repetido, detente y revisa.</a:t>
            </a:r>
            <a:endParaRPr lang="en-US" sz="1150" dirty="0"/>
          </a:p>
        </p:txBody>
      </p:sp>
      <p:sp>
        <p:nvSpPr>
          <p:cNvPr id="19" name="Shape 17"/>
          <p:cNvSpPr/>
          <p:nvPr/>
        </p:nvSpPr>
        <p:spPr>
          <a:xfrm>
            <a:off x="6400800" y="3035808"/>
            <a:ext cx="5394960" cy="1371600"/>
          </a:xfrm>
          <a:prstGeom prst="roundRect">
            <a:avLst>
              <a:gd name="adj" fmla="val 6667"/>
            </a:avLst>
          </a:prstGeom>
          <a:solidFill>
            <a:srgbClr val="F8FAFC"/>
          </a:solidFill>
          <a:ln w="12700">
            <a:solidFill>
              <a:srgbClr val="E2E8F0"/>
            </a:solidFill>
            <a:prstDash val="solid"/>
          </a:ln>
        </p:spPr>
      </p:sp>
      <p:sp>
        <p:nvSpPr>
          <p:cNvPr id="20" name="Shape 18"/>
          <p:cNvSpPr/>
          <p:nvPr/>
        </p:nvSpPr>
        <p:spPr>
          <a:xfrm>
            <a:off x="6620256" y="3291840"/>
            <a:ext cx="457200" cy="457200"/>
          </a:xfrm>
          <a:prstGeom prst="ellipse">
            <a:avLst/>
          </a:prstGeom>
          <a:solidFill>
            <a:srgbClr val="FFD100"/>
          </a:solidFill>
          <a:ln w="12700">
            <a:solidFill>
              <a:srgbClr val="0F172A"/>
            </a:solidFill>
            <a:prstDash val="solid"/>
          </a:ln>
        </p:spPr>
      </p:sp>
      <p:sp>
        <p:nvSpPr>
          <p:cNvPr id="21" name="Text 19"/>
          <p:cNvSpPr/>
          <p:nvPr/>
        </p:nvSpPr>
        <p:spPr>
          <a:xfrm>
            <a:off x="6620256" y="3291840"/>
            <a:ext cx="4572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7242048" y="3218688"/>
            <a:ext cx="4389120"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Confirma la transferencia solo con el banco a la vista</a:t>
            </a:r>
            <a:endParaRPr lang="en-US" sz="1400" dirty="0"/>
          </a:p>
        </p:txBody>
      </p:sp>
      <p:sp>
        <p:nvSpPr>
          <p:cNvPr id="23" name="Text 21"/>
          <p:cNvSpPr/>
          <p:nvPr/>
        </p:nvSpPr>
        <p:spPr>
          <a:xfrm>
            <a:off x="7242048" y="3602736"/>
            <a:ext cx="4389120" cy="640080"/>
          </a:xfrm>
          <a:prstGeom prst="rect">
            <a:avLst/>
          </a:prstGeom>
          <a:noFill/>
          <a:ln/>
        </p:spPr>
        <p:txBody>
          <a:bodyPr wrap="square" lIns="0" tIns="0" rIns="0" bIns="0" rtlCol="0" anchor="ctr"/>
          <a:lstStyle/>
          <a:p>
            <a:pPr indent="0" marL="0">
              <a:lnSpc>
                <a:spcPct val="102000"/>
              </a:lnSpc>
              <a:buNone/>
            </a:pPr>
            <a:r>
              <a:rPr lang="en-US" sz="1150" dirty="0">
                <a:solidFill>
                  <a:srgbClr val="64748B"/>
                </a:solidFill>
                <a:latin typeface="Calibri" pitchFamily="34" charset="0"/>
                <a:ea typeface="Calibri" pitchFamily="34" charset="-122"/>
                <a:cs typeface="Calibri" pitchFamily="34" charset="-120"/>
              </a:rPr>
              <a:t>La foto del comprobante no es prueba de que la plata entró.</a:t>
            </a:r>
            <a:endParaRPr lang="en-US" sz="1150" dirty="0"/>
          </a:p>
        </p:txBody>
      </p:sp>
      <p:sp>
        <p:nvSpPr>
          <p:cNvPr id="24" name="Shape 22"/>
          <p:cNvSpPr/>
          <p:nvPr/>
        </p:nvSpPr>
        <p:spPr>
          <a:xfrm>
            <a:off x="640080" y="4608576"/>
            <a:ext cx="5394960" cy="1371600"/>
          </a:xfrm>
          <a:prstGeom prst="roundRect">
            <a:avLst>
              <a:gd name="adj" fmla="val 6667"/>
            </a:avLst>
          </a:prstGeom>
          <a:solidFill>
            <a:srgbClr val="F8FAFC"/>
          </a:solidFill>
          <a:ln w="12700">
            <a:solidFill>
              <a:srgbClr val="E2E8F0"/>
            </a:solidFill>
            <a:prstDash val="solid"/>
          </a:ln>
        </p:spPr>
      </p:sp>
      <p:sp>
        <p:nvSpPr>
          <p:cNvPr id="25" name="Shape 23"/>
          <p:cNvSpPr/>
          <p:nvPr/>
        </p:nvSpPr>
        <p:spPr>
          <a:xfrm>
            <a:off x="859536" y="4864608"/>
            <a:ext cx="457200" cy="457200"/>
          </a:xfrm>
          <a:prstGeom prst="ellipse">
            <a:avLst/>
          </a:prstGeom>
          <a:solidFill>
            <a:srgbClr val="FFD100"/>
          </a:solidFill>
          <a:ln w="12700">
            <a:solidFill>
              <a:srgbClr val="0F172A"/>
            </a:solidFill>
            <a:prstDash val="solid"/>
          </a:ln>
        </p:spPr>
      </p:sp>
      <p:sp>
        <p:nvSpPr>
          <p:cNvPr id="26" name="Text 24"/>
          <p:cNvSpPr/>
          <p:nvPr/>
        </p:nvSpPr>
        <p:spPr>
          <a:xfrm>
            <a:off x="859536" y="4864608"/>
            <a:ext cx="4572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1481328" y="4791456"/>
            <a:ext cx="4389120"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Cada quien entra con su usuario</a:t>
            </a:r>
            <a:endParaRPr lang="en-US" sz="1400" dirty="0"/>
          </a:p>
        </p:txBody>
      </p:sp>
      <p:sp>
        <p:nvSpPr>
          <p:cNvPr id="28" name="Text 26"/>
          <p:cNvSpPr/>
          <p:nvPr/>
        </p:nvSpPr>
        <p:spPr>
          <a:xfrm>
            <a:off x="1481328" y="5175504"/>
            <a:ext cx="4389120" cy="640080"/>
          </a:xfrm>
          <a:prstGeom prst="rect">
            <a:avLst/>
          </a:prstGeom>
          <a:noFill/>
          <a:ln/>
        </p:spPr>
        <p:txBody>
          <a:bodyPr wrap="square" lIns="0" tIns="0" rIns="0" bIns="0" rtlCol="0" anchor="ctr"/>
          <a:lstStyle/>
          <a:p>
            <a:pPr indent="0" marL="0">
              <a:lnSpc>
                <a:spcPct val="102000"/>
              </a:lnSpc>
              <a:buNone/>
            </a:pPr>
            <a:r>
              <a:rPr lang="en-US" sz="1150" dirty="0">
                <a:solidFill>
                  <a:srgbClr val="64748B"/>
                </a:solidFill>
                <a:latin typeface="Calibri" pitchFamily="34" charset="0"/>
                <a:ea typeface="Calibri" pitchFamily="34" charset="-122"/>
                <a:cs typeface="Calibri" pitchFamily="34" charset="-120"/>
              </a:rPr>
              <a:t>Todo queda con el nombre de quien lo hizo. Compartir la sesión es cargar con errores ajenos.</a:t>
            </a:r>
            <a:endParaRPr lang="en-US" sz="1150" dirty="0"/>
          </a:p>
        </p:txBody>
      </p:sp>
      <p:sp>
        <p:nvSpPr>
          <p:cNvPr id="29" name="Shape 27"/>
          <p:cNvSpPr/>
          <p:nvPr/>
        </p:nvSpPr>
        <p:spPr>
          <a:xfrm>
            <a:off x="6400800" y="4608576"/>
            <a:ext cx="5394960" cy="1371600"/>
          </a:xfrm>
          <a:prstGeom prst="roundRect">
            <a:avLst>
              <a:gd name="adj" fmla="val 6667"/>
            </a:avLst>
          </a:prstGeom>
          <a:solidFill>
            <a:srgbClr val="F8FAFC"/>
          </a:solidFill>
          <a:ln w="12700">
            <a:solidFill>
              <a:srgbClr val="E2E8F0"/>
            </a:solidFill>
            <a:prstDash val="solid"/>
          </a:ln>
        </p:spPr>
      </p:sp>
      <p:sp>
        <p:nvSpPr>
          <p:cNvPr id="30" name="Shape 28"/>
          <p:cNvSpPr/>
          <p:nvPr/>
        </p:nvSpPr>
        <p:spPr>
          <a:xfrm>
            <a:off x="6620256" y="4864608"/>
            <a:ext cx="457200" cy="457200"/>
          </a:xfrm>
          <a:prstGeom prst="ellipse">
            <a:avLst/>
          </a:prstGeom>
          <a:solidFill>
            <a:srgbClr val="FFD100"/>
          </a:solidFill>
          <a:ln w="12700">
            <a:solidFill>
              <a:srgbClr val="0F172A"/>
            </a:solidFill>
            <a:prstDash val="solid"/>
          </a:ln>
        </p:spPr>
      </p:sp>
      <p:sp>
        <p:nvSpPr>
          <p:cNvPr id="31" name="Text 29"/>
          <p:cNvSpPr/>
          <p:nvPr/>
        </p:nvSpPr>
        <p:spPr>
          <a:xfrm>
            <a:off x="6620256" y="4864608"/>
            <a:ext cx="4572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6</a:t>
            </a:r>
            <a:endParaRPr lang="en-US" sz="1600" dirty="0"/>
          </a:p>
        </p:txBody>
      </p:sp>
      <p:sp>
        <p:nvSpPr>
          <p:cNvPr id="32" name="Text 30"/>
          <p:cNvSpPr/>
          <p:nvPr/>
        </p:nvSpPr>
        <p:spPr>
          <a:xfrm>
            <a:off x="7242048" y="4791456"/>
            <a:ext cx="4389120" cy="38404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La moto nunca deja de producir</a:t>
            </a:r>
            <a:endParaRPr lang="en-US" sz="1400" dirty="0"/>
          </a:p>
        </p:txBody>
      </p:sp>
      <p:sp>
        <p:nvSpPr>
          <p:cNvPr id="33" name="Text 31"/>
          <p:cNvSpPr/>
          <p:nvPr/>
        </p:nvSpPr>
        <p:spPr>
          <a:xfrm>
            <a:off x="7242048" y="5175504"/>
            <a:ext cx="4389120" cy="640080"/>
          </a:xfrm>
          <a:prstGeom prst="rect">
            <a:avLst/>
          </a:prstGeom>
          <a:noFill/>
          <a:ln/>
        </p:spPr>
        <p:txBody>
          <a:bodyPr wrap="square" lIns="0" tIns="0" rIns="0" bIns="0" rtlCol="0" anchor="ctr"/>
          <a:lstStyle/>
          <a:p>
            <a:pPr indent="0" marL="0">
              <a:lnSpc>
                <a:spcPct val="102000"/>
              </a:lnSpc>
              <a:buNone/>
            </a:pPr>
            <a:r>
              <a:rPr lang="en-US" sz="1150" dirty="0">
                <a:solidFill>
                  <a:srgbClr val="64748B"/>
                </a:solidFill>
                <a:latin typeface="Calibri" pitchFamily="34" charset="0"/>
                <a:ea typeface="Calibri" pitchFamily="34" charset="-122"/>
                <a:cs typeface="Calibri" pitchFamily="34" charset="-120"/>
              </a:rPr>
              <a:t>Si una moto está quieta, hay que resolverlo: cobrar, rodar el tiempo o reasignarla.</a:t>
            </a:r>
            <a:endParaRPr lang="en-US" sz="1150" dirty="0"/>
          </a:p>
        </p:txBody>
      </p:sp>
      <p:sp>
        <p:nvSpPr>
          <p:cNvPr id="34" name="Text 32"/>
          <p:cNvSpPr/>
          <p:nvPr/>
        </p:nvSpPr>
        <p:spPr>
          <a:xfrm>
            <a:off x="457200" y="6437376"/>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MotoGestión · Capacitación operativa</a:t>
            </a:r>
            <a:endParaRPr lang="en-US" sz="900" dirty="0"/>
          </a:p>
        </p:txBody>
      </p:sp>
      <p:sp>
        <p:nvSpPr>
          <p:cNvPr id="35" name="Text 33"/>
          <p:cNvSpPr/>
          <p:nvPr/>
        </p:nvSpPr>
        <p:spPr>
          <a:xfrm>
            <a:off x="11338560" y="6437376"/>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FD100"/>
          </a:solidFill>
          <a:ln/>
        </p:spPr>
      </p:sp>
      <p:sp>
        <p:nvSpPr>
          <p:cNvPr id="3" name="Text 1"/>
          <p:cNvSpPr/>
          <p:nvPr/>
        </p:nvSpPr>
        <p:spPr>
          <a:xfrm>
            <a:off x="914400" y="2103120"/>
            <a:ext cx="100584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¿Y si algo sale mal?</a:t>
            </a:r>
            <a:endParaRPr lang="en-US" sz="3600" dirty="0"/>
          </a:p>
        </p:txBody>
      </p:sp>
      <p:sp>
        <p:nvSpPr>
          <p:cNvPr id="4" name="Shape 2"/>
          <p:cNvSpPr/>
          <p:nvPr/>
        </p:nvSpPr>
        <p:spPr>
          <a:xfrm>
            <a:off x="914400" y="3063240"/>
            <a:ext cx="347472" cy="347472"/>
          </a:xfrm>
          <a:prstGeom prst="ellipse">
            <a:avLst/>
          </a:prstGeom>
          <a:solidFill>
            <a:srgbClr val="38BDF8"/>
          </a:solidFill>
          <a:ln/>
        </p:spPr>
      </p:sp>
      <p:sp>
        <p:nvSpPr>
          <p:cNvPr id="5" name="Text 3"/>
          <p:cNvSpPr/>
          <p:nvPr/>
        </p:nvSpPr>
        <p:spPr>
          <a:xfrm>
            <a:off x="914400" y="3063240"/>
            <a:ext cx="347472" cy="347472"/>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417320" y="3063240"/>
            <a:ext cx="9601200" cy="347472"/>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No lo dejes pasar ni lo arregles por fuera del sistema.</a:t>
            </a:r>
            <a:endParaRPr lang="en-US" sz="1400" dirty="0"/>
          </a:p>
        </p:txBody>
      </p:sp>
      <p:sp>
        <p:nvSpPr>
          <p:cNvPr id="7" name="Shape 5"/>
          <p:cNvSpPr/>
          <p:nvPr/>
        </p:nvSpPr>
        <p:spPr>
          <a:xfrm>
            <a:off x="914400" y="3611880"/>
            <a:ext cx="347472" cy="347472"/>
          </a:xfrm>
          <a:prstGeom prst="ellipse">
            <a:avLst/>
          </a:prstGeom>
          <a:solidFill>
            <a:srgbClr val="38BDF8"/>
          </a:solidFill>
          <a:ln/>
        </p:spPr>
      </p:sp>
      <p:sp>
        <p:nvSpPr>
          <p:cNvPr id="8" name="Text 6"/>
          <p:cNvSpPr/>
          <p:nvPr/>
        </p:nvSpPr>
        <p:spPr>
          <a:xfrm>
            <a:off x="914400" y="3611880"/>
            <a:ext cx="347472" cy="347472"/>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417320" y="3611880"/>
            <a:ext cx="9601200" cy="347472"/>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Anota qué pasó: cliente, placa, hora y qué estabas haciendo.</a:t>
            </a:r>
            <a:endParaRPr lang="en-US" sz="1400" dirty="0"/>
          </a:p>
        </p:txBody>
      </p:sp>
      <p:sp>
        <p:nvSpPr>
          <p:cNvPr id="10" name="Shape 8"/>
          <p:cNvSpPr/>
          <p:nvPr/>
        </p:nvSpPr>
        <p:spPr>
          <a:xfrm>
            <a:off x="914400" y="4160520"/>
            <a:ext cx="347472" cy="347472"/>
          </a:xfrm>
          <a:prstGeom prst="ellipse">
            <a:avLst/>
          </a:prstGeom>
          <a:solidFill>
            <a:srgbClr val="38BDF8"/>
          </a:solidFill>
          <a:ln/>
        </p:spPr>
      </p:sp>
      <p:sp>
        <p:nvSpPr>
          <p:cNvPr id="11" name="Text 9"/>
          <p:cNvSpPr/>
          <p:nvPr/>
        </p:nvSpPr>
        <p:spPr>
          <a:xfrm>
            <a:off x="914400" y="4160520"/>
            <a:ext cx="347472" cy="347472"/>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417320" y="4160520"/>
            <a:ext cx="9601200" cy="347472"/>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Avísale al administrador el mismo día.</a:t>
            </a:r>
            <a:endParaRPr lang="en-US" sz="1400" dirty="0"/>
          </a:p>
        </p:txBody>
      </p:sp>
      <p:sp>
        <p:nvSpPr>
          <p:cNvPr id="13" name="Shape 11"/>
          <p:cNvSpPr/>
          <p:nvPr/>
        </p:nvSpPr>
        <p:spPr>
          <a:xfrm>
            <a:off x="914400" y="4709160"/>
            <a:ext cx="347472" cy="347472"/>
          </a:xfrm>
          <a:prstGeom prst="ellipse">
            <a:avLst/>
          </a:prstGeom>
          <a:solidFill>
            <a:srgbClr val="38BDF8"/>
          </a:solidFill>
          <a:ln/>
        </p:spPr>
      </p:sp>
      <p:sp>
        <p:nvSpPr>
          <p:cNvPr id="14" name="Text 12"/>
          <p:cNvSpPr/>
          <p:nvPr/>
        </p:nvSpPr>
        <p:spPr>
          <a:xfrm>
            <a:off x="914400" y="4709160"/>
            <a:ext cx="347472" cy="347472"/>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417320" y="4709160"/>
            <a:ext cx="9601200" cy="347472"/>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Si es de plata (un pago mal registrado), avisa de inmediato: mientras más rápido, más fácil de corregir.</a:t>
            </a:r>
            <a:endParaRPr lang="en-US" sz="1400" dirty="0"/>
          </a:p>
        </p:txBody>
      </p:sp>
      <p:sp>
        <p:nvSpPr>
          <p:cNvPr id="16" name="Text 14"/>
          <p:cNvSpPr/>
          <p:nvPr/>
        </p:nvSpPr>
        <p:spPr>
          <a:xfrm>
            <a:off x="914400" y="5577840"/>
            <a:ext cx="10058400" cy="365760"/>
          </a:xfrm>
          <a:prstGeom prst="rect">
            <a:avLst/>
          </a:prstGeom>
          <a:noFill/>
          <a:ln/>
        </p:spPr>
        <p:txBody>
          <a:bodyPr wrap="square" lIns="0" tIns="0" rIns="0" bIns="0" rtlCol="0" anchor="ctr"/>
          <a:lstStyle/>
          <a:p>
            <a:pPr indent="0" marL="0">
              <a:buNone/>
            </a:pPr>
            <a:r>
              <a:rPr lang="en-US" sz="1500" b="1" dirty="0">
                <a:solidFill>
                  <a:srgbClr val="FFD100"/>
                </a:solidFill>
                <a:latin typeface="Calibri" pitchFamily="34" charset="0"/>
                <a:ea typeface="Calibri" pitchFamily="34" charset="-122"/>
                <a:cs typeface="Calibri" pitchFamily="34" charset="-120"/>
              </a:rPr>
              <a:t>Equivocarse y avisar se arregla. Equivocarse y callar, no.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MotoGestión — Capacitación operativa</dc:title>
  <dc:subject>PptxGenJS Presentation</dc:subject>
  <dc:creator>GPS Satelital Cartagena</dc:creator>
  <cp:lastModifiedBy>GPS Satelital Cartagena</cp:lastModifiedBy>
  <cp:revision>1</cp:revision>
  <dcterms:created xsi:type="dcterms:W3CDTF">2026-07-25T22:37:27Z</dcterms:created>
  <dcterms:modified xsi:type="dcterms:W3CDTF">2026-07-25T22:37:27Z</dcterms:modified>
</cp:coreProperties>
</file>